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theme/theme7.xml" ContentType="application/vnd.openxmlformats-officedocument.theme+xml"/>
  <Override PartName="/ppt/slideLayouts/slideLayout14.xml" ContentType="application/vnd.openxmlformats-officedocument.presentationml.slideLayout+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 id="2147483701" r:id="rId2"/>
    <p:sldMasterId id="2147483692" r:id="rId3"/>
    <p:sldMasterId id="2147483691" r:id="rId4"/>
    <p:sldMasterId id="2147483690" r:id="rId5"/>
    <p:sldMasterId id="2147483648" r:id="rId6"/>
    <p:sldMasterId id="2147483693" r:id="rId7"/>
    <p:sldMasterId id="2147483689" r:id="rId8"/>
  </p:sldMasterIdLst>
  <p:sldIdLst>
    <p:sldId id="258" r:id="rId9"/>
    <p:sldId id="273" r:id="rId10"/>
    <p:sldId id="259" r:id="rId11"/>
    <p:sldId id="261" r:id="rId12"/>
    <p:sldId id="262" r:id="rId13"/>
    <p:sldId id="272" r:id="rId14"/>
    <p:sldId id="264" r:id="rId15"/>
    <p:sldId id="269"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06" autoAdjust="0"/>
    <p:restoredTop sz="94660"/>
  </p:normalViewPr>
  <p:slideViewPr>
    <p:cSldViewPr snapToGrid="0">
      <p:cViewPr varScale="1">
        <p:scale>
          <a:sx n="82" d="100"/>
          <a:sy n="82" d="100"/>
        </p:scale>
        <p:origin x="6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slide" Target="slides/slide9.xml"/><Relationship Id="rId2" Type="http://schemas.openxmlformats.org/officeDocument/2006/relationships/slideMaster" Target="slideMasters/slideMaster2.xml"/><Relationship Id="rId16" Type="http://schemas.openxmlformats.org/officeDocument/2006/relationships/slide" Target="slides/slide8.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5" Type="http://schemas.openxmlformats.org/officeDocument/2006/relationships/slideMaster" Target="slideMasters/slideMaster5.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882043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BA360-16FD-48D7-AA37-D01665392D4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258865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6A74D-1C8D-4400-A44B-18C61420D47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416136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314F5-9B88-4A10-889F-F5ED679835B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2386613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F2F78-41F6-4DBD-A49B-20619A8622E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11358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198065A5-1218-4E69-9EF0-90C3C2E671DF}"/>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513465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0"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1FFC4A87-0CB1-45CE-9554-8F044AAEC6A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57967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916FA04-1396-485D-A609-CD7E92522DD1}"/>
              </a:ext>
            </a:extLst>
          </p:cNvPr>
          <p:cNvCxnSpPr>
            <a:cxnSpLocks/>
          </p:cNvCxnSpPr>
          <p:nvPr userDrawn="1"/>
        </p:nvCxnSpPr>
        <p:spPr>
          <a:xfrm>
            <a:off x="6002215" y="683288"/>
            <a:ext cx="618978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52A5D29-0C74-4DB5-80AC-205E2980DEB0}"/>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134709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A08D90C-70B8-457C-95AE-141C49C3A3FB}"/>
              </a:ext>
            </a:extLst>
          </p:cNvPr>
          <p:cNvCxnSpPr>
            <a:cxnSpLocks/>
          </p:cNvCxnSpPr>
          <p:nvPr userDrawn="1"/>
        </p:nvCxnSpPr>
        <p:spPr>
          <a:xfrm>
            <a:off x="0" y="683288"/>
            <a:ext cx="121920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ABE849F3-B6DF-4217-B464-9130928C9C74}"/>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732110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BEC2E1-0AD8-452E-87EC-4D9066322202}"/>
              </a:ext>
            </a:extLst>
          </p:cNvPr>
          <p:cNvSpPr/>
          <p:nvPr userDrawn="1"/>
        </p:nvSpPr>
        <p:spPr>
          <a:xfrm>
            <a:off x="0" y="0"/>
            <a:ext cx="12192000" cy="108522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22CC0ADF-8FA4-4472-9031-72E465CB401C}"/>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3897686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BE2D0A-6E5C-4A94-8EF1-D947C32EBE56}"/>
              </a:ext>
            </a:extLst>
          </p:cNvPr>
          <p:cNvSpPr/>
          <p:nvPr userDrawn="1"/>
        </p:nvSpPr>
        <p:spPr>
          <a:xfrm>
            <a:off x="0" y="80391"/>
            <a:ext cx="12192000" cy="633046"/>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Title 3">
            <a:extLst>
              <a:ext uri="{FF2B5EF4-FFF2-40B4-BE49-F238E27FC236}">
                <a16:creationId xmlns:a16="http://schemas.microsoft.com/office/drawing/2014/main" id="{4898FCA4-6365-4601-85C8-B9BFB43B3CCD}"/>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845764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70B6C2-5A8A-40C2-AE98-493677E13A21}"/>
              </a:ext>
            </a:extLst>
          </p:cNvPr>
          <p:cNvSpPr/>
          <p:nvPr userDrawn="1"/>
        </p:nvSpPr>
        <p:spPr>
          <a:xfrm>
            <a:off x="0" y="60292"/>
            <a:ext cx="12192000" cy="45719"/>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Title 2">
            <a:extLst>
              <a:ext uri="{FF2B5EF4-FFF2-40B4-BE49-F238E27FC236}">
                <a16:creationId xmlns:a16="http://schemas.microsoft.com/office/drawing/2014/main" id="{10892BB0-7181-4898-96B3-7ABD572DA6F9}"/>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2962669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B74E-CCD6-46A2-96AD-028888784453}"/>
              </a:ext>
            </a:extLst>
          </p:cNvPr>
          <p:cNvSpPr>
            <a:spLocks noGrp="1"/>
          </p:cNvSpPr>
          <p:nvPr>
            <p:ph type="title"/>
          </p:nvPr>
        </p:nvSpPr>
        <p:spPr/>
        <p:txBody>
          <a:bodyPr/>
          <a:lstStyle/>
          <a:p>
            <a:r>
              <a:rPr lang="en-US"/>
              <a:t>Click to edit Master title style</a:t>
            </a:r>
            <a:endParaRPr lang="en-ID"/>
          </a:p>
        </p:txBody>
      </p:sp>
    </p:spTree>
    <p:extLst>
      <p:ext uri="{BB962C8B-B14F-4D97-AF65-F5344CB8AC3E}">
        <p14:creationId xmlns:p14="http://schemas.microsoft.com/office/powerpoint/2010/main" val="513963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CF78D-0AC0-4E71-8350-3BC2A8E4306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ID"/>
          </a:p>
        </p:txBody>
      </p:sp>
    </p:spTree>
    <p:extLst>
      <p:ext uri="{BB962C8B-B14F-4D97-AF65-F5344CB8AC3E}">
        <p14:creationId xmlns:p14="http://schemas.microsoft.com/office/powerpoint/2010/main" val="3415785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5.xml"/><Relationship Id="rId1" Type="http://schemas.openxmlformats.org/officeDocument/2006/relationships/slideLayout" Target="../slideLayouts/slideLayout5.xml"/><Relationship Id="rId5" Type="http://schemas.openxmlformats.org/officeDocument/2006/relationships/image" Target="../media/image5.png"/><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10" Type="http://schemas.openxmlformats.org/officeDocument/2006/relationships/image" Target="../media/image5.png"/><Relationship Id="rId4" Type="http://schemas.openxmlformats.org/officeDocument/2006/relationships/slideLayout" Target="../slideLayouts/slideLayout9.xml"/><Relationship Id="rId9"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7.xml"/><Relationship Id="rId1" Type="http://schemas.openxmlformats.org/officeDocument/2006/relationships/slideLayout" Target="../slideLayouts/slideLayout13.xml"/><Relationship Id="rId4"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8.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spTree>
    <p:extLst>
      <p:ext uri="{BB962C8B-B14F-4D97-AF65-F5344CB8AC3E}">
        <p14:creationId xmlns:p14="http://schemas.microsoft.com/office/powerpoint/2010/main" val="2881310249"/>
      </p:ext>
    </p:extLst>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Flowchart: Process 2">
            <a:extLst>
              <a:ext uri="{FF2B5EF4-FFF2-40B4-BE49-F238E27FC236}">
                <a16:creationId xmlns:a16="http://schemas.microsoft.com/office/drawing/2014/main" id="{59788E57-52DB-4E2B-A81F-D18E71DA02CB}"/>
              </a:ext>
            </a:extLst>
          </p:cNvPr>
          <p:cNvSpPr/>
          <p:nvPr userDrawn="1"/>
        </p:nvSpPr>
        <p:spPr>
          <a:xfrm>
            <a:off x="0" y="6360607"/>
            <a:ext cx="12192000" cy="497393"/>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8" name="Picture 7">
            <a:extLst>
              <a:ext uri="{FF2B5EF4-FFF2-40B4-BE49-F238E27FC236}">
                <a16:creationId xmlns:a16="http://schemas.microsoft.com/office/drawing/2014/main" id="{EE8BF5A5-79AC-4428-A4CF-F44278AA4D6F}"/>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047255" y="6422940"/>
            <a:ext cx="453018" cy="439110"/>
          </a:xfrm>
          <a:prstGeom prst="rect">
            <a:avLst/>
          </a:prstGeom>
        </p:spPr>
      </p:pic>
      <p:pic>
        <p:nvPicPr>
          <p:cNvPr id="12" name="Picture 11">
            <a:extLst>
              <a:ext uri="{FF2B5EF4-FFF2-40B4-BE49-F238E27FC236}">
                <a16:creationId xmlns:a16="http://schemas.microsoft.com/office/drawing/2014/main" id="{0F13C787-49DC-45B2-99DA-FD9DF4541EF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9642" y="6419057"/>
            <a:ext cx="380491" cy="380491"/>
          </a:xfrm>
          <a:prstGeom prst="rect">
            <a:avLst/>
          </a:prstGeom>
        </p:spPr>
      </p:pic>
      <p:sp>
        <p:nvSpPr>
          <p:cNvPr id="13" name="TextBox 12">
            <a:extLst>
              <a:ext uri="{FF2B5EF4-FFF2-40B4-BE49-F238E27FC236}">
                <a16:creationId xmlns:a16="http://schemas.microsoft.com/office/drawing/2014/main" id="{AC0EC3BD-0F33-4AAF-A3A2-953764A0D99A}"/>
              </a:ext>
            </a:extLst>
          </p:cNvPr>
          <p:cNvSpPr txBox="1"/>
          <p:nvPr userDrawn="1"/>
        </p:nvSpPr>
        <p:spPr>
          <a:xfrm>
            <a:off x="480133" y="6412026"/>
            <a:ext cx="1793631" cy="369332"/>
          </a:xfrm>
          <a:prstGeom prst="rect">
            <a:avLst/>
          </a:prstGeom>
          <a:noFill/>
        </p:spPr>
        <p:txBody>
          <a:bodyPr wrap="square" rtlCol="0">
            <a:spAutoFit/>
          </a:bodyPr>
          <a:lstStyle/>
          <a:p>
            <a:r>
              <a:rPr lang="en-US" dirty="0" err="1"/>
              <a:t>InfoTI_unpam</a:t>
            </a:r>
            <a:endParaRPr lang="en-ID" dirty="0"/>
          </a:p>
        </p:txBody>
      </p:sp>
      <p:sp>
        <p:nvSpPr>
          <p:cNvPr id="14" name="TextBox 13">
            <a:extLst>
              <a:ext uri="{FF2B5EF4-FFF2-40B4-BE49-F238E27FC236}">
                <a16:creationId xmlns:a16="http://schemas.microsoft.com/office/drawing/2014/main" id="{60CFA357-EB7B-4C90-B08D-FF68109B966A}"/>
              </a:ext>
            </a:extLst>
          </p:cNvPr>
          <p:cNvSpPr txBox="1"/>
          <p:nvPr userDrawn="1"/>
        </p:nvSpPr>
        <p:spPr>
          <a:xfrm>
            <a:off x="2527388" y="6412026"/>
            <a:ext cx="2697755" cy="369332"/>
          </a:xfrm>
          <a:prstGeom prst="rect">
            <a:avLst/>
          </a:prstGeom>
          <a:noFill/>
        </p:spPr>
        <p:txBody>
          <a:bodyPr wrap="square" rtlCol="0">
            <a:spAutoFit/>
          </a:bodyPr>
          <a:lstStyle/>
          <a:p>
            <a:r>
              <a:rPr lang="en-US" dirty="0"/>
              <a:t>informatika.unpam.ac.id</a:t>
            </a:r>
            <a:endParaRPr lang="en-ID" dirty="0"/>
          </a:p>
        </p:txBody>
      </p:sp>
      <p:pic>
        <p:nvPicPr>
          <p:cNvPr id="16" name="Picture 15">
            <a:extLst>
              <a:ext uri="{FF2B5EF4-FFF2-40B4-BE49-F238E27FC236}">
                <a16:creationId xmlns:a16="http://schemas.microsoft.com/office/drawing/2014/main" id="{C10FF8DC-21DB-400A-A27F-9751868D2AFC}"/>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1443996" y="6412026"/>
            <a:ext cx="648362" cy="458733"/>
          </a:xfrm>
          <a:prstGeom prst="rect">
            <a:avLst/>
          </a:prstGeom>
        </p:spPr>
      </p:pic>
      <p:pic>
        <p:nvPicPr>
          <p:cNvPr id="15" name="Picture 14">
            <a:extLst>
              <a:ext uri="{FF2B5EF4-FFF2-40B4-BE49-F238E27FC236}">
                <a16:creationId xmlns:a16="http://schemas.microsoft.com/office/drawing/2014/main" id="{70E9772E-AF4F-4C17-B477-D78352308CB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931590" y="6366986"/>
            <a:ext cx="512406" cy="497394"/>
          </a:xfrm>
          <a:prstGeom prst="rect">
            <a:avLst/>
          </a:prstGeom>
        </p:spPr>
      </p:pic>
    </p:spTree>
    <p:extLst>
      <p:ext uri="{BB962C8B-B14F-4D97-AF65-F5344CB8AC3E}">
        <p14:creationId xmlns:p14="http://schemas.microsoft.com/office/powerpoint/2010/main" val="1391861668"/>
      </p:ext>
    </p:extLst>
  </p:cSld>
  <p:clrMap bg1="lt1" tx1="dk1" bg2="lt2" tx2="dk2" accent1="accent1" accent2="accent2" accent3="accent3" accent4="accent4" accent5="accent5" accent6="accent6" hlink="hlink" folHlink="folHlink"/>
  <p:sldLayoutIdLst>
    <p:sldLayoutId id="214748370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2" name="TextBox 1">
            <a:extLst>
              <a:ext uri="{FF2B5EF4-FFF2-40B4-BE49-F238E27FC236}">
                <a16:creationId xmlns:a16="http://schemas.microsoft.com/office/drawing/2014/main" id="{A7710A05-4BC0-4640-9166-A8A038BAD88C}"/>
              </a:ext>
            </a:extLst>
          </p:cNvPr>
          <p:cNvSpPr txBox="1"/>
          <p:nvPr userDrawn="1"/>
        </p:nvSpPr>
        <p:spPr>
          <a:xfrm>
            <a:off x="3898760" y="2622619"/>
            <a:ext cx="5194999" cy="923330"/>
          </a:xfrm>
          <a:prstGeom prst="rect">
            <a:avLst/>
          </a:prstGeom>
          <a:noFill/>
        </p:spPr>
        <p:txBody>
          <a:bodyPr wrap="square" rtlCol="0">
            <a:spAutoFit/>
          </a:bodyPr>
          <a:lstStyle/>
          <a:p>
            <a:r>
              <a:rPr lang="en-US" sz="5400" dirty="0"/>
              <a:t>TERIMA KASIH</a:t>
            </a:r>
            <a:endParaRPr lang="en-ID" sz="5400" dirty="0"/>
          </a:p>
        </p:txBody>
      </p:sp>
    </p:spTree>
    <p:extLst>
      <p:ext uri="{BB962C8B-B14F-4D97-AF65-F5344CB8AC3E}">
        <p14:creationId xmlns:p14="http://schemas.microsoft.com/office/powerpoint/2010/main" val="321173633"/>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2582426"/>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973921547"/>
      </p:ext>
    </p:extLst>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5A30DD-8BE8-42A1-85CC-D069AF516F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0" y="2057400"/>
            <a:ext cx="4876800" cy="27432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6" name="Flowchart: Process 5">
            <a:extLst>
              <a:ext uri="{FF2B5EF4-FFF2-40B4-BE49-F238E27FC236}">
                <a16:creationId xmlns:a16="http://schemas.microsoft.com/office/drawing/2014/main" id="{38F377F8-55ED-4437-98B9-2D2AA5DD3B4A}"/>
              </a:ext>
            </a:extLst>
          </p:cNvPr>
          <p:cNvSpPr/>
          <p:nvPr userDrawn="1"/>
        </p:nvSpPr>
        <p:spPr>
          <a:xfrm>
            <a:off x="0" y="0"/>
            <a:ext cx="12192000" cy="646385"/>
          </a:xfrm>
          <a:prstGeom prst="flowChartProcess">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TERIMA KASIH, MAHASISWA TEKNIK INFORMATIKA UNGGUL, ANDA SUDAH BELAJAR DENGAN LUAR BIASA</a:t>
            </a:r>
            <a:endParaRPr lang="en-ID" dirty="0"/>
          </a:p>
        </p:txBody>
      </p:sp>
    </p:spTree>
    <p:extLst>
      <p:ext uri="{BB962C8B-B14F-4D97-AF65-F5344CB8AC3E}">
        <p14:creationId xmlns:p14="http://schemas.microsoft.com/office/powerpoint/2010/main" val="2404665397"/>
      </p:ext>
    </p:extLst>
  </p:cSld>
  <p:clrMap bg1="lt1" tx1="dk1" bg2="lt2" tx2="dk2" accent1="accent1" accent2="accent2" accent3="accent3" accent4="accent4" accent5="accent5" accent6="accent6" hlink="hlink" folHlink="folHlink"/>
  <p:sldLayoutIdLst>
    <p:sldLayoutId id="214748369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
        <p:nvSpPr>
          <p:cNvPr id="34" name="Text Placeholder 33">
            <a:extLst>
              <a:ext uri="{FF2B5EF4-FFF2-40B4-BE49-F238E27FC236}">
                <a16:creationId xmlns:a16="http://schemas.microsoft.com/office/drawing/2014/main" id="{73922ECC-A830-4C03-9B45-AEB8C3D23C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35" name="Title Placeholder 34">
            <a:extLst>
              <a:ext uri="{FF2B5EF4-FFF2-40B4-BE49-F238E27FC236}">
                <a16:creationId xmlns:a16="http://schemas.microsoft.com/office/drawing/2014/main" id="{862CBB9D-7640-4DCE-8E7A-C98B9F67D6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Tree>
    <p:extLst>
      <p:ext uri="{BB962C8B-B14F-4D97-AF65-F5344CB8AC3E}">
        <p14:creationId xmlns:p14="http://schemas.microsoft.com/office/powerpoint/2010/main" val="3801620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85" r:id="rId3"/>
    <p:sldLayoutId id="2147483652" r:id="rId4"/>
    <p:sldLayoutId id="2147483651" r:id="rId5"/>
    <p:sldLayoutId id="2147483686" r:id="rId6"/>
    <p:sldLayoutId id="21474836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310508-6870-44FB-B67F-C3F1350DB66D}"/>
              </a:ext>
            </a:extLst>
          </p:cNvPr>
          <p:cNvSpPr/>
          <p:nvPr userDrawn="1"/>
        </p:nvSpPr>
        <p:spPr>
          <a:xfrm>
            <a:off x="0" y="1"/>
            <a:ext cx="12192000" cy="12044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9642" y="38924"/>
            <a:ext cx="1119282" cy="1086491"/>
          </a:xfrm>
          <a:prstGeom prst="rect">
            <a:avLst/>
          </a:prstGeom>
        </p:spPr>
      </p:pic>
      <p:sp>
        <p:nvSpPr>
          <p:cNvPr id="2" name="TextBox 1">
            <a:extLst>
              <a:ext uri="{FF2B5EF4-FFF2-40B4-BE49-F238E27FC236}">
                <a16:creationId xmlns:a16="http://schemas.microsoft.com/office/drawing/2014/main" id="{6456D31B-DA89-4FCC-A0CF-973CBA8BD493}"/>
              </a:ext>
            </a:extLst>
          </p:cNvPr>
          <p:cNvSpPr txBox="1"/>
          <p:nvPr userDrawn="1"/>
        </p:nvSpPr>
        <p:spPr>
          <a:xfrm>
            <a:off x="1218924" y="166670"/>
            <a:ext cx="5886103" cy="830997"/>
          </a:xfrm>
          <a:prstGeom prst="rect">
            <a:avLst/>
          </a:prstGeom>
          <a:noFill/>
        </p:spPr>
        <p:txBody>
          <a:bodyPr wrap="square" rtlCol="0">
            <a:spAutoFit/>
          </a:bodyPr>
          <a:lstStyle/>
          <a:p>
            <a:pPr algn="just"/>
            <a:r>
              <a:rPr lang="en-US" sz="2400" dirty="0"/>
              <a:t>PROGRAM STUDI S1 TEKNIK INFORMATIKA</a:t>
            </a:r>
            <a:br>
              <a:rPr lang="en-US" sz="2400" dirty="0"/>
            </a:br>
            <a:r>
              <a:rPr lang="en-US" sz="2400" dirty="0"/>
              <a:t>UNIVERSITAS PAMULANG</a:t>
            </a:r>
            <a:endParaRPr lang="en-ID" sz="2400" dirty="0"/>
          </a:p>
        </p:txBody>
      </p:sp>
      <p:pic>
        <p:nvPicPr>
          <p:cNvPr id="5" name="Picture 4">
            <a:extLst>
              <a:ext uri="{FF2B5EF4-FFF2-40B4-BE49-F238E27FC236}">
                <a16:creationId xmlns:a16="http://schemas.microsoft.com/office/drawing/2014/main" id="{C960A43D-3921-41B8-B4DC-C239EAEA847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48352" y="0"/>
            <a:ext cx="2143648" cy="1205802"/>
          </a:xfrm>
          <a:prstGeom prst="rect">
            <a:avLst/>
          </a:prstGeom>
        </p:spPr>
      </p:pic>
      <p:sp>
        <p:nvSpPr>
          <p:cNvPr id="6" name="Title Placeholder 5">
            <a:extLst>
              <a:ext uri="{FF2B5EF4-FFF2-40B4-BE49-F238E27FC236}">
                <a16:creationId xmlns:a16="http://schemas.microsoft.com/office/drawing/2014/main" id="{36AE1D4B-E2EF-47C4-A1A7-5689711E6FCE}"/>
              </a:ext>
            </a:extLst>
          </p:cNvPr>
          <p:cNvSpPr>
            <a:spLocks noGrp="1"/>
          </p:cNvSpPr>
          <p:nvPr>
            <p:ph type="title"/>
          </p:nvPr>
        </p:nvSpPr>
        <p:spPr>
          <a:xfrm>
            <a:off x="838200" y="1204467"/>
            <a:ext cx="10515600" cy="1325563"/>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10" name="Text Placeholder 9">
            <a:extLst>
              <a:ext uri="{FF2B5EF4-FFF2-40B4-BE49-F238E27FC236}">
                <a16:creationId xmlns:a16="http://schemas.microsoft.com/office/drawing/2014/main" id="{3FA5E565-A9FD-45A9-9262-E4CE87B5C47A}"/>
              </a:ext>
            </a:extLst>
          </p:cNvPr>
          <p:cNvSpPr>
            <a:spLocks noGrp="1"/>
          </p:cNvSpPr>
          <p:nvPr>
            <p:ph type="body" idx="1"/>
          </p:nvPr>
        </p:nvSpPr>
        <p:spPr>
          <a:xfrm>
            <a:off x="838200" y="2329881"/>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Tree>
    <p:extLst>
      <p:ext uri="{BB962C8B-B14F-4D97-AF65-F5344CB8AC3E}">
        <p14:creationId xmlns:p14="http://schemas.microsoft.com/office/powerpoint/2010/main" val="440609619"/>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7122B0-D188-4F1B-9170-48FB515F7D1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Right Triangle 8">
            <a:extLst>
              <a:ext uri="{FF2B5EF4-FFF2-40B4-BE49-F238E27FC236}">
                <a16:creationId xmlns:a16="http://schemas.microsoft.com/office/drawing/2014/main" id="{0FE1B4E5-ADBE-44E9-94B8-12353259E240}"/>
              </a:ext>
            </a:extLst>
          </p:cNvPr>
          <p:cNvSpPr/>
          <p:nvPr userDrawn="1"/>
        </p:nvSpPr>
        <p:spPr>
          <a:xfrm rot="16200000">
            <a:off x="10209964" y="4875960"/>
            <a:ext cx="1884065" cy="2080010"/>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a:extLst>
              <a:ext uri="{FF2B5EF4-FFF2-40B4-BE49-F238E27FC236}">
                <a16:creationId xmlns:a16="http://schemas.microsoft.com/office/drawing/2014/main" id="{F6310508-6870-44FB-B67F-C3F1350DB66D}"/>
              </a:ext>
            </a:extLst>
          </p:cNvPr>
          <p:cNvSpPr/>
          <p:nvPr userDrawn="1"/>
        </p:nvSpPr>
        <p:spPr>
          <a:xfrm>
            <a:off x="0" y="6211614"/>
            <a:ext cx="12192000" cy="64638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a:p>
            <a:pPr algn="ctr"/>
            <a:r>
              <a:rPr lang="en-US" sz="2000" dirty="0">
                <a:solidFill>
                  <a:schemeClr val="tx1"/>
                </a:solidFill>
              </a:rPr>
              <a:t>Program </a:t>
            </a:r>
            <a:r>
              <a:rPr lang="en-US" sz="2000" dirty="0" err="1">
                <a:solidFill>
                  <a:schemeClr val="tx1"/>
                </a:solidFill>
              </a:rPr>
              <a:t>Studi</a:t>
            </a:r>
            <a:r>
              <a:rPr lang="en-US" sz="2000" dirty="0">
                <a:solidFill>
                  <a:schemeClr val="tx1"/>
                </a:solidFill>
              </a:rPr>
              <a:t> Teknik </a:t>
            </a:r>
            <a:r>
              <a:rPr lang="en-US" sz="2000" dirty="0" err="1">
                <a:solidFill>
                  <a:schemeClr val="tx1"/>
                </a:solidFill>
              </a:rPr>
              <a:t>Informatika</a:t>
            </a:r>
            <a:r>
              <a:rPr lang="en-US" sz="2000" dirty="0">
                <a:solidFill>
                  <a:schemeClr val="tx1"/>
                </a:solidFill>
              </a:rPr>
              <a:t>, Universitas </a:t>
            </a:r>
            <a:r>
              <a:rPr lang="en-US" sz="2000" dirty="0" err="1">
                <a:solidFill>
                  <a:schemeClr val="tx1"/>
                </a:solidFill>
              </a:rPr>
              <a:t>Pamulang</a:t>
            </a:r>
            <a:endParaRPr lang="en-US" sz="2000" dirty="0">
              <a:solidFill>
                <a:schemeClr val="tx1"/>
              </a:solidFill>
            </a:endParaRPr>
          </a:p>
          <a:p>
            <a:pPr algn="ctr"/>
            <a:r>
              <a:rPr lang="en-US" sz="2000" dirty="0">
                <a:solidFill>
                  <a:schemeClr val="tx1"/>
                </a:solidFill>
              </a:rPr>
              <a:t> </a:t>
            </a:r>
            <a:endParaRPr lang="en-ID" sz="2000" dirty="0">
              <a:solidFill>
                <a:schemeClr val="tx1"/>
              </a:solidFill>
            </a:endParaRPr>
          </a:p>
        </p:txBody>
      </p:sp>
      <p:sp>
        <p:nvSpPr>
          <p:cNvPr id="8" name="Right Triangle 7">
            <a:extLst>
              <a:ext uri="{FF2B5EF4-FFF2-40B4-BE49-F238E27FC236}">
                <a16:creationId xmlns:a16="http://schemas.microsoft.com/office/drawing/2014/main" id="{4354D356-3AB9-4317-AD64-9733710C017F}"/>
              </a:ext>
            </a:extLst>
          </p:cNvPr>
          <p:cNvSpPr/>
          <p:nvPr userDrawn="1"/>
        </p:nvSpPr>
        <p:spPr>
          <a:xfrm>
            <a:off x="0" y="5074416"/>
            <a:ext cx="1597688" cy="1783584"/>
          </a:xfrm>
          <a:prstGeom prst="rtTriangl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 name="Picture 10">
            <a:extLst>
              <a:ext uri="{FF2B5EF4-FFF2-40B4-BE49-F238E27FC236}">
                <a16:creationId xmlns:a16="http://schemas.microsoft.com/office/drawing/2014/main" id="{222E1FA6-9BAA-48F7-9B48-E78A7FC60C7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1099172" y="5725289"/>
            <a:ext cx="1042588" cy="1012044"/>
          </a:xfrm>
          <a:prstGeom prst="rect">
            <a:avLst/>
          </a:prstGeom>
        </p:spPr>
      </p:pic>
      <p:pic>
        <p:nvPicPr>
          <p:cNvPr id="16" name="Picture 15">
            <a:extLst>
              <a:ext uri="{FF2B5EF4-FFF2-40B4-BE49-F238E27FC236}">
                <a16:creationId xmlns:a16="http://schemas.microsoft.com/office/drawing/2014/main" id="{B1A5ABCE-DB0D-44E8-AF1B-A1F9AA2448C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0581" y="5864994"/>
            <a:ext cx="1403488" cy="993004"/>
          </a:xfrm>
          <a:prstGeom prst="rect">
            <a:avLst/>
          </a:prstGeom>
        </p:spPr>
      </p:pic>
    </p:spTree>
    <p:extLst>
      <p:ext uri="{BB962C8B-B14F-4D97-AF65-F5344CB8AC3E}">
        <p14:creationId xmlns:p14="http://schemas.microsoft.com/office/powerpoint/2010/main" val="4026085888"/>
      </p:ext>
    </p:extLst>
  </p:cSld>
  <p:clrMap bg1="lt1" tx1="dk1" bg2="lt2" tx2="dk2" accent1="accent1" accent2="accent2" accent3="accent3" accent4="accent4" accent5="accent5" accent6="accent6" hlink="hlink" folHlink="folHlink"/>
  <p:sldLayoutIdLst>
    <p:sldLayoutId id="214748370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090F-55CA-48B6-AE9D-1026C3C1790C}"/>
              </a:ext>
            </a:extLst>
          </p:cNvPr>
          <p:cNvSpPr>
            <a:spLocks noGrp="1"/>
          </p:cNvSpPr>
          <p:nvPr>
            <p:ph type="title"/>
          </p:nvPr>
        </p:nvSpPr>
        <p:spPr>
          <a:xfrm>
            <a:off x="957470" y="1232452"/>
            <a:ext cx="10515600" cy="5128591"/>
          </a:xfrm>
        </p:spPr>
        <p:txBody>
          <a:bodyPr>
            <a:normAutofit/>
          </a:bodyPr>
          <a:lstStyle/>
          <a:p>
            <a:pPr algn="ctr"/>
            <a:r>
              <a:rPr lang="en-ID" sz="5300" dirty="0" err="1"/>
              <a:t>Pengenalan</a:t>
            </a:r>
            <a:r>
              <a:rPr lang="en-ID" sz="5300" dirty="0"/>
              <a:t> Java</a:t>
            </a:r>
            <a:br>
              <a:rPr lang="en-ID" dirty="0"/>
            </a:br>
            <a:br>
              <a:rPr lang="en-ID" dirty="0"/>
            </a:br>
            <a:r>
              <a:rPr lang="en-ID" dirty="0"/>
              <a:t>Oleh : </a:t>
            </a:r>
            <a:r>
              <a:rPr lang="en-ID" dirty="0" err="1"/>
              <a:t>Galuh</a:t>
            </a:r>
            <a:r>
              <a:rPr lang="en-ID" dirty="0"/>
              <a:t> </a:t>
            </a:r>
            <a:r>
              <a:rPr lang="en-ID" dirty="0" err="1"/>
              <a:t>Saputri</a:t>
            </a:r>
            <a:r>
              <a:rPr lang="en-ID" dirty="0"/>
              <a:t>, </a:t>
            </a:r>
            <a:r>
              <a:rPr lang="en-ID" dirty="0" err="1"/>
              <a:t>S.Kom</a:t>
            </a:r>
            <a:r>
              <a:rPr lang="en-ID" dirty="0"/>
              <a:t>. </a:t>
            </a:r>
            <a:r>
              <a:rPr lang="en-ID" dirty="0" err="1"/>
              <a:t>M.Kom</a:t>
            </a:r>
            <a:br>
              <a:rPr lang="en-ID" dirty="0"/>
            </a:br>
            <a:endParaRPr lang="en-ID" dirty="0"/>
          </a:p>
        </p:txBody>
      </p:sp>
    </p:spTree>
    <p:extLst>
      <p:ext uri="{BB962C8B-B14F-4D97-AF65-F5344CB8AC3E}">
        <p14:creationId xmlns:p14="http://schemas.microsoft.com/office/powerpoint/2010/main" val="200752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03ED-9D61-454B-8EDA-5B50615338EB}"/>
              </a:ext>
            </a:extLst>
          </p:cNvPr>
          <p:cNvSpPr>
            <a:spLocks noGrp="1"/>
          </p:cNvSpPr>
          <p:nvPr>
            <p:ph type="title"/>
          </p:nvPr>
        </p:nvSpPr>
        <p:spPr>
          <a:xfrm>
            <a:off x="838200" y="1204467"/>
            <a:ext cx="10515600" cy="5209585"/>
          </a:xfrm>
        </p:spPr>
        <p:txBody>
          <a:bodyPr>
            <a:normAutofit fontScale="90000"/>
          </a:bodyPr>
          <a:lstStyle/>
          <a:p>
            <a:pPr algn="just"/>
            <a:r>
              <a:rPr lang="en-ID" sz="2700" dirty="0" err="1"/>
              <a:t>Pada</a:t>
            </a:r>
            <a:r>
              <a:rPr lang="en-ID" sz="2700" dirty="0"/>
              <a:t> </a:t>
            </a:r>
            <a:r>
              <a:rPr lang="en-ID" sz="2700" dirty="0" err="1"/>
              <a:t>tahun</a:t>
            </a:r>
            <a:r>
              <a:rPr lang="en-ID" sz="2700" dirty="0"/>
              <a:t> 1991 </a:t>
            </a:r>
            <a:r>
              <a:rPr lang="en-ID" sz="2700" dirty="0" err="1"/>
              <a:t>bahasa</a:t>
            </a:r>
            <a:r>
              <a:rPr lang="en-ID" sz="2700" dirty="0"/>
              <a:t> java </a:t>
            </a:r>
            <a:r>
              <a:rPr lang="en-ID" sz="2700" dirty="0" err="1"/>
              <a:t>lahir</a:t>
            </a:r>
            <a:r>
              <a:rPr lang="en-ID" sz="2700" dirty="0"/>
              <a:t> </a:t>
            </a:r>
            <a:r>
              <a:rPr lang="en-ID" sz="2700" dirty="0" err="1"/>
              <a:t>dari</a:t>
            </a:r>
            <a:r>
              <a:rPr lang="en-ID" sz="2700" dirty="0"/>
              <a:t> the green project yang </a:t>
            </a:r>
            <a:r>
              <a:rPr lang="en-ID" sz="2700" dirty="0" err="1"/>
              <a:t>dikerjakan</a:t>
            </a:r>
            <a:r>
              <a:rPr lang="en-ID" sz="2700" dirty="0"/>
              <a:t> </a:t>
            </a:r>
            <a:r>
              <a:rPr lang="en-ID" sz="2700" dirty="0" err="1"/>
              <a:t>oleh</a:t>
            </a:r>
            <a:r>
              <a:rPr lang="en-ID" sz="2700" dirty="0"/>
              <a:t> </a:t>
            </a:r>
            <a:r>
              <a:rPr lang="en-ID" sz="2700" dirty="0" err="1"/>
              <a:t>sekelompok</a:t>
            </a:r>
            <a:r>
              <a:rPr lang="en-ID" sz="2700" dirty="0"/>
              <a:t> </a:t>
            </a:r>
            <a:r>
              <a:rPr lang="en-ID" sz="2700" dirty="0" err="1"/>
              <a:t>insinyur</a:t>
            </a:r>
            <a:r>
              <a:rPr lang="en-ID" sz="2700" dirty="0"/>
              <a:t> </a:t>
            </a:r>
            <a:r>
              <a:rPr lang="en-ID" sz="2700" dirty="0" err="1"/>
              <a:t>dari</a:t>
            </a:r>
            <a:r>
              <a:rPr lang="en-ID" sz="2700" dirty="0"/>
              <a:t> Sun Microsystem, Inc., yang </a:t>
            </a:r>
            <a:r>
              <a:rPr lang="en-ID" sz="2700" dirty="0" err="1"/>
              <a:t>dipimpin</a:t>
            </a:r>
            <a:r>
              <a:rPr lang="en-ID" sz="2700" dirty="0"/>
              <a:t> </a:t>
            </a:r>
            <a:r>
              <a:rPr lang="en-ID" sz="2700" dirty="0" err="1"/>
              <a:t>oleh</a:t>
            </a:r>
            <a:r>
              <a:rPr lang="en-ID" sz="2700" dirty="0"/>
              <a:t> Patrick Naughton </a:t>
            </a:r>
            <a:r>
              <a:rPr lang="en-ID" sz="2700" dirty="0" err="1"/>
              <a:t>dan</a:t>
            </a:r>
            <a:r>
              <a:rPr lang="en-ID" sz="2700" dirty="0"/>
              <a:t> James Gosling. </a:t>
            </a:r>
            <a:r>
              <a:rPr lang="en-ID" sz="2700" dirty="0" err="1"/>
              <a:t>Proyek</a:t>
            </a:r>
            <a:r>
              <a:rPr lang="en-ID" sz="2700" dirty="0"/>
              <a:t> </a:t>
            </a:r>
            <a:r>
              <a:rPr lang="en-ID" sz="2700" dirty="0" err="1"/>
              <a:t>ini</a:t>
            </a:r>
            <a:r>
              <a:rPr lang="en-ID" sz="2700" dirty="0"/>
              <a:t> </a:t>
            </a:r>
            <a:r>
              <a:rPr lang="en-ID" sz="2700" dirty="0" err="1"/>
              <a:t>ditujukan</a:t>
            </a:r>
            <a:r>
              <a:rPr lang="en-ID" sz="2700" dirty="0"/>
              <a:t> </a:t>
            </a:r>
            <a:r>
              <a:rPr lang="en-ID" sz="2700" dirty="0" err="1"/>
              <a:t>untuk</a:t>
            </a:r>
            <a:r>
              <a:rPr lang="en-ID" sz="2700" dirty="0"/>
              <a:t> </a:t>
            </a:r>
            <a:r>
              <a:rPr lang="en-ID" sz="2700" dirty="0" err="1"/>
              <a:t>merancang</a:t>
            </a:r>
            <a:r>
              <a:rPr lang="en-ID" sz="2700" dirty="0"/>
              <a:t> </a:t>
            </a:r>
            <a:r>
              <a:rPr lang="en-ID" sz="2700" dirty="0" err="1"/>
              <a:t>bahasa</a:t>
            </a:r>
            <a:r>
              <a:rPr lang="en-ID" sz="2700" dirty="0"/>
              <a:t> </a:t>
            </a:r>
            <a:r>
              <a:rPr lang="en-ID" sz="2700" dirty="0" err="1"/>
              <a:t>untuk</a:t>
            </a:r>
            <a:r>
              <a:rPr lang="en-ID" sz="2700" dirty="0"/>
              <a:t> </a:t>
            </a:r>
            <a:r>
              <a:rPr lang="en-ID" sz="2700" dirty="0" err="1"/>
              <a:t>perangkat</a:t>
            </a:r>
            <a:r>
              <a:rPr lang="en-ID" sz="2700" dirty="0"/>
              <a:t> </a:t>
            </a:r>
            <a:r>
              <a:rPr lang="en-ID" sz="2700" dirty="0" err="1"/>
              <a:t>konsumer</a:t>
            </a:r>
            <a:r>
              <a:rPr lang="en-ID" sz="2700" dirty="0"/>
              <a:t> </a:t>
            </a:r>
            <a:r>
              <a:rPr lang="en-ID" sz="2700" dirty="0" err="1"/>
              <a:t>seperti</a:t>
            </a:r>
            <a:r>
              <a:rPr lang="en-ID" sz="2700" dirty="0"/>
              <a:t> cable TV box. Para </a:t>
            </a:r>
            <a:r>
              <a:rPr lang="en-ID" sz="2700" dirty="0" err="1"/>
              <a:t>perancang</a:t>
            </a:r>
            <a:r>
              <a:rPr lang="en-ID" sz="2700" dirty="0"/>
              <a:t> </a:t>
            </a:r>
            <a:r>
              <a:rPr lang="en-ID" sz="2700" dirty="0" err="1"/>
              <a:t>ini</a:t>
            </a:r>
            <a:r>
              <a:rPr lang="en-ID" sz="2700" dirty="0"/>
              <a:t> </a:t>
            </a:r>
            <a:r>
              <a:rPr lang="en-ID" sz="2700" dirty="0" err="1"/>
              <a:t>ingin</a:t>
            </a:r>
            <a:r>
              <a:rPr lang="en-ID" sz="2700" dirty="0"/>
              <a:t> </a:t>
            </a:r>
            <a:r>
              <a:rPr lang="en-ID" sz="2700" dirty="0" err="1"/>
              <a:t>menciptakan</a:t>
            </a:r>
            <a:r>
              <a:rPr lang="en-ID" sz="2700" dirty="0"/>
              <a:t> </a:t>
            </a:r>
            <a:r>
              <a:rPr lang="en-ID" sz="2700" dirty="0" err="1"/>
              <a:t>sebuah</a:t>
            </a:r>
            <a:r>
              <a:rPr lang="en-ID" sz="2700" dirty="0"/>
              <a:t> </a:t>
            </a:r>
            <a:r>
              <a:rPr lang="en-ID" sz="2700" dirty="0" err="1"/>
              <a:t>bahasa</a:t>
            </a:r>
            <a:r>
              <a:rPr lang="en-ID" sz="2700" dirty="0"/>
              <a:t> </a:t>
            </a:r>
            <a:r>
              <a:rPr lang="en-ID" sz="2700" dirty="0" err="1"/>
              <a:t>pemrograman</a:t>
            </a:r>
            <a:r>
              <a:rPr lang="en-ID" sz="2700" dirty="0"/>
              <a:t> yang </a:t>
            </a:r>
            <a:r>
              <a:rPr lang="en-ID" sz="2700" dirty="0" err="1"/>
              <a:t>dapat</a:t>
            </a:r>
            <a:r>
              <a:rPr lang="en-ID" sz="2700" dirty="0"/>
              <a:t> </a:t>
            </a:r>
            <a:r>
              <a:rPr lang="en-ID" sz="2700" dirty="0" err="1"/>
              <a:t>dijalankan</a:t>
            </a:r>
            <a:r>
              <a:rPr lang="en-ID" sz="2700" dirty="0"/>
              <a:t> </a:t>
            </a:r>
            <a:r>
              <a:rPr lang="en-ID" sz="2700" dirty="0" err="1"/>
              <a:t>pada</a:t>
            </a:r>
            <a:r>
              <a:rPr lang="en-ID" sz="2700" dirty="0"/>
              <a:t> </a:t>
            </a:r>
            <a:r>
              <a:rPr lang="en-ID" sz="2700" dirty="0" err="1"/>
              <a:t>semua</a:t>
            </a:r>
            <a:r>
              <a:rPr lang="en-ID" sz="2700" dirty="0"/>
              <a:t> </a:t>
            </a:r>
            <a:r>
              <a:rPr lang="en-ID" sz="2700" dirty="0" err="1"/>
              <a:t>peralatan</a:t>
            </a:r>
            <a:r>
              <a:rPr lang="en-ID" sz="2700" dirty="0"/>
              <a:t> yang </a:t>
            </a:r>
            <a:r>
              <a:rPr lang="en-ID" sz="2700" dirty="0" err="1"/>
              <a:t>tidak</a:t>
            </a:r>
            <a:r>
              <a:rPr lang="en-ID" sz="2700" dirty="0"/>
              <a:t> </a:t>
            </a:r>
            <a:r>
              <a:rPr lang="en-ID" sz="2700" dirty="0" err="1"/>
              <a:t>tergantung</a:t>
            </a:r>
            <a:r>
              <a:rPr lang="en-ID" sz="2700" dirty="0"/>
              <a:t> </a:t>
            </a:r>
            <a:r>
              <a:rPr lang="en-ID" sz="2700" dirty="0" err="1"/>
              <a:t>oleh</a:t>
            </a:r>
            <a:r>
              <a:rPr lang="en-ID" sz="2700" dirty="0"/>
              <a:t> platform yang </a:t>
            </a:r>
            <a:r>
              <a:rPr lang="en-ID" sz="2700" dirty="0" err="1"/>
              <a:t>digunakan</a:t>
            </a:r>
            <a:r>
              <a:rPr lang="en-ID" sz="2700" dirty="0"/>
              <a:t> </a:t>
            </a:r>
            <a:r>
              <a:rPr lang="en-ID" sz="2700" dirty="0" err="1"/>
              <a:t>oleh</a:t>
            </a:r>
            <a:r>
              <a:rPr lang="en-ID" sz="2700" dirty="0"/>
              <a:t> </a:t>
            </a:r>
            <a:r>
              <a:rPr lang="en-ID" sz="2700" dirty="0" err="1"/>
              <a:t>peralatan</a:t>
            </a:r>
            <a:r>
              <a:rPr lang="en-ID" sz="2700" dirty="0"/>
              <a:t> </a:t>
            </a:r>
            <a:r>
              <a:rPr lang="en-ID" sz="2700" dirty="0" err="1"/>
              <a:t>tersebut</a:t>
            </a:r>
            <a:r>
              <a:rPr lang="en-ID" sz="2700" dirty="0"/>
              <a:t>. </a:t>
            </a:r>
            <a:br>
              <a:rPr lang="en-ID" sz="2700" dirty="0"/>
            </a:br>
            <a:r>
              <a:rPr lang="en-ID" sz="2700" dirty="0"/>
              <a:t>Karena orang-orang yang </a:t>
            </a:r>
            <a:r>
              <a:rPr lang="en-ID" sz="2700" dirty="0" err="1"/>
              <a:t>bekerja</a:t>
            </a:r>
            <a:r>
              <a:rPr lang="en-ID" sz="2700" dirty="0"/>
              <a:t> </a:t>
            </a:r>
            <a:r>
              <a:rPr lang="en-ID" sz="2700" dirty="0" err="1"/>
              <a:t>dalam</a:t>
            </a:r>
            <a:r>
              <a:rPr lang="en-ID" sz="2700" dirty="0"/>
              <a:t> </a:t>
            </a:r>
            <a:r>
              <a:rPr lang="en-ID" sz="2700" dirty="0" err="1"/>
              <a:t>proyek</a:t>
            </a:r>
            <a:r>
              <a:rPr lang="en-ID" sz="2700" dirty="0"/>
              <a:t> Green </a:t>
            </a:r>
            <a:r>
              <a:rPr lang="en-ID" sz="2700" dirty="0" err="1"/>
              <a:t>memiliki</a:t>
            </a:r>
            <a:r>
              <a:rPr lang="en-ID" sz="2700" dirty="0"/>
              <a:t> </a:t>
            </a:r>
            <a:r>
              <a:rPr lang="en-ID" sz="2700" dirty="0" err="1"/>
              <a:t>dasar</a:t>
            </a:r>
            <a:r>
              <a:rPr lang="en-ID" sz="2700" dirty="0"/>
              <a:t> </a:t>
            </a:r>
            <a:r>
              <a:rPr lang="en-ID" sz="2700" dirty="0" err="1"/>
              <a:t>bahasa</a:t>
            </a:r>
            <a:r>
              <a:rPr lang="en-ID" sz="2700" dirty="0"/>
              <a:t> C++ </a:t>
            </a:r>
            <a:r>
              <a:rPr lang="en-ID" sz="2700" dirty="0" err="1"/>
              <a:t>maka</a:t>
            </a:r>
            <a:r>
              <a:rPr lang="en-ID" sz="2700" dirty="0"/>
              <a:t> </a:t>
            </a:r>
            <a:r>
              <a:rPr lang="en-ID" sz="2700" dirty="0" err="1"/>
              <a:t>kebanyakan</a:t>
            </a:r>
            <a:r>
              <a:rPr lang="en-ID" sz="2700" dirty="0"/>
              <a:t> </a:t>
            </a:r>
            <a:r>
              <a:rPr lang="en-ID" sz="2700" dirty="0" err="1"/>
              <a:t>sintaksnya</a:t>
            </a:r>
            <a:r>
              <a:rPr lang="en-ID" sz="2700" dirty="0"/>
              <a:t> </a:t>
            </a:r>
            <a:r>
              <a:rPr lang="en-ID" sz="2700" dirty="0" err="1"/>
              <a:t>diambil</a:t>
            </a:r>
            <a:r>
              <a:rPr lang="en-ID" sz="2700" dirty="0"/>
              <a:t> </a:t>
            </a:r>
            <a:r>
              <a:rPr lang="en-ID" sz="2700" dirty="0" err="1"/>
              <a:t>dari</a:t>
            </a:r>
            <a:r>
              <a:rPr lang="en-ID" sz="2700" dirty="0"/>
              <a:t> C++ </a:t>
            </a:r>
            <a:r>
              <a:rPr lang="en-ID" sz="2700" dirty="0" err="1"/>
              <a:t>serta</a:t>
            </a:r>
            <a:r>
              <a:rPr lang="en-ID" sz="2700" dirty="0"/>
              <a:t> </a:t>
            </a:r>
            <a:r>
              <a:rPr lang="en-ID" sz="2700" dirty="0" err="1"/>
              <a:t>mengadopsi</a:t>
            </a:r>
            <a:r>
              <a:rPr lang="en-ID" sz="2700" dirty="0"/>
              <a:t> </a:t>
            </a:r>
            <a:r>
              <a:rPr lang="en-ID" sz="2700" dirty="0" err="1"/>
              <a:t>orientasi</a:t>
            </a:r>
            <a:r>
              <a:rPr lang="en-ID" sz="2700" dirty="0"/>
              <a:t> </a:t>
            </a:r>
            <a:r>
              <a:rPr lang="en-ID" sz="2700" dirty="0" err="1"/>
              <a:t>obyek</a:t>
            </a:r>
            <a:r>
              <a:rPr lang="en-ID" sz="2700" dirty="0"/>
              <a:t> </a:t>
            </a:r>
            <a:r>
              <a:rPr lang="en-ID" sz="2700" dirty="0" err="1"/>
              <a:t>bukan</a:t>
            </a:r>
            <a:r>
              <a:rPr lang="en-ID" sz="2700" dirty="0"/>
              <a:t> </a:t>
            </a:r>
            <a:r>
              <a:rPr lang="en-ID" sz="2700" dirty="0" err="1"/>
              <a:t>prosedural</a:t>
            </a:r>
            <a:r>
              <a:rPr lang="en-ID" sz="2700" dirty="0"/>
              <a:t>. </a:t>
            </a:r>
            <a:r>
              <a:rPr lang="en-ID" sz="2700" dirty="0" err="1"/>
              <a:t>Pada</a:t>
            </a:r>
            <a:r>
              <a:rPr lang="en-ID" sz="2700" dirty="0"/>
              <a:t> </a:t>
            </a:r>
            <a:r>
              <a:rPr lang="en-ID" sz="2700" dirty="0" err="1"/>
              <a:t>mulanya</a:t>
            </a:r>
            <a:r>
              <a:rPr lang="en-ID" sz="2700" dirty="0"/>
              <a:t>, James Gosling </a:t>
            </a:r>
            <a:r>
              <a:rPr lang="en-ID" sz="2700" dirty="0" err="1"/>
              <a:t>memberi</a:t>
            </a:r>
            <a:r>
              <a:rPr lang="en-ID" sz="2700" dirty="0"/>
              <a:t> </a:t>
            </a:r>
            <a:r>
              <a:rPr lang="en-ID" sz="2700" dirty="0" err="1"/>
              <a:t>nama</a:t>
            </a:r>
            <a:r>
              <a:rPr lang="en-ID" sz="2700" dirty="0"/>
              <a:t> </a:t>
            </a:r>
            <a:r>
              <a:rPr lang="en-ID" sz="2700" dirty="0" err="1"/>
              <a:t>bahasa</a:t>
            </a:r>
            <a:r>
              <a:rPr lang="en-ID" sz="2700" dirty="0"/>
              <a:t> </a:t>
            </a:r>
            <a:r>
              <a:rPr lang="en-ID" sz="2700" dirty="0" err="1"/>
              <a:t>pemrogramannya</a:t>
            </a:r>
            <a:r>
              <a:rPr lang="en-ID" sz="2700" dirty="0"/>
              <a:t> </a:t>
            </a:r>
            <a:r>
              <a:rPr lang="en-ID" sz="2700" dirty="0" err="1"/>
              <a:t>dengan</a:t>
            </a:r>
            <a:r>
              <a:rPr lang="en-ID" sz="2700" dirty="0"/>
              <a:t> “Oak”, </a:t>
            </a:r>
            <a:r>
              <a:rPr lang="en-ID" sz="2700" dirty="0" err="1"/>
              <a:t>setelah</a:t>
            </a:r>
            <a:r>
              <a:rPr lang="en-ID" sz="2700" dirty="0"/>
              <a:t> </a:t>
            </a:r>
            <a:r>
              <a:rPr lang="en-ID" sz="2700" dirty="0" err="1"/>
              <a:t>terinspirasi</a:t>
            </a:r>
            <a:r>
              <a:rPr lang="en-ID" sz="2700" dirty="0"/>
              <a:t> </a:t>
            </a:r>
            <a:r>
              <a:rPr lang="en-ID" sz="2700" dirty="0" err="1"/>
              <a:t>dari</a:t>
            </a:r>
            <a:r>
              <a:rPr lang="en-ID" sz="2700" dirty="0"/>
              <a:t> </a:t>
            </a:r>
            <a:r>
              <a:rPr lang="en-ID" sz="2700" dirty="0" err="1"/>
              <a:t>pohon</a:t>
            </a:r>
            <a:r>
              <a:rPr lang="en-ID" sz="2700" dirty="0"/>
              <a:t> yang </a:t>
            </a:r>
            <a:r>
              <a:rPr lang="en-ID" sz="2700" dirty="0" err="1"/>
              <a:t>berada</a:t>
            </a:r>
            <a:r>
              <a:rPr lang="en-ID" sz="2700" dirty="0"/>
              <a:t> di </a:t>
            </a:r>
            <a:r>
              <a:rPr lang="en-ID" sz="2700" dirty="0" err="1"/>
              <a:t>seberang</a:t>
            </a:r>
            <a:r>
              <a:rPr lang="en-ID" sz="2700" dirty="0"/>
              <a:t> </a:t>
            </a:r>
            <a:r>
              <a:rPr lang="en-ID" sz="2700" dirty="0" err="1"/>
              <a:t>kantornya</a:t>
            </a:r>
            <a:r>
              <a:rPr lang="en-ID" sz="2700" dirty="0"/>
              <a:t>. </a:t>
            </a:r>
            <a:r>
              <a:rPr lang="en-ID" sz="2700" dirty="0" err="1"/>
              <a:t>Kemudian</a:t>
            </a:r>
            <a:r>
              <a:rPr lang="en-ID" sz="2700" dirty="0"/>
              <a:t> </a:t>
            </a:r>
            <a:r>
              <a:rPr lang="en-ID" sz="2700" dirty="0" err="1"/>
              <a:t>diganti</a:t>
            </a:r>
            <a:r>
              <a:rPr lang="en-ID" sz="2700" dirty="0"/>
              <a:t> </a:t>
            </a:r>
            <a:r>
              <a:rPr lang="en-ID" sz="2700" dirty="0" err="1"/>
              <a:t>dengan</a:t>
            </a:r>
            <a:r>
              <a:rPr lang="en-ID" sz="2700" dirty="0"/>
              <a:t> “Java”, </a:t>
            </a:r>
            <a:r>
              <a:rPr lang="en-ID" sz="2700" dirty="0" err="1"/>
              <a:t>karena</a:t>
            </a:r>
            <a:r>
              <a:rPr lang="en-ID" sz="2700" dirty="0"/>
              <a:t> </a:t>
            </a:r>
            <a:r>
              <a:rPr lang="en-ID" sz="2700" dirty="0" err="1"/>
              <a:t>sudah</a:t>
            </a:r>
            <a:r>
              <a:rPr lang="en-ID" sz="2700" dirty="0"/>
              <a:t> </a:t>
            </a:r>
            <a:r>
              <a:rPr lang="en-ID" sz="2700" dirty="0" err="1"/>
              <a:t>ada</a:t>
            </a:r>
            <a:r>
              <a:rPr lang="en-ID" sz="2700" dirty="0"/>
              <a:t> </a:t>
            </a:r>
            <a:r>
              <a:rPr lang="en-ID" sz="2700" dirty="0" err="1"/>
              <a:t>bahasa</a:t>
            </a:r>
            <a:r>
              <a:rPr lang="en-ID" sz="2700" dirty="0"/>
              <a:t> </a:t>
            </a:r>
            <a:r>
              <a:rPr lang="en-ID" sz="2700" dirty="0" err="1"/>
              <a:t>pemrograman</a:t>
            </a:r>
            <a:r>
              <a:rPr lang="en-ID" sz="2700" dirty="0"/>
              <a:t> </a:t>
            </a:r>
            <a:r>
              <a:rPr lang="en-ID" sz="2700" dirty="0" err="1"/>
              <a:t>dengan</a:t>
            </a:r>
            <a:r>
              <a:rPr lang="en-ID" sz="2700" dirty="0"/>
              <a:t> </a:t>
            </a:r>
            <a:r>
              <a:rPr lang="en-ID" sz="2700" dirty="0" err="1"/>
              <a:t>nama</a:t>
            </a:r>
            <a:r>
              <a:rPr lang="en-ID" sz="2700" dirty="0"/>
              <a:t> Oak. Nama Java </a:t>
            </a:r>
            <a:r>
              <a:rPr lang="en-ID" sz="2700" dirty="0" err="1"/>
              <a:t>terinspirasi</a:t>
            </a:r>
            <a:r>
              <a:rPr lang="en-ID" sz="2700" dirty="0"/>
              <a:t> </a:t>
            </a:r>
            <a:r>
              <a:rPr lang="en-ID" sz="2700" dirty="0" err="1"/>
              <a:t>ketika</a:t>
            </a:r>
            <a:r>
              <a:rPr lang="en-ID" sz="2700" dirty="0"/>
              <a:t> </a:t>
            </a:r>
            <a:r>
              <a:rPr lang="en-ID" sz="2700" dirty="0" err="1"/>
              <a:t>mereka</a:t>
            </a:r>
            <a:r>
              <a:rPr lang="en-ID" sz="2700" dirty="0"/>
              <a:t> </a:t>
            </a:r>
            <a:r>
              <a:rPr lang="en-ID" sz="2700" dirty="0" err="1"/>
              <a:t>sedang</a:t>
            </a:r>
            <a:r>
              <a:rPr lang="en-ID" sz="2700" dirty="0"/>
              <a:t> </a:t>
            </a:r>
            <a:r>
              <a:rPr lang="en-ID" sz="2700" dirty="0" err="1"/>
              <a:t>minum</a:t>
            </a:r>
            <a:r>
              <a:rPr lang="en-ID" sz="2700" dirty="0"/>
              <a:t> kopi di </a:t>
            </a:r>
            <a:r>
              <a:rPr lang="en-ID" sz="2700" dirty="0" err="1"/>
              <a:t>sebuah</a:t>
            </a:r>
            <a:r>
              <a:rPr lang="en-ID" sz="2700" dirty="0"/>
              <a:t> </a:t>
            </a:r>
            <a:r>
              <a:rPr lang="en-ID" sz="2700" dirty="0" err="1"/>
              <a:t>kedai</a:t>
            </a:r>
            <a:r>
              <a:rPr lang="en-ID" sz="2700" dirty="0"/>
              <a:t> kopi, </a:t>
            </a:r>
            <a:r>
              <a:rPr lang="en-ID" sz="2700" dirty="0" err="1"/>
              <a:t>kemudian</a:t>
            </a:r>
            <a:r>
              <a:rPr lang="en-ID" sz="2700" dirty="0"/>
              <a:t> salah </a:t>
            </a:r>
            <a:r>
              <a:rPr lang="en-ID" sz="2700" dirty="0" err="1"/>
              <a:t>satu</a:t>
            </a:r>
            <a:r>
              <a:rPr lang="en-ID" sz="2700" dirty="0"/>
              <a:t> </a:t>
            </a:r>
            <a:r>
              <a:rPr lang="en-ID" sz="2700" dirty="0" err="1"/>
              <a:t>diantara</a:t>
            </a:r>
            <a:r>
              <a:rPr lang="en-ID" sz="2700" dirty="0"/>
              <a:t> </a:t>
            </a:r>
            <a:r>
              <a:rPr lang="en-ID" sz="2700" dirty="0" err="1"/>
              <a:t>mereka</a:t>
            </a:r>
            <a:r>
              <a:rPr lang="en-ID" sz="2700" dirty="0"/>
              <a:t> </a:t>
            </a:r>
            <a:r>
              <a:rPr lang="en-ID" sz="2700" dirty="0" err="1"/>
              <a:t>menyebut</a:t>
            </a:r>
            <a:r>
              <a:rPr lang="en-ID" sz="2700" dirty="0"/>
              <a:t> </a:t>
            </a:r>
            <a:r>
              <a:rPr lang="en-ID" sz="2700" dirty="0" err="1"/>
              <a:t>nama</a:t>
            </a:r>
            <a:r>
              <a:rPr lang="en-ID" sz="2700" dirty="0"/>
              <a:t> Java yang </a:t>
            </a:r>
            <a:r>
              <a:rPr lang="en-ID" sz="2700" dirty="0" err="1"/>
              <a:t>mengandung</a:t>
            </a:r>
            <a:r>
              <a:rPr lang="en-ID" sz="2700" dirty="0"/>
              <a:t> </a:t>
            </a:r>
            <a:r>
              <a:rPr lang="en-ID" sz="2700" dirty="0" err="1"/>
              <a:t>arti</a:t>
            </a:r>
            <a:r>
              <a:rPr lang="en-ID" sz="2700" dirty="0"/>
              <a:t> </a:t>
            </a:r>
            <a:r>
              <a:rPr lang="en-ID" sz="2700" dirty="0" err="1"/>
              <a:t>asal</a:t>
            </a:r>
            <a:r>
              <a:rPr lang="en-ID" sz="2700" dirty="0"/>
              <a:t> </a:t>
            </a:r>
            <a:r>
              <a:rPr lang="en-ID" sz="2700" dirty="0" err="1"/>
              <a:t>dari</a:t>
            </a:r>
            <a:r>
              <a:rPr lang="en-ID" sz="2700" dirty="0"/>
              <a:t> </a:t>
            </a:r>
            <a:r>
              <a:rPr lang="en-ID" sz="2700" dirty="0" err="1"/>
              <a:t>biji</a:t>
            </a:r>
            <a:r>
              <a:rPr lang="en-ID" sz="2700" dirty="0"/>
              <a:t> kopi. </a:t>
            </a:r>
            <a:br>
              <a:rPr lang="en-ID" dirty="0"/>
            </a:br>
            <a:endParaRPr lang="en-ID" dirty="0"/>
          </a:p>
        </p:txBody>
      </p:sp>
      <p:sp>
        <p:nvSpPr>
          <p:cNvPr id="3" name="TextBox 2">
            <a:extLst>
              <a:ext uri="{FF2B5EF4-FFF2-40B4-BE49-F238E27FC236}">
                <a16:creationId xmlns:a16="http://schemas.microsoft.com/office/drawing/2014/main" id="{AFAE8022-F94D-4046-9342-523E0BBB3F9D}"/>
              </a:ext>
            </a:extLst>
          </p:cNvPr>
          <p:cNvSpPr txBox="1"/>
          <p:nvPr/>
        </p:nvSpPr>
        <p:spPr>
          <a:xfrm>
            <a:off x="838200" y="490330"/>
            <a:ext cx="10515600" cy="523220"/>
          </a:xfrm>
          <a:prstGeom prst="rect">
            <a:avLst/>
          </a:prstGeom>
          <a:noFill/>
        </p:spPr>
        <p:txBody>
          <a:bodyPr wrap="square" rtlCol="0">
            <a:spAutoFit/>
          </a:bodyPr>
          <a:lstStyle/>
          <a:p>
            <a:r>
              <a:rPr lang="en-US" sz="2800" dirty="0"/>
              <a:t>Sejarah </a:t>
            </a:r>
            <a:r>
              <a:rPr lang="en-US" sz="2800" dirty="0" err="1"/>
              <a:t>Pemrograman</a:t>
            </a:r>
            <a:r>
              <a:rPr lang="en-US" sz="2800" dirty="0"/>
              <a:t> Java</a:t>
            </a:r>
          </a:p>
        </p:txBody>
      </p:sp>
    </p:spTree>
    <p:extLst>
      <p:ext uri="{BB962C8B-B14F-4D97-AF65-F5344CB8AC3E}">
        <p14:creationId xmlns:p14="http://schemas.microsoft.com/office/powerpoint/2010/main" val="2583454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AE948-1D49-4F39-87B7-414285F77037}"/>
              </a:ext>
            </a:extLst>
          </p:cNvPr>
          <p:cNvSpPr>
            <a:spLocks noGrp="1"/>
          </p:cNvSpPr>
          <p:nvPr>
            <p:ph type="title"/>
          </p:nvPr>
        </p:nvSpPr>
        <p:spPr>
          <a:xfrm>
            <a:off x="838200" y="365126"/>
            <a:ext cx="10515600" cy="1211884"/>
          </a:xfrm>
        </p:spPr>
        <p:txBody>
          <a:bodyPr>
            <a:normAutofit fontScale="90000"/>
          </a:bodyPr>
          <a:lstStyle/>
          <a:p>
            <a:r>
              <a:rPr lang="en-ID" dirty="0" err="1"/>
              <a:t>Karakteristik</a:t>
            </a:r>
            <a:r>
              <a:rPr lang="en-ID" dirty="0"/>
              <a:t> </a:t>
            </a:r>
            <a:r>
              <a:rPr lang="en-ID" dirty="0" err="1"/>
              <a:t>Pemrograman</a:t>
            </a:r>
            <a:r>
              <a:rPr lang="en-ID" dirty="0"/>
              <a:t> Java</a:t>
            </a:r>
            <a:br>
              <a:rPr lang="en-ID" dirty="0"/>
            </a:br>
            <a:endParaRPr lang="en-ID" dirty="0"/>
          </a:p>
        </p:txBody>
      </p:sp>
      <p:sp>
        <p:nvSpPr>
          <p:cNvPr id="3" name="TextBox 2">
            <a:extLst>
              <a:ext uri="{FF2B5EF4-FFF2-40B4-BE49-F238E27FC236}">
                <a16:creationId xmlns:a16="http://schemas.microsoft.com/office/drawing/2014/main" id="{F8F7EE4D-EE32-0747-8B19-E97CD85E21AD}"/>
              </a:ext>
            </a:extLst>
          </p:cNvPr>
          <p:cNvSpPr txBox="1"/>
          <p:nvPr/>
        </p:nvSpPr>
        <p:spPr>
          <a:xfrm>
            <a:off x="967409" y="971068"/>
            <a:ext cx="9939130" cy="4154984"/>
          </a:xfrm>
          <a:prstGeom prst="rect">
            <a:avLst/>
          </a:prstGeom>
          <a:noFill/>
        </p:spPr>
        <p:txBody>
          <a:bodyPr wrap="square" rtlCol="0">
            <a:spAutoFit/>
          </a:bodyPr>
          <a:lstStyle/>
          <a:p>
            <a:pPr marL="285750" indent="-285750">
              <a:buFont typeface="Wingdings" pitchFamily="2" charset="2"/>
              <a:buChar char="v"/>
            </a:pPr>
            <a:r>
              <a:rPr lang="en-US" sz="2400" dirty="0" err="1"/>
              <a:t>Sederhana</a:t>
            </a:r>
            <a:endParaRPr lang="en-US" sz="2400" dirty="0"/>
          </a:p>
          <a:p>
            <a:pPr marL="285750" indent="-285750">
              <a:buFont typeface="Wingdings" pitchFamily="2" charset="2"/>
              <a:buChar char="v"/>
            </a:pPr>
            <a:r>
              <a:rPr lang="en-US" sz="2400" dirty="0" err="1"/>
              <a:t>Berorientasi</a:t>
            </a:r>
            <a:r>
              <a:rPr lang="en-US" sz="2400" dirty="0"/>
              <a:t> </a:t>
            </a:r>
            <a:r>
              <a:rPr lang="en-US" sz="2400" dirty="0" err="1"/>
              <a:t>Objek</a:t>
            </a:r>
            <a:r>
              <a:rPr lang="en-US" sz="2400" dirty="0"/>
              <a:t> (Object Oriented)</a:t>
            </a:r>
          </a:p>
          <a:p>
            <a:pPr marL="285750" indent="-285750">
              <a:buFont typeface="Wingdings" pitchFamily="2" charset="2"/>
              <a:buChar char="v"/>
            </a:pPr>
            <a:r>
              <a:rPr lang="en-US" sz="2400" dirty="0" err="1"/>
              <a:t>Dapat</a:t>
            </a:r>
            <a:r>
              <a:rPr lang="en-US" sz="2400" dirty="0"/>
              <a:t> </a:t>
            </a:r>
            <a:r>
              <a:rPr lang="en-US" sz="2400" dirty="0" err="1"/>
              <a:t>didistribusi</a:t>
            </a:r>
            <a:r>
              <a:rPr lang="en-US" sz="2400" dirty="0"/>
              <a:t> </a:t>
            </a:r>
            <a:r>
              <a:rPr lang="en-US" sz="2400" dirty="0" err="1"/>
              <a:t>dengan</a:t>
            </a:r>
            <a:r>
              <a:rPr lang="en-US" sz="2400" dirty="0"/>
              <a:t> </a:t>
            </a:r>
            <a:r>
              <a:rPr lang="en-US" sz="2400" dirty="0" err="1"/>
              <a:t>mudah</a:t>
            </a:r>
            <a:endParaRPr lang="en-US" sz="2400" dirty="0"/>
          </a:p>
          <a:p>
            <a:pPr marL="285750" indent="-285750">
              <a:buFont typeface="Wingdings" pitchFamily="2" charset="2"/>
              <a:buChar char="v"/>
            </a:pPr>
            <a:r>
              <a:rPr lang="en-US" sz="2400" dirty="0"/>
              <a:t>Interpreter</a:t>
            </a:r>
          </a:p>
          <a:p>
            <a:pPr marL="285750" indent="-285750">
              <a:buFont typeface="Wingdings" pitchFamily="2" charset="2"/>
              <a:buChar char="v"/>
            </a:pPr>
            <a:r>
              <a:rPr lang="en-US" sz="2400" dirty="0"/>
              <a:t>Robust</a:t>
            </a:r>
          </a:p>
          <a:p>
            <a:pPr marL="285750" indent="-285750">
              <a:buFont typeface="Wingdings" pitchFamily="2" charset="2"/>
              <a:buChar char="v"/>
            </a:pPr>
            <a:r>
              <a:rPr lang="en-US" sz="2400" dirty="0"/>
              <a:t>Aman</a:t>
            </a:r>
          </a:p>
          <a:p>
            <a:pPr marL="285750" indent="-285750">
              <a:buFont typeface="Wingdings" pitchFamily="2" charset="2"/>
              <a:buChar char="v"/>
            </a:pPr>
            <a:r>
              <a:rPr lang="en-US" sz="2400" dirty="0"/>
              <a:t>Architecture Neutral</a:t>
            </a:r>
          </a:p>
          <a:p>
            <a:pPr marL="285750" indent="-285750">
              <a:buFont typeface="Wingdings" pitchFamily="2" charset="2"/>
              <a:buChar char="v"/>
            </a:pPr>
            <a:r>
              <a:rPr lang="en-US" sz="2400" dirty="0" err="1"/>
              <a:t>Portabel</a:t>
            </a:r>
            <a:endParaRPr lang="en-US" sz="2400" dirty="0"/>
          </a:p>
          <a:p>
            <a:pPr marL="285750" indent="-285750">
              <a:buFont typeface="Wingdings" pitchFamily="2" charset="2"/>
              <a:buChar char="v"/>
            </a:pPr>
            <a:r>
              <a:rPr lang="en-US" sz="2400" dirty="0"/>
              <a:t>Performance</a:t>
            </a:r>
          </a:p>
          <a:p>
            <a:pPr marL="285750" indent="-285750">
              <a:buFont typeface="Wingdings" pitchFamily="2" charset="2"/>
              <a:buChar char="v"/>
            </a:pPr>
            <a:r>
              <a:rPr lang="en-US" sz="2400" dirty="0"/>
              <a:t>Multithreaded</a:t>
            </a:r>
          </a:p>
          <a:p>
            <a:pPr marL="285750" indent="-285750">
              <a:buFont typeface="Wingdings" pitchFamily="2" charset="2"/>
              <a:buChar char="v"/>
            </a:pPr>
            <a:r>
              <a:rPr lang="en-US" sz="2400" dirty="0" err="1"/>
              <a:t>Dinamis</a:t>
            </a:r>
            <a:endParaRPr lang="en-US" sz="2400" dirty="0"/>
          </a:p>
        </p:txBody>
      </p:sp>
    </p:spTree>
    <p:extLst>
      <p:ext uri="{BB962C8B-B14F-4D97-AF65-F5344CB8AC3E}">
        <p14:creationId xmlns:p14="http://schemas.microsoft.com/office/powerpoint/2010/main" val="3904662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DF8F-5A82-4E28-AFD1-F39D04FCE818}"/>
              </a:ext>
            </a:extLst>
          </p:cNvPr>
          <p:cNvSpPr>
            <a:spLocks noGrp="1"/>
          </p:cNvSpPr>
          <p:nvPr>
            <p:ph type="title"/>
          </p:nvPr>
        </p:nvSpPr>
        <p:spPr>
          <a:xfrm>
            <a:off x="135835" y="0"/>
            <a:ext cx="10515600" cy="668545"/>
          </a:xfrm>
        </p:spPr>
        <p:txBody>
          <a:bodyPr>
            <a:normAutofit fontScale="90000"/>
          </a:bodyPr>
          <a:lstStyle/>
          <a:p>
            <a:r>
              <a:rPr lang="en-ID" dirty="0" err="1"/>
              <a:t>Sistem</a:t>
            </a:r>
            <a:r>
              <a:rPr lang="en-ID" dirty="0"/>
              <a:t> </a:t>
            </a:r>
            <a:r>
              <a:rPr lang="en-ID" dirty="0" err="1"/>
              <a:t>Kerja</a:t>
            </a:r>
            <a:endParaRPr lang="en-ID" dirty="0"/>
          </a:p>
        </p:txBody>
      </p:sp>
      <p:pic>
        <p:nvPicPr>
          <p:cNvPr id="4" name="Picture 3">
            <a:extLst>
              <a:ext uri="{FF2B5EF4-FFF2-40B4-BE49-F238E27FC236}">
                <a16:creationId xmlns:a16="http://schemas.microsoft.com/office/drawing/2014/main" id="{6BAD6B85-FA92-9E4F-B03C-C8EE0ED36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 y="2593008"/>
            <a:ext cx="5325717" cy="1281100"/>
          </a:xfrm>
          <a:prstGeom prst="rect">
            <a:avLst/>
          </a:prstGeom>
        </p:spPr>
      </p:pic>
      <p:pic>
        <p:nvPicPr>
          <p:cNvPr id="6" name="Picture 5">
            <a:extLst>
              <a:ext uri="{FF2B5EF4-FFF2-40B4-BE49-F238E27FC236}">
                <a16:creationId xmlns:a16="http://schemas.microsoft.com/office/drawing/2014/main" id="{69E72042-4544-B541-999A-DB894F765C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6731" y="1282452"/>
            <a:ext cx="5710030" cy="3424056"/>
          </a:xfrm>
          <a:prstGeom prst="rect">
            <a:avLst/>
          </a:prstGeom>
        </p:spPr>
      </p:pic>
    </p:spTree>
    <p:extLst>
      <p:ext uri="{BB962C8B-B14F-4D97-AF65-F5344CB8AC3E}">
        <p14:creationId xmlns:p14="http://schemas.microsoft.com/office/powerpoint/2010/main" val="1615267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06C2-2270-4032-BA39-10E075F3B1E1}"/>
              </a:ext>
            </a:extLst>
          </p:cNvPr>
          <p:cNvSpPr>
            <a:spLocks noGrp="1"/>
          </p:cNvSpPr>
          <p:nvPr>
            <p:ph type="title"/>
          </p:nvPr>
        </p:nvSpPr>
        <p:spPr>
          <a:xfrm>
            <a:off x="5927035" y="139838"/>
            <a:ext cx="5112026" cy="575779"/>
          </a:xfrm>
        </p:spPr>
        <p:txBody>
          <a:bodyPr>
            <a:normAutofit fontScale="90000"/>
          </a:bodyPr>
          <a:lstStyle/>
          <a:p>
            <a:r>
              <a:rPr lang="en-ID" dirty="0" err="1"/>
              <a:t>Teknologi</a:t>
            </a:r>
            <a:r>
              <a:rPr lang="en-ID" dirty="0"/>
              <a:t> Java</a:t>
            </a:r>
          </a:p>
        </p:txBody>
      </p:sp>
      <p:sp>
        <p:nvSpPr>
          <p:cNvPr id="3" name="TextBox 2">
            <a:extLst>
              <a:ext uri="{FF2B5EF4-FFF2-40B4-BE49-F238E27FC236}">
                <a16:creationId xmlns:a16="http://schemas.microsoft.com/office/drawing/2014/main" id="{0F720663-915C-BB4C-A167-3B913CC81B99}"/>
              </a:ext>
            </a:extLst>
          </p:cNvPr>
          <p:cNvSpPr txBox="1"/>
          <p:nvPr/>
        </p:nvSpPr>
        <p:spPr>
          <a:xfrm>
            <a:off x="397565" y="1364973"/>
            <a:ext cx="4617780" cy="4093428"/>
          </a:xfrm>
          <a:prstGeom prst="rect">
            <a:avLst/>
          </a:prstGeom>
          <a:noFill/>
        </p:spPr>
        <p:txBody>
          <a:bodyPr wrap="square" rtlCol="0">
            <a:spAutoFit/>
          </a:bodyPr>
          <a:lstStyle/>
          <a:p>
            <a:pPr marL="285750" indent="-285750">
              <a:buFont typeface="Wingdings" pitchFamily="2" charset="2"/>
              <a:buChar char="v"/>
            </a:pPr>
            <a:r>
              <a:rPr lang="en-US" sz="2000" dirty="0"/>
              <a:t>J2SE (Java 2 Platform Standard Edition)</a:t>
            </a:r>
          </a:p>
          <a:p>
            <a:pPr marL="285750" indent="-285750">
              <a:buFont typeface="Arial" panose="020B0604020202020204" pitchFamily="34" charset="0"/>
              <a:buChar char="•"/>
            </a:pPr>
            <a:r>
              <a:rPr lang="en-US" sz="2000" dirty="0"/>
              <a:t>Java Beans</a:t>
            </a:r>
          </a:p>
          <a:p>
            <a:pPr marL="285750" indent="-285750">
              <a:buFont typeface="Arial" panose="020B0604020202020204" pitchFamily="34" charset="0"/>
              <a:buChar char="•"/>
            </a:pPr>
            <a:r>
              <a:rPr lang="en-US" sz="2000" dirty="0"/>
              <a:t>JFC (Java Foundation Classes</a:t>
            </a:r>
          </a:p>
          <a:p>
            <a:pPr marL="285750" indent="-285750">
              <a:buFont typeface="Arial" panose="020B0604020202020204" pitchFamily="34" charset="0"/>
              <a:buChar char="•"/>
            </a:pPr>
            <a:r>
              <a:rPr lang="en-US" sz="2000" dirty="0"/>
              <a:t>Java Help</a:t>
            </a:r>
          </a:p>
          <a:p>
            <a:pPr marL="285750" indent="-285750">
              <a:buFont typeface="Arial" panose="020B0604020202020204" pitchFamily="34" charset="0"/>
              <a:buChar char="•"/>
            </a:pPr>
            <a:r>
              <a:rPr lang="en-US" sz="2000" dirty="0"/>
              <a:t>Java Web Start</a:t>
            </a:r>
          </a:p>
          <a:p>
            <a:pPr marL="285750" indent="-285750">
              <a:buFont typeface="Arial" panose="020B0604020202020204" pitchFamily="34" charset="0"/>
              <a:buChar char="•"/>
            </a:pPr>
            <a:r>
              <a:rPr lang="en-US" sz="2000" dirty="0"/>
              <a:t>JDBC (Java Database Connectivity)</a:t>
            </a:r>
          </a:p>
          <a:p>
            <a:pPr marL="285750" indent="-285750">
              <a:buFont typeface="Arial" panose="020B0604020202020204" pitchFamily="34" charset="0"/>
              <a:buChar char="•"/>
            </a:pPr>
            <a:r>
              <a:rPr lang="en-US" sz="2000" dirty="0"/>
              <a:t>JMF (Java Media Framework)</a:t>
            </a:r>
          </a:p>
          <a:p>
            <a:pPr marL="285750" indent="-285750">
              <a:buFont typeface="Wingdings" pitchFamily="2" charset="2"/>
              <a:buChar char="v"/>
            </a:pPr>
            <a:r>
              <a:rPr lang="en-US" sz="2000" dirty="0"/>
              <a:t>J2EE (Java 2 Platform Enterprise Edition)</a:t>
            </a:r>
          </a:p>
          <a:p>
            <a:pPr marL="285750" indent="-285750">
              <a:buFont typeface="Arial" panose="020B0604020202020204" pitchFamily="34" charset="0"/>
              <a:buChar char="•"/>
            </a:pPr>
            <a:r>
              <a:rPr lang="en-US" sz="2000" dirty="0"/>
              <a:t>EJB (</a:t>
            </a:r>
            <a:r>
              <a:rPr lang="en-US" sz="2000" dirty="0" err="1"/>
              <a:t>Enerprise</a:t>
            </a:r>
            <a:r>
              <a:rPr lang="en-US" sz="2000" dirty="0"/>
              <a:t> Java Beans)</a:t>
            </a:r>
          </a:p>
          <a:p>
            <a:pPr marL="285750" indent="-285750">
              <a:buFont typeface="Arial" panose="020B0604020202020204" pitchFamily="34" charset="0"/>
              <a:buChar char="•"/>
            </a:pPr>
            <a:r>
              <a:rPr lang="en-US" sz="2000" dirty="0"/>
              <a:t>Java Mail</a:t>
            </a:r>
          </a:p>
          <a:p>
            <a:pPr marL="285750" indent="-285750">
              <a:buFont typeface="Arial" panose="020B0604020202020204" pitchFamily="34" charset="0"/>
              <a:buChar char="•"/>
            </a:pPr>
            <a:r>
              <a:rPr lang="en-US" sz="2000" dirty="0"/>
              <a:t>Java Message Service</a:t>
            </a:r>
          </a:p>
          <a:p>
            <a:pPr marL="285750" indent="-285750">
              <a:buFont typeface="Arial" panose="020B0604020202020204" pitchFamily="34" charset="0"/>
              <a:buChar char="•"/>
            </a:pPr>
            <a:r>
              <a:rPr lang="en-US" sz="2000" dirty="0"/>
              <a:t>Java Server Pages</a:t>
            </a:r>
          </a:p>
          <a:p>
            <a:pPr marL="285750" indent="-285750">
              <a:buFont typeface="Arial" panose="020B0604020202020204" pitchFamily="34" charset="0"/>
              <a:buChar char="•"/>
            </a:pPr>
            <a:r>
              <a:rPr lang="en-US" sz="2000" dirty="0"/>
              <a:t>Java Servlets</a:t>
            </a:r>
          </a:p>
        </p:txBody>
      </p:sp>
      <p:sp>
        <p:nvSpPr>
          <p:cNvPr id="4" name="TextBox 3">
            <a:extLst>
              <a:ext uri="{FF2B5EF4-FFF2-40B4-BE49-F238E27FC236}">
                <a16:creationId xmlns:a16="http://schemas.microsoft.com/office/drawing/2014/main" id="{75F423AA-F434-DD4E-A6CD-E0F8E4AEDAE1}"/>
              </a:ext>
            </a:extLst>
          </p:cNvPr>
          <p:cNvSpPr txBox="1"/>
          <p:nvPr/>
        </p:nvSpPr>
        <p:spPr>
          <a:xfrm>
            <a:off x="5579165" y="1364972"/>
            <a:ext cx="5920108" cy="1631216"/>
          </a:xfrm>
          <a:prstGeom prst="rect">
            <a:avLst/>
          </a:prstGeom>
          <a:noFill/>
        </p:spPr>
        <p:txBody>
          <a:bodyPr wrap="square" rtlCol="0">
            <a:spAutoFit/>
          </a:bodyPr>
          <a:lstStyle/>
          <a:p>
            <a:pPr marL="285750" indent="-285750">
              <a:buFont typeface="Wingdings" pitchFamily="2" charset="2"/>
              <a:buChar char="v"/>
            </a:pPr>
            <a:r>
              <a:rPr lang="en-US" sz="2000" dirty="0"/>
              <a:t>J2ME ( Java 2 Platform Micro Edition)</a:t>
            </a:r>
          </a:p>
          <a:p>
            <a:pPr marL="342900" indent="-342900">
              <a:buFont typeface="Arial" panose="020B0604020202020204" pitchFamily="34" charset="0"/>
              <a:buChar char="•"/>
            </a:pPr>
            <a:r>
              <a:rPr lang="en-US" sz="2000" dirty="0"/>
              <a:t>CDLC (Connected Limited Device Configuration)</a:t>
            </a:r>
          </a:p>
          <a:p>
            <a:pPr marL="342900" indent="-342900">
              <a:buFont typeface="Arial" panose="020B0604020202020204" pitchFamily="34" charset="0"/>
              <a:buChar char="•"/>
            </a:pPr>
            <a:r>
              <a:rPr lang="en-US" sz="2000" dirty="0"/>
              <a:t>MIDP (Mobile Information Device Profile)</a:t>
            </a:r>
          </a:p>
          <a:p>
            <a:pPr marL="342900" indent="-342900">
              <a:buFont typeface="Arial" panose="020B0604020202020204" pitchFamily="34" charset="0"/>
              <a:buChar char="•"/>
            </a:pPr>
            <a:r>
              <a:rPr lang="en-US" sz="2000" dirty="0"/>
              <a:t>CDC (Connected Device Configuration)</a:t>
            </a:r>
          </a:p>
          <a:p>
            <a:pPr marL="285750" indent="-285750">
              <a:buFont typeface="Wingdings" pitchFamily="2" charset="2"/>
              <a:buChar char="v"/>
            </a:pPr>
            <a:r>
              <a:rPr lang="en-US" sz="2000" dirty="0"/>
              <a:t>Java Web Services</a:t>
            </a:r>
          </a:p>
        </p:txBody>
      </p:sp>
    </p:spTree>
    <p:extLst>
      <p:ext uri="{BB962C8B-B14F-4D97-AF65-F5344CB8AC3E}">
        <p14:creationId xmlns:p14="http://schemas.microsoft.com/office/powerpoint/2010/main" val="3148078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7C42D-222A-419E-9C26-E53CA042157C}"/>
              </a:ext>
            </a:extLst>
          </p:cNvPr>
          <p:cNvSpPr>
            <a:spLocks noGrp="1"/>
          </p:cNvSpPr>
          <p:nvPr>
            <p:ph type="title"/>
          </p:nvPr>
        </p:nvSpPr>
        <p:spPr>
          <a:xfrm>
            <a:off x="0" y="0"/>
            <a:ext cx="10515600" cy="673966"/>
          </a:xfrm>
        </p:spPr>
        <p:txBody>
          <a:bodyPr>
            <a:normAutofit fontScale="90000"/>
          </a:bodyPr>
          <a:lstStyle/>
          <a:p>
            <a:r>
              <a:rPr lang="en-ID" dirty="0" err="1"/>
              <a:t>Arsitektur</a:t>
            </a:r>
            <a:endParaRPr lang="en-ID" dirty="0"/>
          </a:p>
        </p:txBody>
      </p:sp>
      <p:pic>
        <p:nvPicPr>
          <p:cNvPr id="5" name="Picture 4">
            <a:extLst>
              <a:ext uri="{FF2B5EF4-FFF2-40B4-BE49-F238E27FC236}">
                <a16:creationId xmlns:a16="http://schemas.microsoft.com/office/drawing/2014/main" id="{64536EA6-C093-4448-B992-6856173E9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4973" y="771237"/>
            <a:ext cx="6921500" cy="4402528"/>
          </a:xfrm>
          <a:prstGeom prst="rect">
            <a:avLst/>
          </a:prstGeom>
        </p:spPr>
      </p:pic>
      <p:sp>
        <p:nvSpPr>
          <p:cNvPr id="6" name="TextBox 5">
            <a:extLst>
              <a:ext uri="{FF2B5EF4-FFF2-40B4-BE49-F238E27FC236}">
                <a16:creationId xmlns:a16="http://schemas.microsoft.com/office/drawing/2014/main" id="{982E97D7-79CB-8345-A6DB-ADDE95EC4EDB}"/>
              </a:ext>
            </a:extLst>
          </p:cNvPr>
          <p:cNvSpPr txBox="1"/>
          <p:nvPr/>
        </p:nvSpPr>
        <p:spPr>
          <a:xfrm>
            <a:off x="207818" y="997527"/>
            <a:ext cx="3673442" cy="3693319"/>
          </a:xfrm>
          <a:prstGeom prst="rect">
            <a:avLst/>
          </a:prstGeom>
          <a:noFill/>
        </p:spPr>
        <p:txBody>
          <a:bodyPr wrap="none" rtlCol="0">
            <a:spAutoFit/>
          </a:bodyPr>
          <a:lstStyle/>
          <a:p>
            <a:pPr marL="285750" indent="-285750">
              <a:buFont typeface="Wingdings" pitchFamily="2" charset="2"/>
              <a:buChar char="v"/>
            </a:pPr>
            <a:r>
              <a:rPr lang="en-US" dirty="0"/>
              <a:t>Applet</a:t>
            </a:r>
          </a:p>
          <a:p>
            <a:pPr marL="285750" indent="-285750">
              <a:buFont typeface="Wingdings" pitchFamily="2" charset="2"/>
              <a:buChar char="v"/>
            </a:pPr>
            <a:r>
              <a:rPr lang="en-US" dirty="0"/>
              <a:t>Java Networking</a:t>
            </a:r>
          </a:p>
          <a:p>
            <a:pPr marL="285750" indent="-285750">
              <a:buFont typeface="Wingdings" pitchFamily="2" charset="2"/>
              <a:buChar char="v"/>
            </a:pPr>
            <a:r>
              <a:rPr lang="en-US" dirty="0"/>
              <a:t>Java Database Connectivity (JDBC)</a:t>
            </a:r>
          </a:p>
          <a:p>
            <a:pPr marL="285750" indent="-285750">
              <a:buFont typeface="Wingdings" pitchFamily="2" charset="2"/>
              <a:buChar char="v"/>
            </a:pPr>
            <a:r>
              <a:rPr lang="en-US" dirty="0"/>
              <a:t>Java Security</a:t>
            </a:r>
          </a:p>
          <a:p>
            <a:pPr marL="285750" indent="-285750">
              <a:buFont typeface="Wingdings" pitchFamily="2" charset="2"/>
              <a:buChar char="v"/>
            </a:pPr>
            <a:r>
              <a:rPr lang="en-US" dirty="0"/>
              <a:t>Java Swing</a:t>
            </a:r>
          </a:p>
          <a:p>
            <a:pPr marL="285750" indent="-285750">
              <a:buFont typeface="Wingdings" pitchFamily="2" charset="2"/>
              <a:buChar char="v"/>
            </a:pPr>
            <a:r>
              <a:rPr lang="en-US" dirty="0"/>
              <a:t>Java RMI</a:t>
            </a:r>
          </a:p>
          <a:p>
            <a:pPr marL="285750" indent="-285750">
              <a:buFont typeface="Wingdings" pitchFamily="2" charset="2"/>
              <a:buChar char="v"/>
            </a:pPr>
            <a:r>
              <a:rPr lang="en-US" dirty="0"/>
              <a:t>Java 2D/3D</a:t>
            </a:r>
          </a:p>
          <a:p>
            <a:pPr marL="285750" indent="-285750">
              <a:buFont typeface="Wingdings" pitchFamily="2" charset="2"/>
              <a:buChar char="v"/>
            </a:pPr>
            <a:r>
              <a:rPr lang="en-US" dirty="0"/>
              <a:t>Java Server Pages</a:t>
            </a:r>
          </a:p>
          <a:p>
            <a:pPr marL="285750" indent="-285750">
              <a:buFont typeface="Wingdings" pitchFamily="2" charset="2"/>
              <a:buChar char="v"/>
            </a:pPr>
            <a:r>
              <a:rPr lang="en-US" dirty="0"/>
              <a:t>JNI (Java Native Interface)</a:t>
            </a:r>
          </a:p>
          <a:p>
            <a:pPr marL="285750" indent="-285750">
              <a:buFont typeface="Wingdings" pitchFamily="2" charset="2"/>
              <a:buChar char="v"/>
            </a:pPr>
            <a:r>
              <a:rPr lang="en-US" dirty="0"/>
              <a:t>Java Sound</a:t>
            </a:r>
          </a:p>
          <a:p>
            <a:pPr marL="285750" indent="-285750">
              <a:buFont typeface="Wingdings" pitchFamily="2" charset="2"/>
              <a:buChar char="v"/>
            </a:pPr>
            <a:r>
              <a:rPr lang="en-US" dirty="0"/>
              <a:t>Java IDL + CORBA</a:t>
            </a:r>
          </a:p>
          <a:p>
            <a:pPr marL="285750" indent="-285750">
              <a:buFont typeface="Wingdings" pitchFamily="2" charset="2"/>
              <a:buChar char="v"/>
            </a:pPr>
            <a:r>
              <a:rPr lang="en-US" dirty="0"/>
              <a:t>Java Card</a:t>
            </a:r>
          </a:p>
          <a:p>
            <a:pPr marL="285750" indent="-285750">
              <a:buFont typeface="Wingdings" pitchFamily="2" charset="2"/>
              <a:buChar char="v"/>
            </a:pPr>
            <a:r>
              <a:rPr lang="en-US" dirty="0"/>
              <a:t>JTAPI (Java Telephony API)</a:t>
            </a:r>
          </a:p>
        </p:txBody>
      </p:sp>
    </p:spTree>
    <p:extLst>
      <p:ext uri="{BB962C8B-B14F-4D97-AF65-F5344CB8AC3E}">
        <p14:creationId xmlns:p14="http://schemas.microsoft.com/office/powerpoint/2010/main" val="3874628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6EDB2-BD3F-4E8E-B285-E7442D050732}"/>
              </a:ext>
            </a:extLst>
          </p:cNvPr>
          <p:cNvSpPr>
            <a:spLocks noGrp="1"/>
          </p:cNvSpPr>
          <p:nvPr>
            <p:ph type="title"/>
          </p:nvPr>
        </p:nvSpPr>
        <p:spPr>
          <a:xfrm>
            <a:off x="0" y="0"/>
            <a:ext cx="10515600" cy="1325563"/>
          </a:xfrm>
        </p:spPr>
        <p:txBody>
          <a:bodyPr/>
          <a:lstStyle/>
          <a:p>
            <a:r>
              <a:rPr lang="en-ID" dirty="0" err="1"/>
              <a:t>Persiapan</a:t>
            </a:r>
            <a:r>
              <a:rPr lang="en-ID" dirty="0"/>
              <a:t> </a:t>
            </a:r>
            <a:r>
              <a:rPr lang="en-ID" dirty="0" err="1"/>
              <a:t>Pemrograman</a:t>
            </a:r>
            <a:r>
              <a:rPr lang="en-ID" dirty="0"/>
              <a:t> Java</a:t>
            </a:r>
          </a:p>
        </p:txBody>
      </p:sp>
      <p:sp>
        <p:nvSpPr>
          <p:cNvPr id="3" name="TextBox 2">
            <a:extLst>
              <a:ext uri="{FF2B5EF4-FFF2-40B4-BE49-F238E27FC236}">
                <a16:creationId xmlns:a16="http://schemas.microsoft.com/office/drawing/2014/main" id="{C7E7088D-2DB2-CE4E-BAC1-166CBDD1F168}"/>
              </a:ext>
            </a:extLst>
          </p:cNvPr>
          <p:cNvSpPr txBox="1"/>
          <p:nvPr/>
        </p:nvSpPr>
        <p:spPr>
          <a:xfrm>
            <a:off x="263237" y="1477963"/>
            <a:ext cx="5708073" cy="3416320"/>
          </a:xfrm>
          <a:prstGeom prst="rect">
            <a:avLst/>
          </a:prstGeom>
          <a:noFill/>
        </p:spPr>
        <p:txBody>
          <a:bodyPr wrap="square" rtlCol="0">
            <a:spAutoFit/>
          </a:bodyPr>
          <a:lstStyle/>
          <a:p>
            <a:pPr marL="285750" indent="-285750">
              <a:buFont typeface="Wingdings" pitchFamily="2" charset="2"/>
              <a:buChar char="v"/>
            </a:pPr>
            <a:r>
              <a:rPr lang="en-US" sz="2400" dirty="0" err="1"/>
              <a:t>Kompilator</a:t>
            </a:r>
            <a:r>
              <a:rPr lang="en-US" sz="2400" dirty="0"/>
              <a:t> / Compiler</a:t>
            </a:r>
          </a:p>
          <a:p>
            <a:pPr marL="285750" indent="-285750">
              <a:buFont typeface="Wingdings" pitchFamily="2" charset="2"/>
              <a:buChar char="v"/>
            </a:pPr>
            <a:r>
              <a:rPr lang="en-US" sz="2400" dirty="0"/>
              <a:t>Interpreter Program Java (Java)</a:t>
            </a:r>
          </a:p>
          <a:p>
            <a:pPr marL="285750" indent="-285750">
              <a:buFont typeface="Wingdings" pitchFamily="2" charset="2"/>
              <a:buChar char="v"/>
            </a:pPr>
            <a:r>
              <a:rPr lang="en-US" sz="2400" dirty="0"/>
              <a:t>Applet Viewer</a:t>
            </a:r>
          </a:p>
          <a:p>
            <a:pPr marL="285750" indent="-285750">
              <a:buFont typeface="Wingdings" pitchFamily="2" charset="2"/>
              <a:buChar char="v"/>
            </a:pPr>
            <a:r>
              <a:rPr lang="en-US" sz="2400" dirty="0"/>
              <a:t>Debugger (JDB)</a:t>
            </a:r>
          </a:p>
          <a:p>
            <a:pPr marL="285750" indent="-285750">
              <a:buFont typeface="Wingdings" pitchFamily="2" charset="2"/>
              <a:buChar char="v"/>
            </a:pPr>
            <a:r>
              <a:rPr lang="en-US" sz="2400" dirty="0"/>
              <a:t>Class File Disassembler (</a:t>
            </a:r>
            <a:r>
              <a:rPr lang="en-US" sz="2400" dirty="0" err="1"/>
              <a:t>Javap</a:t>
            </a:r>
            <a:r>
              <a:rPr lang="en-US" sz="2400" dirty="0"/>
              <a:t>)</a:t>
            </a:r>
          </a:p>
          <a:p>
            <a:pPr marL="285750" indent="-285750">
              <a:buFont typeface="Wingdings" pitchFamily="2" charset="2"/>
              <a:buChar char="v"/>
            </a:pPr>
            <a:r>
              <a:rPr lang="en-US" sz="2400" dirty="0"/>
              <a:t>Header and Stub File Generator (</a:t>
            </a:r>
            <a:r>
              <a:rPr lang="en-US" sz="2400" dirty="0" err="1"/>
              <a:t>Javah</a:t>
            </a:r>
            <a:r>
              <a:rPr lang="en-US" sz="2400" dirty="0"/>
              <a:t>)</a:t>
            </a:r>
          </a:p>
          <a:p>
            <a:pPr marL="285750" indent="-285750">
              <a:buFont typeface="Wingdings" pitchFamily="2" charset="2"/>
              <a:buChar char="v"/>
            </a:pPr>
            <a:r>
              <a:rPr lang="en-US" sz="2400" dirty="0"/>
              <a:t>Documentation Generator (Javadoc)</a:t>
            </a:r>
          </a:p>
          <a:p>
            <a:pPr marL="285750" indent="-285750">
              <a:buFont typeface="Wingdings" pitchFamily="2" charset="2"/>
              <a:buChar char="v"/>
            </a:pPr>
            <a:r>
              <a:rPr lang="en-US" sz="2400" dirty="0"/>
              <a:t>Applet Demo</a:t>
            </a:r>
          </a:p>
          <a:p>
            <a:pPr marL="285750" indent="-285750">
              <a:buFont typeface="Wingdings" pitchFamily="2" charset="2"/>
              <a:buChar char="v"/>
            </a:pPr>
            <a:r>
              <a:rPr lang="en-US" sz="2400" dirty="0" err="1"/>
              <a:t>Kode</a:t>
            </a:r>
            <a:r>
              <a:rPr lang="en-US" sz="2400" dirty="0"/>
              <a:t> </a:t>
            </a:r>
            <a:r>
              <a:rPr lang="en-US" sz="2400" dirty="0" err="1"/>
              <a:t>Sumber</a:t>
            </a:r>
            <a:r>
              <a:rPr lang="en-US" sz="2400" dirty="0"/>
              <a:t> Java API</a:t>
            </a:r>
          </a:p>
        </p:txBody>
      </p:sp>
    </p:spTree>
    <p:extLst>
      <p:ext uri="{BB962C8B-B14F-4D97-AF65-F5344CB8AC3E}">
        <p14:creationId xmlns:p14="http://schemas.microsoft.com/office/powerpoint/2010/main" val="4074112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5AD7-8A07-4659-B9DC-C6D502424D6E}"/>
              </a:ext>
            </a:extLst>
          </p:cNvPr>
          <p:cNvSpPr>
            <a:spLocks noGrp="1"/>
          </p:cNvSpPr>
          <p:nvPr>
            <p:ph type="title"/>
          </p:nvPr>
        </p:nvSpPr>
        <p:spPr/>
        <p:txBody>
          <a:bodyPr/>
          <a:lstStyle/>
          <a:p>
            <a:endParaRPr lang="en-ID"/>
          </a:p>
        </p:txBody>
      </p:sp>
    </p:spTree>
    <p:extLst>
      <p:ext uri="{BB962C8B-B14F-4D97-AF65-F5344CB8AC3E}">
        <p14:creationId xmlns:p14="http://schemas.microsoft.com/office/powerpoint/2010/main" val="569102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8398991"/>
      </p:ext>
    </p:extLst>
  </p:cSld>
  <p:clrMapOvr>
    <a:masterClrMapping/>
  </p:clrMapOvr>
</p:sld>
</file>

<file path=ppt/theme/theme1.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385</Words>
  <Application>Microsoft Office PowerPoint</Application>
  <PresentationFormat>Widescreen</PresentationFormat>
  <Paragraphs>59</Paragraphs>
  <Slides>9</Slides>
  <Notes>0</Notes>
  <HiddenSlides>0</HiddenSlides>
  <MMClips>0</MMClips>
  <ScaleCrop>false</ScaleCrop>
  <HeadingPairs>
    <vt:vector size="6" baseType="variant">
      <vt:variant>
        <vt:lpstr>Fonts Used</vt:lpstr>
      </vt:variant>
      <vt:variant>
        <vt:i4>4</vt:i4>
      </vt:variant>
      <vt:variant>
        <vt:lpstr>Theme</vt:lpstr>
      </vt:variant>
      <vt:variant>
        <vt:i4>8</vt:i4>
      </vt:variant>
      <vt:variant>
        <vt:lpstr>Slide Titles</vt:lpstr>
      </vt:variant>
      <vt:variant>
        <vt:i4>9</vt:i4>
      </vt:variant>
    </vt:vector>
  </HeadingPairs>
  <TitlesOfParts>
    <vt:vector size="21" baseType="lpstr">
      <vt:lpstr>Arial</vt:lpstr>
      <vt:lpstr>Calibri</vt:lpstr>
      <vt:lpstr>Calibri Light</vt:lpstr>
      <vt:lpstr>Wingdings</vt:lpstr>
      <vt:lpstr>6_Office Theme</vt:lpstr>
      <vt:lpstr>7_Office Theme</vt:lpstr>
      <vt:lpstr>4_Office Theme</vt:lpstr>
      <vt:lpstr>3_Office Theme</vt:lpstr>
      <vt:lpstr>2_Office Theme</vt:lpstr>
      <vt:lpstr>Office Theme</vt:lpstr>
      <vt:lpstr>5_Office Theme</vt:lpstr>
      <vt:lpstr>1_Office Theme</vt:lpstr>
      <vt:lpstr>Pengenalan Java  Oleh : Galuh Saputri, S.Kom. M.Kom </vt:lpstr>
      <vt:lpstr>Pada tahun 1991 bahasa java lahir dari the green project yang dikerjakan oleh sekelompok insinyur dari Sun Microsystem, Inc., yang dipimpin oleh Patrick Naughton dan James Gosling. Proyek ini ditujukan untuk merancang bahasa untuk perangkat konsumer seperti cable TV box. Para perancang ini ingin menciptakan sebuah bahasa pemrograman yang dapat dijalankan pada semua peralatan yang tidak tergantung oleh platform yang digunakan oleh peralatan tersebut.  Karena orang-orang yang bekerja dalam proyek Green memiliki dasar bahasa C++ maka kebanyakan sintaksnya diambil dari C++ serta mengadopsi orientasi obyek bukan prosedural. Pada mulanya, James Gosling memberi nama bahasa pemrogramannya dengan “Oak”, setelah terinspirasi dari pohon yang berada di seberang kantornya. Kemudian diganti dengan “Java”, karena sudah ada bahasa pemrograman dengan nama Oak. Nama Java terinspirasi ketika mereka sedang minum kopi di sebuah kedai kopi, kemudian salah satu diantara mereka menyebut nama Java yang mengandung arti asal dari biji kopi.  </vt:lpstr>
      <vt:lpstr>Karakteristik Pemrograman Java </vt:lpstr>
      <vt:lpstr>Sistem Kerja</vt:lpstr>
      <vt:lpstr>Teknologi Java</vt:lpstr>
      <vt:lpstr>Arsitektur</vt:lpstr>
      <vt:lpstr>Persiapan Pemrograman Java</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lisda masitoh</dc:creator>
  <cp:lastModifiedBy>Intan Kumalasari</cp:lastModifiedBy>
  <cp:revision>13</cp:revision>
  <dcterms:created xsi:type="dcterms:W3CDTF">2021-08-16T10:58:02Z</dcterms:created>
  <dcterms:modified xsi:type="dcterms:W3CDTF">2024-03-17T15:38:12Z</dcterms:modified>
</cp:coreProperties>
</file>