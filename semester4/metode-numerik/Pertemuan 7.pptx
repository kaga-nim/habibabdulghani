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notesMasterIdLst>
    <p:notesMasterId r:id="rId22"/>
  </p:notesMasterIdLst>
  <p:sldIdLst>
    <p:sldId id="258" r:id="rId8"/>
    <p:sldId id="257" r:id="rId9"/>
    <p:sldId id="286" r:id="rId10"/>
    <p:sldId id="289" r:id="rId11"/>
    <p:sldId id="274" r:id="rId12"/>
    <p:sldId id="298" r:id="rId13"/>
    <p:sldId id="299" r:id="rId14"/>
    <p:sldId id="300" r:id="rId15"/>
    <p:sldId id="301" r:id="rId16"/>
    <p:sldId id="293" r:id="rId17"/>
    <p:sldId id="292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9C41-3D6D-40DA-A817-544FF813B30C}" type="datetimeFigureOut">
              <a:rPr lang="en-ID" smtClean="0"/>
              <a:t>03/09/2021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010C8-ABB4-48BA-AA1C-2D0B09E87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096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22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94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944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D9D48E-EC15-454D-AFD8-DFA10B4F141B}"/>
              </a:ext>
            </a:extLst>
          </p:cNvPr>
          <p:cNvSpPr txBox="1">
            <a:spLocks/>
          </p:cNvSpPr>
          <p:nvPr/>
        </p:nvSpPr>
        <p:spPr>
          <a:xfrm>
            <a:off x="1709530" y="1350435"/>
            <a:ext cx="8713993" cy="2616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METODE NUMERIK</a:t>
            </a:r>
            <a:endParaRPr lang="en-GB" sz="4800" b="1" dirty="0">
              <a:ln w="1016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5FC42A2-1F0A-4C30-A0B1-C8DA61F0F7CD}"/>
              </a:ext>
            </a:extLst>
          </p:cNvPr>
          <p:cNvSpPr txBox="1">
            <a:spLocks/>
          </p:cNvSpPr>
          <p:nvPr/>
        </p:nvSpPr>
        <p:spPr>
          <a:xfrm>
            <a:off x="4192894" y="3238501"/>
            <a:ext cx="3321090" cy="72813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PERTEMUAN 7</a:t>
            </a:r>
            <a:endParaRPr lang="en-GB" sz="3600" b="1" dirty="0">
              <a:ln w="10160">
                <a:solidFill>
                  <a:schemeClr val="tx1"/>
                </a:solidFill>
                <a:prstDash val="solid"/>
              </a:ln>
              <a:solidFill>
                <a:schemeClr val="accent4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1938435"/>
            <a:ext cx="10018713" cy="2184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4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INTEGRASI NUMERIK DENGAN METODE SIMPSON</a:t>
            </a:r>
          </a:p>
        </p:txBody>
      </p:sp>
    </p:spTree>
    <p:extLst>
      <p:ext uri="{BB962C8B-B14F-4D97-AF65-F5344CB8AC3E}">
        <p14:creationId xmlns:p14="http://schemas.microsoft.com/office/powerpoint/2010/main" val="167857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911CC-BFB2-4ECE-92D3-5E6530B52EC3}"/>
              </a:ext>
            </a:extLst>
          </p:cNvPr>
          <p:cNvSpPr txBox="1">
            <a:spLocks/>
          </p:cNvSpPr>
          <p:nvPr/>
        </p:nvSpPr>
        <p:spPr>
          <a:xfrm>
            <a:off x="4965430" y="629268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TUJUAN PEMBELAJARAN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6636F-1EA6-4076-8B2A-236A0A53817B}"/>
              </a:ext>
            </a:extLst>
          </p:cNvPr>
          <p:cNvSpPr txBox="1"/>
          <p:nvPr/>
        </p:nvSpPr>
        <p:spPr>
          <a:xfrm>
            <a:off x="4965432" y="2438400"/>
            <a:ext cx="6586489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0" i="0" u="none" strike="noStrike" baseline="0" dirty="0"/>
              <a:t>Mampu </a:t>
            </a:r>
            <a:r>
              <a:rPr lang="en-US" sz="2000" b="0" i="0" u="none" strike="noStrike" baseline="0" dirty="0" err="1"/>
              <a:t>menentukan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nilai</a:t>
            </a:r>
            <a:r>
              <a:rPr lang="en-US" sz="2000" b="0" i="0" u="none" strike="noStrike" baseline="0" dirty="0"/>
              <a:t> integral </a:t>
            </a:r>
            <a:r>
              <a:rPr lang="en-US" sz="2000" b="0" i="0" u="none" strike="noStrike" baseline="0" dirty="0" err="1"/>
              <a:t>tentu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dari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suatu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fungsi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dengan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metode</a:t>
            </a:r>
            <a:r>
              <a:rPr lang="en-US" sz="2000" b="0" i="0" u="none" strike="noStrike" baseline="0" dirty="0"/>
              <a:t> Simpson.</a:t>
            </a:r>
            <a:endParaRPr lang="en-US" sz="2000" dirty="0"/>
          </a:p>
        </p:txBody>
      </p:sp>
      <p:pic>
        <p:nvPicPr>
          <p:cNvPr id="13" name="Picture 12" descr="Bohlam putih dan satu bohlam warna kuning yang menonjol">
            <a:extLst>
              <a:ext uri="{FF2B5EF4-FFF2-40B4-BE49-F238E27FC236}">
                <a16:creationId xmlns:a16="http://schemas.microsoft.com/office/drawing/2014/main" id="{AEA41C7D-DF0B-4838-91EF-2842904722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05" r="35375" b="-1"/>
          <a:stretch/>
        </p:blipFill>
        <p:spPr>
          <a:xfrm>
            <a:off x="20" y="10"/>
            <a:ext cx="4635571" cy="6361461"/>
          </a:xfrm>
          <a:prstGeom prst="rect">
            <a:avLst/>
          </a:prstGeom>
          <a:effectLst/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BAB9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90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BED71A-5A4D-454A-A523-6522770EE585}"/>
              </a:ext>
            </a:extLst>
          </p:cNvPr>
          <p:cNvSpPr txBox="1">
            <a:spLocks/>
          </p:cNvSpPr>
          <p:nvPr/>
        </p:nvSpPr>
        <p:spPr>
          <a:xfrm>
            <a:off x="1405241" y="228372"/>
            <a:ext cx="9894133" cy="10312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BENTUK UMUM METODE SIMPSON 1/3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607803A-4E99-444E-94F7-8785CDDF5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80154" y="1884045"/>
            <a:ext cx="3275668" cy="2853308"/>
          </a:xfrm>
          <a:custGeom>
            <a:avLst/>
            <a:gdLst>
              <a:gd name="connsiteX0" fmla="*/ 3275668 w 3275668"/>
              <a:gd name="connsiteY0" fmla="*/ 2853308 h 2853308"/>
              <a:gd name="connsiteX1" fmla="*/ 655 w 3275668"/>
              <a:gd name="connsiteY1" fmla="*/ 2853308 h 2853308"/>
              <a:gd name="connsiteX2" fmla="*/ 0 w 3275668"/>
              <a:gd name="connsiteY2" fmla="*/ 2467565 h 2853308"/>
              <a:gd name="connsiteX3" fmla="*/ 2869894 w 3275668"/>
              <a:gd name="connsiteY3" fmla="*/ 2468888 h 2853308"/>
              <a:gd name="connsiteX4" fmla="*/ 2869894 w 3275668"/>
              <a:gd name="connsiteY4" fmla="*/ 0 h 2853308"/>
              <a:gd name="connsiteX5" fmla="*/ 3275668 w 3275668"/>
              <a:gd name="connsiteY5" fmla="*/ 0 h 285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5668" h="2853308">
                <a:moveTo>
                  <a:pt x="3275668" y="2853308"/>
                </a:moveTo>
                <a:lnTo>
                  <a:pt x="655" y="2853308"/>
                </a:lnTo>
                <a:cubicBezTo>
                  <a:pt x="-655" y="2720171"/>
                  <a:pt x="1310" y="2600702"/>
                  <a:pt x="0" y="2467565"/>
                </a:cubicBezTo>
                <a:lnTo>
                  <a:pt x="2869894" y="2468888"/>
                </a:lnTo>
                <a:lnTo>
                  <a:pt x="2869894" y="0"/>
                </a:lnTo>
                <a:lnTo>
                  <a:pt x="3275668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989BE6A-C309-418E-8ADD-1616A9805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55822" y="3222529"/>
            <a:ext cx="3242952" cy="2828156"/>
          </a:xfrm>
          <a:custGeom>
            <a:avLst/>
            <a:gdLst>
              <a:gd name="connsiteX0" fmla="*/ 2837178 w 3242952"/>
              <a:gd name="connsiteY0" fmla="*/ 0 h 2828156"/>
              <a:gd name="connsiteX1" fmla="*/ 3242952 w 3242952"/>
              <a:gd name="connsiteY1" fmla="*/ 0 h 2828156"/>
              <a:gd name="connsiteX2" fmla="*/ 3242952 w 3242952"/>
              <a:gd name="connsiteY2" fmla="*/ 2828156 h 2828156"/>
              <a:gd name="connsiteX3" fmla="*/ 0 w 3242952"/>
              <a:gd name="connsiteY3" fmla="*/ 2828156 h 2828156"/>
              <a:gd name="connsiteX4" fmla="*/ 0 w 3242952"/>
              <a:gd name="connsiteY4" fmla="*/ 2442859 h 2828156"/>
              <a:gd name="connsiteX5" fmla="*/ 2837178 w 3242952"/>
              <a:gd name="connsiteY5" fmla="*/ 2443295 h 282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42952" h="2828156">
                <a:moveTo>
                  <a:pt x="2837178" y="0"/>
                </a:moveTo>
                <a:lnTo>
                  <a:pt x="3242952" y="0"/>
                </a:lnTo>
                <a:lnTo>
                  <a:pt x="3242952" y="2828156"/>
                </a:lnTo>
                <a:lnTo>
                  <a:pt x="0" y="2828156"/>
                </a:lnTo>
                <a:lnTo>
                  <a:pt x="0" y="2442859"/>
                </a:lnTo>
                <a:lnTo>
                  <a:pt x="2837178" y="2443295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800C87-36E7-4923-A9AE-A53751701FA1}"/>
              </a:ext>
            </a:extLst>
          </p:cNvPr>
          <p:cNvSpPr txBox="1"/>
          <p:nvPr/>
        </p:nvSpPr>
        <p:spPr>
          <a:xfrm>
            <a:off x="4181385" y="1559066"/>
            <a:ext cx="4720020" cy="1663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 err="1"/>
              <a:t>Merupakan</a:t>
            </a:r>
            <a:r>
              <a:rPr lang="en-US" sz="2400" dirty="0"/>
              <a:t> integral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f(x)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x yang </a:t>
            </a:r>
            <a:r>
              <a:rPr lang="en-US" sz="2400" dirty="0" err="1"/>
              <a:t>dihitung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batas</a:t>
            </a:r>
            <a:r>
              <a:rPr lang="en-US" sz="2400" dirty="0"/>
              <a:t> x = a </a:t>
            </a:r>
            <a:r>
              <a:rPr lang="en-US" sz="2400" dirty="0" err="1"/>
              <a:t>sampai</a:t>
            </a:r>
            <a:r>
              <a:rPr lang="en-US" sz="2400" dirty="0"/>
              <a:t> x = b.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2936E0-E459-4EF5-B230-7CCE4196837D}"/>
              </a:ext>
            </a:extLst>
          </p:cNvPr>
          <p:cNvSpPr txBox="1"/>
          <p:nvPr/>
        </p:nvSpPr>
        <p:spPr>
          <a:xfrm>
            <a:off x="7547994" y="3429000"/>
            <a:ext cx="365760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Keterengan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r>
              <a:rPr lang="en-US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ganjil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merupakan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= 1, 3, 5, 7, …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sampai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n-1 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sv-SE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Sedangkan i genap merupakan </a:t>
            </a:r>
          </a:p>
          <a:p>
            <a:r>
              <a:rPr lang="sv-SE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i= 2, 4, 6, 8, … sampai n-2 </a:t>
            </a:r>
            <a:endParaRPr lang="sv-SE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Contoh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jika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n = 10, 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maka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US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ganjil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= 1, 3, 5, 7, dan 9, 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sedangkan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US" sz="16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genap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= 2, 4, 6, dan 8. </a:t>
            </a:r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236FB1A-8A29-4FE0-A4FF-993C60908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85" y="3268217"/>
            <a:ext cx="5662302" cy="122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76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423067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INTEGRAL METODE SIMPSON 1/3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A18EC60-0791-4D36-8D7F-8066D1E83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061" y="1149246"/>
            <a:ext cx="5540220" cy="28806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DE073DF-B02D-444B-8B9F-57D2669F1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176" y="2297549"/>
            <a:ext cx="2987299" cy="7468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FA88D43-4EB3-471D-8567-1275876BC317}"/>
                  </a:ext>
                </a:extLst>
              </p:cNvPr>
              <p:cNvSpPr txBox="1"/>
              <p:nvPr/>
            </p:nvSpPr>
            <p:spPr>
              <a:xfrm>
                <a:off x="2574616" y="4523312"/>
                <a:ext cx="5748982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num>
                        <m:den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+4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𝒈𝒂𝒏𝒋𝒊𝒍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2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𝒈𝒆𝒏𝒂𝒑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FA88D43-4EB3-471D-8567-1275876BC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616" y="4523312"/>
                <a:ext cx="5748982" cy="9840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533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862F5F-B088-4527-B20C-DB07548C4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35" y="1417145"/>
            <a:ext cx="9563929" cy="402370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35FEAD-8DA0-4AAC-BF5E-F9215B52B6AD}"/>
              </a:ext>
            </a:extLst>
          </p:cNvPr>
          <p:cNvSpPr txBox="1">
            <a:spLocks/>
          </p:cNvSpPr>
          <p:nvPr/>
        </p:nvSpPr>
        <p:spPr>
          <a:xfrm>
            <a:off x="1086643" y="423067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LANGKAH-LANGKAH METODE SIMPSON 1/3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495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BED71A-5A4D-454A-A523-6522770EE585}"/>
              </a:ext>
            </a:extLst>
          </p:cNvPr>
          <p:cNvSpPr txBox="1">
            <a:spLocks/>
          </p:cNvSpPr>
          <p:nvPr/>
        </p:nvSpPr>
        <p:spPr>
          <a:xfrm>
            <a:off x="1405241" y="228372"/>
            <a:ext cx="9894133" cy="10312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BENTUK UMUM METODE SIMPSON 3/8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800C87-36E7-4923-A9AE-A53751701FA1}"/>
              </a:ext>
            </a:extLst>
          </p:cNvPr>
          <p:cNvSpPr txBox="1"/>
          <p:nvPr/>
        </p:nvSpPr>
        <p:spPr>
          <a:xfrm>
            <a:off x="3043050" y="1288434"/>
            <a:ext cx="4720020" cy="1663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 err="1"/>
              <a:t>Merupakan</a:t>
            </a:r>
            <a:r>
              <a:rPr lang="en-US" sz="2400" dirty="0"/>
              <a:t> integral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f(x)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x yang </a:t>
            </a:r>
            <a:r>
              <a:rPr lang="en-US" sz="2400" dirty="0" err="1"/>
              <a:t>dihitung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batas</a:t>
            </a:r>
            <a:r>
              <a:rPr lang="en-US" sz="2400" dirty="0"/>
              <a:t> x = a </a:t>
            </a:r>
            <a:r>
              <a:rPr lang="en-US" sz="2400" dirty="0" err="1"/>
              <a:t>sampai</a:t>
            </a:r>
            <a:r>
              <a:rPr lang="en-US" sz="2400" dirty="0"/>
              <a:t> x = b.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02936E0-E459-4EF5-B230-7CCE4196837D}"/>
                  </a:ext>
                </a:extLst>
              </p:cNvPr>
              <p:cNvSpPr txBox="1"/>
              <p:nvPr/>
            </p:nvSpPr>
            <p:spPr>
              <a:xfrm>
                <a:off x="6352307" y="3222529"/>
                <a:ext cx="5109594" cy="25237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 i="0" u="none" strike="noStrike" baseline="0" dirty="0" err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Keterengan</a:t>
                </a:r>
                <a:r>
                  <a:rPr lang="en-US" sz="1800" b="1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: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tabLst>
                    <a:tab pos="7715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sz="1800" b="1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≠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𝟔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𝟗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,….</m:t>
                              </m:r>
                            </m:e>
                          </m:eqArr>
                        </m:sub>
                        <m:sup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𝒂𝒓𝒕𝒊𝒏𝒚𝒂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𝟕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𝟖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… </m:t>
                          </m:r>
                        </m:e>
                      </m:nary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tabLst>
                    <a:tab pos="7715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𝟔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𝟗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,…</m:t>
                          </m:r>
                        </m:sub>
                        <m:sup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ID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  <m:e>
                          <m:eqArr>
                            <m:eqArrPr>
                              <m:ctrlP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𝒂𝒓𝒕𝒊𝒏𝒚𝒂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𝟔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𝟗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 ….</m:t>
                              </m:r>
                            </m:e>
                            <m:e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𝒅𝒊𝒎𝒂𝒏𝒂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𝒎𝒆𝒓𝒖𝒑𝒂𝒌𝒂𝒏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𝒌𝒆𝒍𝒊𝒑𝒂𝒕𝒂𝒏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  <m:r>
                                <a:rPr lang="en-ID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nary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02936E0-E459-4EF5-B230-7CCE41968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307" y="3222529"/>
                <a:ext cx="5109594" cy="2523768"/>
              </a:xfrm>
              <a:prstGeom prst="rect">
                <a:avLst/>
              </a:prstGeom>
              <a:blipFill>
                <a:blip r:embed="rId2"/>
                <a:stretch>
                  <a:fillRect l="-955" t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F6DF6C-8FCA-4085-9803-F6A0F0000B9E}"/>
                  </a:ext>
                </a:extLst>
              </p:cNvPr>
              <p:cNvSpPr txBox="1"/>
              <p:nvPr/>
            </p:nvSpPr>
            <p:spPr>
              <a:xfrm>
                <a:off x="797934" y="3561336"/>
                <a:ext cx="5554373" cy="1126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num>
                        <m:den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d>
                        <m:dPr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+3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en-US" b="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≠3, 6, 9,….</m:t>
                                  </m:r>
                                </m:e>
                              </m:eqAr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2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=3, 6, 9,…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F6DF6C-8FCA-4085-9803-F6A0F0000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34" y="3561336"/>
                <a:ext cx="5554373" cy="11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2579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423067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INTEGRAL METODE SIMPSON 3/8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A18EC60-0791-4D36-8D7F-8066D1E83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061" y="1149246"/>
            <a:ext cx="5540220" cy="28806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DE073DF-B02D-444B-8B9F-57D2669F1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176" y="2297549"/>
            <a:ext cx="2987299" cy="7468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FD6A2E-3804-4E56-9339-F0553C96A3DF}"/>
                  </a:ext>
                </a:extLst>
              </p:cNvPr>
              <p:cNvSpPr txBox="1"/>
              <p:nvPr/>
            </p:nvSpPr>
            <p:spPr>
              <a:xfrm>
                <a:off x="1378037" y="4581779"/>
                <a:ext cx="5554373" cy="1126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num>
                        <m:den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d>
                        <m:dPr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+3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en-US" b="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≠3, 6, 9,….</m:t>
                                  </m:r>
                                </m:e>
                              </m:eqAr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2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=3, 6, 9,…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FD6A2E-3804-4E56-9339-F0553C96A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037" y="4581779"/>
                <a:ext cx="5554373" cy="1126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096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35FEAD-8DA0-4AAC-BF5E-F9215B52B6AD}"/>
              </a:ext>
            </a:extLst>
          </p:cNvPr>
          <p:cNvSpPr txBox="1">
            <a:spLocks/>
          </p:cNvSpPr>
          <p:nvPr/>
        </p:nvSpPr>
        <p:spPr>
          <a:xfrm>
            <a:off x="1086643" y="423067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LANGKAH-LANGKAH METODE SIMPSON 3/8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C375E4-70D9-4A81-949F-F02FFA585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8" y="1312067"/>
            <a:ext cx="10132014" cy="447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86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E2D2FBC-BD45-4BB4-872A-5F83A26F5F46}"/>
              </a:ext>
            </a:extLst>
          </p:cNvPr>
          <p:cNvSpPr txBox="1">
            <a:spLocks/>
          </p:cNvSpPr>
          <p:nvPr/>
        </p:nvSpPr>
        <p:spPr>
          <a:xfrm>
            <a:off x="1086642" y="221236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CONTOH SOAL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64E5B13-E847-4BAE-8D89-07F4A554E641}"/>
              </a:ext>
            </a:extLst>
          </p:cNvPr>
          <p:cNvSpPr txBox="1">
            <a:spLocks/>
          </p:cNvSpPr>
          <p:nvPr/>
        </p:nvSpPr>
        <p:spPr>
          <a:xfrm>
            <a:off x="934906" y="2439375"/>
            <a:ext cx="4650481" cy="5553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PENYELESAIAN 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623674-F4D1-4A66-A949-EE7F5B1B9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444" y="1226811"/>
            <a:ext cx="3086367" cy="9297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E914CA-A677-4AA4-AC0F-DC17DFF75A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2541"/>
          <a:stretch/>
        </p:blipFill>
        <p:spPr>
          <a:xfrm>
            <a:off x="3493575" y="2994696"/>
            <a:ext cx="6226080" cy="3924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8420F3-0925-4386-A999-FFAD9E8ED2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313"/>
          <a:stretch/>
        </p:blipFill>
        <p:spPr>
          <a:xfrm>
            <a:off x="3493575" y="3746771"/>
            <a:ext cx="6226080" cy="161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88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FD26EC-8AE4-4110-B8BA-30154D1F40D9}"/>
              </a:ext>
            </a:extLst>
          </p:cNvPr>
          <p:cNvSpPr txBox="1">
            <a:spLocks/>
          </p:cNvSpPr>
          <p:nvPr/>
        </p:nvSpPr>
        <p:spPr>
          <a:xfrm>
            <a:off x="1086642" y="221236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SOAL LATIHAN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45C8C1-FB29-4357-88EC-E0E4BFE4A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805" y="1644564"/>
            <a:ext cx="9033776" cy="372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22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190</Words>
  <Application>Microsoft Office PowerPoint</Application>
  <PresentationFormat>Widescreen</PresentationFormat>
  <Paragraphs>33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Times New Roman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wiwit kurniawan</cp:lastModifiedBy>
  <cp:revision>22</cp:revision>
  <dcterms:created xsi:type="dcterms:W3CDTF">2021-08-16T10:58:02Z</dcterms:created>
  <dcterms:modified xsi:type="dcterms:W3CDTF">2021-09-03T06:16:25Z</dcterms:modified>
</cp:coreProperties>
</file>