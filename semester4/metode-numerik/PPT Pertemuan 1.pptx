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slideLayouts/slideLayout7.xml" ContentType="application/vnd.openxmlformats-officedocument.presentationml.slideLayout+xml"/>
  <Override PartName="/ppt/theme/theme6.xml" ContentType="application/vnd.openxmlformats-officedocument.theme+xml"/>
  <Override PartName="/ppt/slideLayouts/slideLayout8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  <p:sldMasterId id="2147483701" r:id="rId2"/>
    <p:sldMasterId id="2147483692" r:id="rId3"/>
    <p:sldMasterId id="2147483691" r:id="rId4"/>
    <p:sldMasterId id="2147483690" r:id="rId5"/>
    <p:sldMasterId id="2147483693" r:id="rId6"/>
    <p:sldMasterId id="2147483689" r:id="rId7"/>
  </p:sldMasterIdLst>
  <p:notesMasterIdLst>
    <p:notesMasterId r:id="rId25"/>
  </p:notesMasterIdLst>
  <p:sldIdLst>
    <p:sldId id="258" r:id="rId8"/>
    <p:sldId id="257" r:id="rId9"/>
    <p:sldId id="286" r:id="rId10"/>
    <p:sldId id="260" r:id="rId11"/>
    <p:sldId id="279" r:id="rId12"/>
    <p:sldId id="281" r:id="rId13"/>
    <p:sldId id="282" r:id="rId14"/>
    <p:sldId id="283" r:id="rId15"/>
    <p:sldId id="284" r:id="rId16"/>
    <p:sldId id="285" r:id="rId17"/>
    <p:sldId id="274" r:id="rId18"/>
    <p:sldId id="275" r:id="rId19"/>
    <p:sldId id="287" r:id="rId20"/>
    <p:sldId id="288" r:id="rId21"/>
    <p:sldId id="269" r:id="rId22"/>
    <p:sldId id="270" r:id="rId23"/>
    <p:sldId id="271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theme" Target="theme/theme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viewProps" Target="viewProps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50A04C0-87FD-4EE9-83B4-29E94ED259B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CF3B2B4-49CA-41DC-A198-E25242333D96}">
      <dgm:prSet/>
      <dgm:spPr/>
      <dgm:t>
        <a:bodyPr/>
        <a:lstStyle/>
        <a:p>
          <a:r>
            <a:rPr lang="en-US" dirty="0"/>
            <a:t>1. </a:t>
          </a:r>
          <a:r>
            <a:rPr lang="en-US" dirty="0" err="1"/>
            <a:t>Untuk</a:t>
          </a:r>
          <a:r>
            <a:rPr lang="en-US" dirty="0"/>
            <a:t> </a:t>
          </a:r>
          <a:r>
            <a:rPr lang="en-US" dirty="0" err="1"/>
            <a:t>analisis</a:t>
          </a:r>
          <a:r>
            <a:rPr lang="en-US" dirty="0"/>
            <a:t>, </a:t>
          </a:r>
          <a:r>
            <a:rPr lang="en-US" dirty="0" err="1"/>
            <a:t>seperti</a:t>
          </a:r>
          <a:r>
            <a:rPr lang="en-US" dirty="0"/>
            <a:t> </a:t>
          </a:r>
          <a:r>
            <a:rPr lang="en-US" dirty="0" err="1"/>
            <a:t>cara</a:t>
          </a:r>
          <a:r>
            <a:rPr lang="en-US" dirty="0"/>
            <a:t> </a:t>
          </a:r>
          <a:r>
            <a:rPr lang="en-US" dirty="0" err="1"/>
            <a:t>kerja</a:t>
          </a:r>
          <a:r>
            <a:rPr lang="en-US" dirty="0"/>
            <a:t> </a:t>
          </a:r>
          <a:r>
            <a:rPr lang="en-US" dirty="0" err="1"/>
            <a:t>perangkat</a:t>
          </a:r>
          <a:r>
            <a:rPr lang="en-US" dirty="0"/>
            <a:t> </a:t>
          </a:r>
          <a:r>
            <a:rPr lang="en-US" dirty="0" err="1"/>
            <a:t>elektronik</a:t>
          </a:r>
          <a:r>
            <a:rPr lang="en-US" dirty="0"/>
            <a:t> </a:t>
          </a:r>
          <a:r>
            <a:rPr lang="en-US" dirty="0" err="1"/>
            <a:t>dengan</a:t>
          </a:r>
          <a:r>
            <a:rPr lang="en-US" dirty="0"/>
            <a:t> diagram </a:t>
          </a:r>
          <a:r>
            <a:rPr lang="en-US" dirty="0" err="1"/>
            <a:t>rangkaian</a:t>
          </a:r>
          <a:r>
            <a:rPr lang="en-US" dirty="0"/>
            <a:t> dan </a:t>
          </a:r>
          <a:r>
            <a:rPr lang="en-US" dirty="0" err="1"/>
            <a:t>perilaku</a:t>
          </a:r>
          <a:r>
            <a:rPr lang="en-US" dirty="0"/>
            <a:t> gas </a:t>
          </a:r>
          <a:r>
            <a:rPr lang="en-US" dirty="0" err="1"/>
            <a:t>ditelusuri</a:t>
          </a:r>
          <a:r>
            <a:rPr lang="en-US" dirty="0"/>
            <a:t> </a:t>
          </a:r>
          <a:r>
            <a:rPr lang="en-US" dirty="0" err="1"/>
            <a:t>dengan</a:t>
          </a:r>
          <a:r>
            <a:rPr lang="en-US" dirty="0"/>
            <a:t> </a:t>
          </a:r>
          <a:r>
            <a:rPr lang="en-US" dirty="0" err="1"/>
            <a:t>hukumk</a:t>
          </a:r>
          <a:r>
            <a:rPr lang="en-US" dirty="0"/>
            <a:t> Boyle-Gay </a:t>
          </a:r>
          <a:r>
            <a:rPr lang="en-US" dirty="0" err="1"/>
            <a:t>Lusac</a:t>
          </a:r>
          <a:r>
            <a:rPr lang="en-US" dirty="0"/>
            <a:t> </a:t>
          </a:r>
          <a:r>
            <a:rPr lang="en-US" dirty="0" err="1"/>
            <a:t>yaituPV</a:t>
          </a:r>
          <a:r>
            <a:rPr lang="en-US" dirty="0"/>
            <a:t> = </a:t>
          </a:r>
          <a:r>
            <a:rPr lang="en-US" dirty="0" err="1"/>
            <a:t>nrt</a:t>
          </a:r>
          <a:r>
            <a:rPr lang="en-US" dirty="0"/>
            <a:t>.</a:t>
          </a:r>
        </a:p>
      </dgm:t>
    </dgm:pt>
    <dgm:pt modelId="{8982057B-875B-49A9-A526-1ECE17F5BECA}" type="parTrans" cxnId="{AACC7D3A-3C42-468C-9525-494E25BDD7EA}">
      <dgm:prSet/>
      <dgm:spPr/>
      <dgm:t>
        <a:bodyPr/>
        <a:lstStyle/>
        <a:p>
          <a:endParaRPr lang="en-US"/>
        </a:p>
      </dgm:t>
    </dgm:pt>
    <dgm:pt modelId="{54BB870F-5672-4FA1-8E5B-BF33A558AC2E}" type="sibTrans" cxnId="{AACC7D3A-3C42-468C-9525-494E25BDD7EA}">
      <dgm:prSet/>
      <dgm:spPr/>
      <dgm:t>
        <a:bodyPr/>
        <a:lstStyle/>
        <a:p>
          <a:endParaRPr lang="en-US"/>
        </a:p>
      </dgm:t>
    </dgm:pt>
    <dgm:pt modelId="{904CE6F3-2FA1-4969-8751-EEF95EDCD6E8}">
      <dgm:prSet/>
      <dgm:spPr/>
      <dgm:t>
        <a:bodyPr/>
        <a:lstStyle/>
        <a:p>
          <a:r>
            <a:rPr lang="en-US"/>
            <a:t>2. Untuk berkomunikasi mengenai masalah kependudukan dengan jelas disampaikan melalui grafik dan karakteristik lensa dinyatakan dengan persamaan ; = + ′</a:t>
          </a:r>
        </a:p>
      </dgm:t>
    </dgm:pt>
    <dgm:pt modelId="{F5605886-DEA3-4D8F-978B-3DF36ABB73C1}" type="parTrans" cxnId="{A41252A7-3B14-4CD8-9E4B-230DC0F78383}">
      <dgm:prSet/>
      <dgm:spPr/>
      <dgm:t>
        <a:bodyPr/>
        <a:lstStyle/>
        <a:p>
          <a:endParaRPr lang="en-US"/>
        </a:p>
      </dgm:t>
    </dgm:pt>
    <dgm:pt modelId="{A2995993-7529-489E-98E4-9B37B5B6BB30}" type="sibTrans" cxnId="{A41252A7-3B14-4CD8-9E4B-230DC0F78383}">
      <dgm:prSet/>
      <dgm:spPr/>
      <dgm:t>
        <a:bodyPr/>
        <a:lstStyle/>
        <a:p>
          <a:endParaRPr lang="en-US"/>
        </a:p>
      </dgm:t>
    </dgm:pt>
    <dgm:pt modelId="{A62FAC09-284D-4643-894B-4D063EA14E87}">
      <dgm:prSet/>
      <dgm:spPr/>
      <dgm:t>
        <a:bodyPr/>
        <a:lstStyle/>
        <a:p>
          <a:r>
            <a:rPr lang="en-US"/>
            <a:t>3. Untuk melakukan prediksi pada ramalan cuaca dengan model yang disusun dari data temperatur, kecepatan angin, tekanan dan kelembaban udara, dan jumlah penduduk 5 tahun yang akandatang diramalkan dari jumlah penduduk sekarang.</a:t>
          </a:r>
        </a:p>
      </dgm:t>
    </dgm:pt>
    <dgm:pt modelId="{23197C31-7B3D-43BC-881B-696C11AA9914}" type="parTrans" cxnId="{DC5673EB-1C4F-47CC-97AC-31E0723514AE}">
      <dgm:prSet/>
      <dgm:spPr/>
      <dgm:t>
        <a:bodyPr/>
        <a:lstStyle/>
        <a:p>
          <a:endParaRPr lang="en-US"/>
        </a:p>
      </dgm:t>
    </dgm:pt>
    <dgm:pt modelId="{1724F233-117A-4F39-BF2B-94DED1E75DA8}" type="sibTrans" cxnId="{DC5673EB-1C4F-47CC-97AC-31E0723514AE}">
      <dgm:prSet/>
      <dgm:spPr/>
      <dgm:t>
        <a:bodyPr/>
        <a:lstStyle/>
        <a:p>
          <a:endParaRPr lang="en-US"/>
        </a:p>
      </dgm:t>
    </dgm:pt>
    <dgm:pt modelId="{C2D5D27C-B32E-4D91-91D0-A80E3AD9804A}">
      <dgm:prSet/>
      <dgm:spPr/>
      <dgm:t>
        <a:bodyPr/>
        <a:lstStyle/>
        <a:p>
          <a:r>
            <a:rPr lang="en-US"/>
            <a:t>4. Untuk pengendalian seperti pada pembangunan Gedung yang disesuaikan dengan modelnya dan lintasan pesawat ruang angkasa.</a:t>
          </a:r>
        </a:p>
      </dgm:t>
    </dgm:pt>
    <dgm:pt modelId="{C437B4DE-B0AB-423D-9339-B467AACF4C01}" type="parTrans" cxnId="{3A072F96-FD37-46F3-884C-86EA8C7D504C}">
      <dgm:prSet/>
      <dgm:spPr/>
      <dgm:t>
        <a:bodyPr/>
        <a:lstStyle/>
        <a:p>
          <a:endParaRPr lang="en-US"/>
        </a:p>
      </dgm:t>
    </dgm:pt>
    <dgm:pt modelId="{77F2DC06-4FD7-4A3B-8C3C-02DD579045C0}" type="sibTrans" cxnId="{3A072F96-FD37-46F3-884C-86EA8C7D504C}">
      <dgm:prSet/>
      <dgm:spPr/>
      <dgm:t>
        <a:bodyPr/>
        <a:lstStyle/>
        <a:p>
          <a:endParaRPr lang="en-US"/>
        </a:p>
      </dgm:t>
    </dgm:pt>
    <dgm:pt modelId="{DE3F998D-9475-4684-955E-947DA75A1F28}">
      <dgm:prSet/>
      <dgm:spPr/>
      <dgm:t>
        <a:bodyPr/>
        <a:lstStyle/>
        <a:p>
          <a:r>
            <a:rPr lang="en-US"/>
            <a:t>5. Untuk berlatih atau simulasi seperti seorang calon astronot yang berlatih dengan model pesawat ruang angkasa.</a:t>
          </a:r>
        </a:p>
      </dgm:t>
    </dgm:pt>
    <dgm:pt modelId="{62EE4E61-5C11-4075-80CB-006B46180135}" type="parTrans" cxnId="{51F5AFB6-0FD7-4A3D-A178-3BF056A7598E}">
      <dgm:prSet/>
      <dgm:spPr/>
      <dgm:t>
        <a:bodyPr/>
        <a:lstStyle/>
        <a:p>
          <a:endParaRPr lang="en-US"/>
        </a:p>
      </dgm:t>
    </dgm:pt>
    <dgm:pt modelId="{BCEA2C8B-5133-4153-9561-B0DCCFAE3AC1}" type="sibTrans" cxnId="{51F5AFB6-0FD7-4A3D-A178-3BF056A7598E}">
      <dgm:prSet/>
      <dgm:spPr/>
      <dgm:t>
        <a:bodyPr/>
        <a:lstStyle/>
        <a:p>
          <a:endParaRPr lang="en-US"/>
        </a:p>
      </dgm:t>
    </dgm:pt>
    <dgm:pt modelId="{AE5FB269-0C7A-41A2-A08B-27E31CA1B095}" type="pres">
      <dgm:prSet presAssocID="{A50A04C0-87FD-4EE9-83B4-29E94ED259B0}" presName="linear" presStyleCnt="0">
        <dgm:presLayoutVars>
          <dgm:animLvl val="lvl"/>
          <dgm:resizeHandles val="exact"/>
        </dgm:presLayoutVars>
      </dgm:prSet>
      <dgm:spPr/>
    </dgm:pt>
    <dgm:pt modelId="{99634514-E90E-476C-97D8-546DB6D85510}" type="pres">
      <dgm:prSet presAssocID="{FCF3B2B4-49CA-41DC-A198-E25242333D96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484F74BE-CCAA-4BE6-B4B0-B29C65DF340F}" type="pres">
      <dgm:prSet presAssocID="{54BB870F-5672-4FA1-8E5B-BF33A558AC2E}" presName="spacer" presStyleCnt="0"/>
      <dgm:spPr/>
    </dgm:pt>
    <dgm:pt modelId="{B47D2F22-3A82-42B6-8520-CA9E0CE88081}" type="pres">
      <dgm:prSet presAssocID="{904CE6F3-2FA1-4969-8751-EEF95EDCD6E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F4F3F4C4-7402-4E68-836C-BF9A4716E38F}" type="pres">
      <dgm:prSet presAssocID="{A2995993-7529-489E-98E4-9B37B5B6BB30}" presName="spacer" presStyleCnt="0"/>
      <dgm:spPr/>
    </dgm:pt>
    <dgm:pt modelId="{902A9CD6-A626-417B-AFA8-A8A7E00052EB}" type="pres">
      <dgm:prSet presAssocID="{A62FAC09-284D-4643-894B-4D063EA14E87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B7DA6AC2-5DA7-4448-AD1F-B8D238411E69}" type="pres">
      <dgm:prSet presAssocID="{1724F233-117A-4F39-BF2B-94DED1E75DA8}" presName="spacer" presStyleCnt="0"/>
      <dgm:spPr/>
    </dgm:pt>
    <dgm:pt modelId="{6E4ABD58-32CA-401C-8C7F-161BD2E8D8B1}" type="pres">
      <dgm:prSet presAssocID="{C2D5D27C-B32E-4D91-91D0-A80E3AD9804A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78EB1F01-9071-4260-B465-711012545694}" type="pres">
      <dgm:prSet presAssocID="{77F2DC06-4FD7-4A3B-8C3C-02DD579045C0}" presName="spacer" presStyleCnt="0"/>
      <dgm:spPr/>
    </dgm:pt>
    <dgm:pt modelId="{D148BF4C-E453-4787-BDEE-BA096931065B}" type="pres">
      <dgm:prSet presAssocID="{DE3F998D-9475-4684-955E-947DA75A1F28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E232AB17-59E9-4BC9-86A0-E0E3FBDAF7DC}" type="presOf" srcId="{DE3F998D-9475-4684-955E-947DA75A1F28}" destId="{D148BF4C-E453-4787-BDEE-BA096931065B}" srcOrd="0" destOrd="0" presId="urn:microsoft.com/office/officeart/2005/8/layout/vList2"/>
    <dgm:cxn modelId="{EE805D31-D8CC-4782-9970-8CCA6232C144}" type="presOf" srcId="{904CE6F3-2FA1-4969-8751-EEF95EDCD6E8}" destId="{B47D2F22-3A82-42B6-8520-CA9E0CE88081}" srcOrd="0" destOrd="0" presId="urn:microsoft.com/office/officeart/2005/8/layout/vList2"/>
    <dgm:cxn modelId="{AACC7D3A-3C42-468C-9525-494E25BDD7EA}" srcId="{A50A04C0-87FD-4EE9-83B4-29E94ED259B0}" destId="{FCF3B2B4-49CA-41DC-A198-E25242333D96}" srcOrd="0" destOrd="0" parTransId="{8982057B-875B-49A9-A526-1ECE17F5BECA}" sibTransId="{54BB870F-5672-4FA1-8E5B-BF33A558AC2E}"/>
    <dgm:cxn modelId="{0913FB6F-3876-475C-96EB-5E868ACEB130}" type="presOf" srcId="{A50A04C0-87FD-4EE9-83B4-29E94ED259B0}" destId="{AE5FB269-0C7A-41A2-A08B-27E31CA1B095}" srcOrd="0" destOrd="0" presId="urn:microsoft.com/office/officeart/2005/8/layout/vList2"/>
    <dgm:cxn modelId="{A6593870-85AF-48CA-ACE3-4023C964F74E}" type="presOf" srcId="{C2D5D27C-B32E-4D91-91D0-A80E3AD9804A}" destId="{6E4ABD58-32CA-401C-8C7F-161BD2E8D8B1}" srcOrd="0" destOrd="0" presId="urn:microsoft.com/office/officeart/2005/8/layout/vList2"/>
    <dgm:cxn modelId="{3A072F96-FD37-46F3-884C-86EA8C7D504C}" srcId="{A50A04C0-87FD-4EE9-83B4-29E94ED259B0}" destId="{C2D5D27C-B32E-4D91-91D0-A80E3AD9804A}" srcOrd="3" destOrd="0" parTransId="{C437B4DE-B0AB-423D-9339-B467AACF4C01}" sibTransId="{77F2DC06-4FD7-4A3B-8C3C-02DD579045C0}"/>
    <dgm:cxn modelId="{A41252A7-3B14-4CD8-9E4B-230DC0F78383}" srcId="{A50A04C0-87FD-4EE9-83B4-29E94ED259B0}" destId="{904CE6F3-2FA1-4969-8751-EEF95EDCD6E8}" srcOrd="1" destOrd="0" parTransId="{F5605886-DEA3-4D8F-978B-3DF36ABB73C1}" sibTransId="{A2995993-7529-489E-98E4-9B37B5B6BB30}"/>
    <dgm:cxn modelId="{7A3205AD-260F-453A-8BA5-8F9F55B65077}" type="presOf" srcId="{FCF3B2B4-49CA-41DC-A198-E25242333D96}" destId="{99634514-E90E-476C-97D8-546DB6D85510}" srcOrd="0" destOrd="0" presId="urn:microsoft.com/office/officeart/2005/8/layout/vList2"/>
    <dgm:cxn modelId="{51F5AFB6-0FD7-4A3D-A178-3BF056A7598E}" srcId="{A50A04C0-87FD-4EE9-83B4-29E94ED259B0}" destId="{DE3F998D-9475-4684-955E-947DA75A1F28}" srcOrd="4" destOrd="0" parTransId="{62EE4E61-5C11-4075-80CB-006B46180135}" sibTransId="{BCEA2C8B-5133-4153-9561-B0DCCFAE3AC1}"/>
    <dgm:cxn modelId="{9C3A4AD8-80D9-4DE2-A7E1-6FBC03D35FC5}" type="presOf" srcId="{A62FAC09-284D-4643-894B-4D063EA14E87}" destId="{902A9CD6-A626-417B-AFA8-A8A7E00052EB}" srcOrd="0" destOrd="0" presId="urn:microsoft.com/office/officeart/2005/8/layout/vList2"/>
    <dgm:cxn modelId="{DC5673EB-1C4F-47CC-97AC-31E0723514AE}" srcId="{A50A04C0-87FD-4EE9-83B4-29E94ED259B0}" destId="{A62FAC09-284D-4643-894B-4D063EA14E87}" srcOrd="2" destOrd="0" parTransId="{23197C31-7B3D-43BC-881B-696C11AA9914}" sibTransId="{1724F233-117A-4F39-BF2B-94DED1E75DA8}"/>
    <dgm:cxn modelId="{56C975CB-4DE2-4410-B8AE-69C273F9F136}" type="presParOf" srcId="{AE5FB269-0C7A-41A2-A08B-27E31CA1B095}" destId="{99634514-E90E-476C-97D8-546DB6D85510}" srcOrd="0" destOrd="0" presId="urn:microsoft.com/office/officeart/2005/8/layout/vList2"/>
    <dgm:cxn modelId="{0A0B01DC-C020-4E9B-AC36-DA0DA8A8A49F}" type="presParOf" srcId="{AE5FB269-0C7A-41A2-A08B-27E31CA1B095}" destId="{484F74BE-CCAA-4BE6-B4B0-B29C65DF340F}" srcOrd="1" destOrd="0" presId="urn:microsoft.com/office/officeart/2005/8/layout/vList2"/>
    <dgm:cxn modelId="{0755726E-2BF3-4552-91B8-DC3E33172FCB}" type="presParOf" srcId="{AE5FB269-0C7A-41A2-A08B-27E31CA1B095}" destId="{B47D2F22-3A82-42B6-8520-CA9E0CE88081}" srcOrd="2" destOrd="0" presId="urn:microsoft.com/office/officeart/2005/8/layout/vList2"/>
    <dgm:cxn modelId="{7EA15870-1561-4EE6-AB8D-3A1E5453E3EA}" type="presParOf" srcId="{AE5FB269-0C7A-41A2-A08B-27E31CA1B095}" destId="{F4F3F4C4-7402-4E68-836C-BF9A4716E38F}" srcOrd="3" destOrd="0" presId="urn:microsoft.com/office/officeart/2005/8/layout/vList2"/>
    <dgm:cxn modelId="{9719155A-439A-480A-87EF-4FF1A761AB4B}" type="presParOf" srcId="{AE5FB269-0C7A-41A2-A08B-27E31CA1B095}" destId="{902A9CD6-A626-417B-AFA8-A8A7E00052EB}" srcOrd="4" destOrd="0" presId="urn:microsoft.com/office/officeart/2005/8/layout/vList2"/>
    <dgm:cxn modelId="{AD18467B-D8D8-4F83-BBAB-B811CEAC678B}" type="presParOf" srcId="{AE5FB269-0C7A-41A2-A08B-27E31CA1B095}" destId="{B7DA6AC2-5DA7-4448-AD1F-B8D238411E69}" srcOrd="5" destOrd="0" presId="urn:microsoft.com/office/officeart/2005/8/layout/vList2"/>
    <dgm:cxn modelId="{9308AE72-7BB4-49DC-A2FD-26DB1C278D2A}" type="presParOf" srcId="{AE5FB269-0C7A-41A2-A08B-27E31CA1B095}" destId="{6E4ABD58-32CA-401C-8C7F-161BD2E8D8B1}" srcOrd="6" destOrd="0" presId="urn:microsoft.com/office/officeart/2005/8/layout/vList2"/>
    <dgm:cxn modelId="{0B941072-3D0B-4FE3-8541-DD0613A18A7D}" type="presParOf" srcId="{AE5FB269-0C7A-41A2-A08B-27E31CA1B095}" destId="{78EB1F01-9071-4260-B465-711012545694}" srcOrd="7" destOrd="0" presId="urn:microsoft.com/office/officeart/2005/8/layout/vList2"/>
    <dgm:cxn modelId="{94A7E0FE-6FAD-4A10-84CB-793B36E67665}" type="presParOf" srcId="{AE5FB269-0C7A-41A2-A08B-27E31CA1B095}" destId="{D148BF4C-E453-4787-BDEE-BA096931065B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CD971E5-4E1D-4966-9955-BB6A3E6A6AD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FB86838-8C45-420F-BDA6-4831C0DE6774}">
      <dgm:prSet/>
      <dgm:spPr/>
      <dgm:t>
        <a:bodyPr/>
        <a:lstStyle/>
        <a:p>
          <a:r>
            <a:rPr lang="en-US" b="0" i="0" baseline="0"/>
            <a:t>Model ikonik yaitu suatu model yang memberikan visualisasi/peragaan dari masalah yang ditinjau.</a:t>
          </a:r>
          <a:endParaRPr lang="en-US"/>
        </a:p>
      </dgm:t>
    </dgm:pt>
    <dgm:pt modelId="{2D44A19D-4797-4F8A-BB08-59F596F15DD3}" type="parTrans" cxnId="{CEB4CFD9-D2CD-49B6-B961-83E08E00BF3D}">
      <dgm:prSet/>
      <dgm:spPr/>
      <dgm:t>
        <a:bodyPr/>
        <a:lstStyle/>
        <a:p>
          <a:endParaRPr lang="en-US"/>
        </a:p>
      </dgm:t>
    </dgm:pt>
    <dgm:pt modelId="{B3D396CE-718C-497B-AE53-B5F2DA64F3CD}" type="sibTrans" cxnId="{CEB4CFD9-D2CD-49B6-B961-83E08E00BF3D}">
      <dgm:prSet/>
      <dgm:spPr/>
      <dgm:t>
        <a:bodyPr/>
        <a:lstStyle/>
        <a:p>
          <a:endParaRPr lang="en-US"/>
        </a:p>
      </dgm:t>
    </dgm:pt>
    <dgm:pt modelId="{DC346598-2DE7-4B1B-A63A-78EDB5484F71}">
      <dgm:prSet/>
      <dgm:spPr/>
      <dgm:t>
        <a:bodyPr/>
        <a:lstStyle/>
        <a:p>
          <a:r>
            <a:rPr lang="en-US" b="0" i="0" baseline="0"/>
            <a:t>Contoh ; maket, foto, grafik, dan diagram.</a:t>
          </a:r>
          <a:endParaRPr lang="en-US"/>
        </a:p>
      </dgm:t>
    </dgm:pt>
    <dgm:pt modelId="{C7FDC56B-6EBF-420D-858F-3B7607D9DAD0}" type="parTrans" cxnId="{7DEB00A1-8B9F-4CE0-86EE-86160D8D51B2}">
      <dgm:prSet/>
      <dgm:spPr/>
      <dgm:t>
        <a:bodyPr/>
        <a:lstStyle/>
        <a:p>
          <a:endParaRPr lang="en-US"/>
        </a:p>
      </dgm:t>
    </dgm:pt>
    <dgm:pt modelId="{AAA6FAD1-E15D-4345-ADEC-1B38E0DA3D2E}" type="sibTrans" cxnId="{7DEB00A1-8B9F-4CE0-86EE-86160D8D51B2}">
      <dgm:prSet/>
      <dgm:spPr/>
      <dgm:t>
        <a:bodyPr/>
        <a:lstStyle/>
        <a:p>
          <a:endParaRPr lang="en-US"/>
        </a:p>
      </dgm:t>
    </dgm:pt>
    <dgm:pt modelId="{9D9E3BEB-E243-4DA2-9902-C8E416D411D0}">
      <dgm:prSet/>
      <dgm:spPr/>
      <dgm:t>
        <a:bodyPr/>
        <a:lstStyle/>
        <a:p>
          <a:r>
            <a:rPr lang="en-US" b="0" i="0" baseline="0"/>
            <a:t>2. Model analog yaitu model yang didasarkan pada keserupaan gejala yang ditunjukkan oleh masalah dan yang dimiliki model.</a:t>
          </a:r>
          <a:endParaRPr lang="en-US"/>
        </a:p>
      </dgm:t>
    </dgm:pt>
    <dgm:pt modelId="{B3E71E3E-6DE4-4209-B8EE-A9ACBACD98D0}" type="parTrans" cxnId="{0F794E41-1B04-4326-9EC3-441E863B3E0A}">
      <dgm:prSet/>
      <dgm:spPr/>
      <dgm:t>
        <a:bodyPr/>
        <a:lstStyle/>
        <a:p>
          <a:endParaRPr lang="en-US"/>
        </a:p>
      </dgm:t>
    </dgm:pt>
    <dgm:pt modelId="{25E56B8E-A37B-4C08-8984-F34AD1865CA1}" type="sibTrans" cxnId="{0F794E41-1B04-4326-9EC3-441E863B3E0A}">
      <dgm:prSet/>
      <dgm:spPr/>
      <dgm:t>
        <a:bodyPr/>
        <a:lstStyle/>
        <a:p>
          <a:endParaRPr lang="en-US"/>
        </a:p>
      </dgm:t>
    </dgm:pt>
    <dgm:pt modelId="{A500F65D-E907-493C-83A6-F2103ECB5D07}">
      <dgm:prSet/>
      <dgm:spPr/>
      <dgm:t>
        <a:bodyPr/>
        <a:lstStyle/>
        <a:p>
          <a:r>
            <a:rPr lang="en-US" b="0" i="0" baseline="0"/>
            <a:t>Contoh; pertigaan simpang jalan dan arus listrik, gelombang air dan gelombang suara.</a:t>
          </a:r>
          <a:endParaRPr lang="en-US"/>
        </a:p>
      </dgm:t>
    </dgm:pt>
    <dgm:pt modelId="{EDF9D22A-1B05-4C04-8E0B-5EDA3934A68F}" type="parTrans" cxnId="{89B18CA1-0437-42CB-8E6C-67F65D32D7FC}">
      <dgm:prSet/>
      <dgm:spPr/>
      <dgm:t>
        <a:bodyPr/>
        <a:lstStyle/>
        <a:p>
          <a:endParaRPr lang="en-US"/>
        </a:p>
      </dgm:t>
    </dgm:pt>
    <dgm:pt modelId="{13CFD308-4349-443F-9F5A-FFF32707AF63}" type="sibTrans" cxnId="{89B18CA1-0437-42CB-8E6C-67F65D32D7FC}">
      <dgm:prSet/>
      <dgm:spPr/>
      <dgm:t>
        <a:bodyPr/>
        <a:lstStyle/>
        <a:p>
          <a:endParaRPr lang="en-US"/>
        </a:p>
      </dgm:t>
    </dgm:pt>
    <dgm:pt modelId="{F2E96009-F34F-4213-8918-D9527CA6667C}">
      <dgm:prSet/>
      <dgm:spPr/>
      <dgm:t>
        <a:bodyPr/>
        <a:lstStyle/>
        <a:p>
          <a:r>
            <a:rPr lang="en-US" b="0" i="0" baseline="0"/>
            <a:t>3. Model matematika yaitu model yang menyatakan kuantitatif, permasalahan dinyatakan dengan persamaan matematika.</a:t>
          </a:r>
          <a:endParaRPr lang="en-US"/>
        </a:p>
      </dgm:t>
    </dgm:pt>
    <dgm:pt modelId="{BE24FA95-E5EC-4695-9155-FB36C0DE02F2}" type="parTrans" cxnId="{1FC49799-CB30-4F5D-9F56-0E93C040B90E}">
      <dgm:prSet/>
      <dgm:spPr/>
      <dgm:t>
        <a:bodyPr/>
        <a:lstStyle/>
        <a:p>
          <a:endParaRPr lang="en-US"/>
        </a:p>
      </dgm:t>
    </dgm:pt>
    <dgm:pt modelId="{711C799E-4FDB-4001-B4D7-D252223ED6AC}" type="sibTrans" cxnId="{1FC49799-CB30-4F5D-9F56-0E93C040B90E}">
      <dgm:prSet/>
      <dgm:spPr/>
      <dgm:t>
        <a:bodyPr/>
        <a:lstStyle/>
        <a:p>
          <a:endParaRPr lang="en-US"/>
        </a:p>
      </dgm:t>
    </dgm:pt>
    <dgm:pt modelId="{2449B498-298F-4B51-9A9A-16F1109970F5}" type="pres">
      <dgm:prSet presAssocID="{1CD971E5-4E1D-4966-9955-BB6A3E6A6ADB}" presName="linear" presStyleCnt="0">
        <dgm:presLayoutVars>
          <dgm:animLvl val="lvl"/>
          <dgm:resizeHandles val="exact"/>
        </dgm:presLayoutVars>
      </dgm:prSet>
      <dgm:spPr/>
    </dgm:pt>
    <dgm:pt modelId="{9A74CC06-AED5-4EF8-9403-09F18A4C83EC}" type="pres">
      <dgm:prSet presAssocID="{0FB86838-8C45-420F-BDA6-4831C0DE677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A86E2C70-B3BA-4AD9-A510-E0F3332933DB}" type="pres">
      <dgm:prSet presAssocID="{B3D396CE-718C-497B-AE53-B5F2DA64F3CD}" presName="spacer" presStyleCnt="0"/>
      <dgm:spPr/>
    </dgm:pt>
    <dgm:pt modelId="{9D55253C-F282-4D83-AB87-D49A861414ED}" type="pres">
      <dgm:prSet presAssocID="{DC346598-2DE7-4B1B-A63A-78EDB5484F71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3FCAEA54-09A1-4FAB-B87C-721F328878A6}" type="pres">
      <dgm:prSet presAssocID="{AAA6FAD1-E15D-4345-ADEC-1B38E0DA3D2E}" presName="spacer" presStyleCnt="0"/>
      <dgm:spPr/>
    </dgm:pt>
    <dgm:pt modelId="{2D604C8B-33E8-489C-A147-98186B677BB6}" type="pres">
      <dgm:prSet presAssocID="{9D9E3BEB-E243-4DA2-9902-C8E416D411D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372CC1B-5F4D-47EC-BF7E-01A32018C4E5}" type="pres">
      <dgm:prSet presAssocID="{25E56B8E-A37B-4C08-8984-F34AD1865CA1}" presName="spacer" presStyleCnt="0"/>
      <dgm:spPr/>
    </dgm:pt>
    <dgm:pt modelId="{98ECF5B4-4CAA-4051-ADBF-EB3DA17252D8}" type="pres">
      <dgm:prSet presAssocID="{A500F65D-E907-493C-83A6-F2103ECB5D0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9F7FC703-324F-4D29-993B-B25AC6B36D27}" type="pres">
      <dgm:prSet presAssocID="{13CFD308-4349-443F-9F5A-FFF32707AF63}" presName="spacer" presStyleCnt="0"/>
      <dgm:spPr/>
    </dgm:pt>
    <dgm:pt modelId="{FCD7F52C-1758-40BE-9CB6-E4B0B2DF3EAE}" type="pres">
      <dgm:prSet presAssocID="{F2E96009-F34F-4213-8918-D9527CA6667C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B09E3B01-93FA-484D-BE98-8FF3F8947B3F}" type="presOf" srcId="{DC346598-2DE7-4B1B-A63A-78EDB5484F71}" destId="{9D55253C-F282-4D83-AB87-D49A861414ED}" srcOrd="0" destOrd="0" presId="urn:microsoft.com/office/officeart/2005/8/layout/vList2"/>
    <dgm:cxn modelId="{0F855B2E-214C-48F1-8611-B8CC73795EA3}" type="presOf" srcId="{F2E96009-F34F-4213-8918-D9527CA6667C}" destId="{FCD7F52C-1758-40BE-9CB6-E4B0B2DF3EAE}" srcOrd="0" destOrd="0" presId="urn:microsoft.com/office/officeart/2005/8/layout/vList2"/>
    <dgm:cxn modelId="{12D49E33-1936-441E-B715-734EAD4C99DA}" type="presOf" srcId="{9D9E3BEB-E243-4DA2-9902-C8E416D411D0}" destId="{2D604C8B-33E8-489C-A147-98186B677BB6}" srcOrd="0" destOrd="0" presId="urn:microsoft.com/office/officeart/2005/8/layout/vList2"/>
    <dgm:cxn modelId="{0F794E41-1B04-4326-9EC3-441E863B3E0A}" srcId="{1CD971E5-4E1D-4966-9955-BB6A3E6A6ADB}" destId="{9D9E3BEB-E243-4DA2-9902-C8E416D411D0}" srcOrd="2" destOrd="0" parTransId="{B3E71E3E-6DE4-4209-B8EE-A9ACBACD98D0}" sibTransId="{25E56B8E-A37B-4C08-8984-F34AD1865CA1}"/>
    <dgm:cxn modelId="{DCB0DD65-5948-4052-A2C2-2098427FEE61}" type="presOf" srcId="{0FB86838-8C45-420F-BDA6-4831C0DE6774}" destId="{9A74CC06-AED5-4EF8-9403-09F18A4C83EC}" srcOrd="0" destOrd="0" presId="urn:microsoft.com/office/officeart/2005/8/layout/vList2"/>
    <dgm:cxn modelId="{F7AC2C4C-7C32-4A4A-9473-DF138F1D8BB7}" type="presOf" srcId="{1CD971E5-4E1D-4966-9955-BB6A3E6A6ADB}" destId="{2449B498-298F-4B51-9A9A-16F1109970F5}" srcOrd="0" destOrd="0" presId="urn:microsoft.com/office/officeart/2005/8/layout/vList2"/>
    <dgm:cxn modelId="{1FC49799-CB30-4F5D-9F56-0E93C040B90E}" srcId="{1CD971E5-4E1D-4966-9955-BB6A3E6A6ADB}" destId="{F2E96009-F34F-4213-8918-D9527CA6667C}" srcOrd="4" destOrd="0" parTransId="{BE24FA95-E5EC-4695-9155-FB36C0DE02F2}" sibTransId="{711C799E-4FDB-4001-B4D7-D252223ED6AC}"/>
    <dgm:cxn modelId="{7DEB00A1-8B9F-4CE0-86EE-86160D8D51B2}" srcId="{1CD971E5-4E1D-4966-9955-BB6A3E6A6ADB}" destId="{DC346598-2DE7-4B1B-A63A-78EDB5484F71}" srcOrd="1" destOrd="0" parTransId="{C7FDC56B-6EBF-420D-858F-3B7607D9DAD0}" sibTransId="{AAA6FAD1-E15D-4345-ADEC-1B38E0DA3D2E}"/>
    <dgm:cxn modelId="{89B18CA1-0437-42CB-8E6C-67F65D32D7FC}" srcId="{1CD971E5-4E1D-4966-9955-BB6A3E6A6ADB}" destId="{A500F65D-E907-493C-83A6-F2103ECB5D07}" srcOrd="3" destOrd="0" parTransId="{EDF9D22A-1B05-4C04-8E0B-5EDA3934A68F}" sibTransId="{13CFD308-4349-443F-9F5A-FFF32707AF63}"/>
    <dgm:cxn modelId="{CEB4CFD9-D2CD-49B6-B961-83E08E00BF3D}" srcId="{1CD971E5-4E1D-4966-9955-BB6A3E6A6ADB}" destId="{0FB86838-8C45-420F-BDA6-4831C0DE6774}" srcOrd="0" destOrd="0" parTransId="{2D44A19D-4797-4F8A-BB08-59F596F15DD3}" sibTransId="{B3D396CE-718C-497B-AE53-B5F2DA64F3CD}"/>
    <dgm:cxn modelId="{06F104DE-2DA2-45E5-A745-AE07BD71A3D4}" type="presOf" srcId="{A500F65D-E907-493C-83A6-F2103ECB5D07}" destId="{98ECF5B4-4CAA-4051-ADBF-EB3DA17252D8}" srcOrd="0" destOrd="0" presId="urn:microsoft.com/office/officeart/2005/8/layout/vList2"/>
    <dgm:cxn modelId="{F2996673-1769-460F-9538-77B35B1E0222}" type="presParOf" srcId="{2449B498-298F-4B51-9A9A-16F1109970F5}" destId="{9A74CC06-AED5-4EF8-9403-09F18A4C83EC}" srcOrd="0" destOrd="0" presId="urn:microsoft.com/office/officeart/2005/8/layout/vList2"/>
    <dgm:cxn modelId="{299E4F0B-C7FF-430A-AF6F-2FB3F1EE2965}" type="presParOf" srcId="{2449B498-298F-4B51-9A9A-16F1109970F5}" destId="{A86E2C70-B3BA-4AD9-A510-E0F3332933DB}" srcOrd="1" destOrd="0" presId="urn:microsoft.com/office/officeart/2005/8/layout/vList2"/>
    <dgm:cxn modelId="{303B8D2E-1247-4DAE-A3FB-4AD98B767084}" type="presParOf" srcId="{2449B498-298F-4B51-9A9A-16F1109970F5}" destId="{9D55253C-F282-4D83-AB87-D49A861414ED}" srcOrd="2" destOrd="0" presId="urn:microsoft.com/office/officeart/2005/8/layout/vList2"/>
    <dgm:cxn modelId="{160C7171-B2B8-46B2-9F10-E37A9149B916}" type="presParOf" srcId="{2449B498-298F-4B51-9A9A-16F1109970F5}" destId="{3FCAEA54-09A1-4FAB-B87C-721F328878A6}" srcOrd="3" destOrd="0" presId="urn:microsoft.com/office/officeart/2005/8/layout/vList2"/>
    <dgm:cxn modelId="{6AF45A36-2D55-4F8D-AC67-596B05AADC60}" type="presParOf" srcId="{2449B498-298F-4B51-9A9A-16F1109970F5}" destId="{2D604C8B-33E8-489C-A147-98186B677BB6}" srcOrd="4" destOrd="0" presId="urn:microsoft.com/office/officeart/2005/8/layout/vList2"/>
    <dgm:cxn modelId="{C3443DA1-3DB9-48B9-9181-4A080F8B4295}" type="presParOf" srcId="{2449B498-298F-4B51-9A9A-16F1109970F5}" destId="{8372CC1B-5F4D-47EC-BF7E-01A32018C4E5}" srcOrd="5" destOrd="0" presId="urn:microsoft.com/office/officeart/2005/8/layout/vList2"/>
    <dgm:cxn modelId="{84745A9A-A311-44AB-A5C1-73E8AE1FF494}" type="presParOf" srcId="{2449B498-298F-4B51-9A9A-16F1109970F5}" destId="{98ECF5B4-4CAA-4051-ADBF-EB3DA17252D8}" srcOrd="6" destOrd="0" presId="urn:microsoft.com/office/officeart/2005/8/layout/vList2"/>
    <dgm:cxn modelId="{877210B5-A028-4172-BA77-F90D88FC8049}" type="presParOf" srcId="{2449B498-298F-4B51-9A9A-16F1109970F5}" destId="{9F7FC703-324F-4D29-993B-B25AC6B36D27}" srcOrd="7" destOrd="0" presId="urn:microsoft.com/office/officeart/2005/8/layout/vList2"/>
    <dgm:cxn modelId="{F90BD0DC-AD98-4E43-AF2F-A3D28581BA08}" type="presParOf" srcId="{2449B498-298F-4B51-9A9A-16F1109970F5}" destId="{FCD7F52C-1758-40BE-9CB6-E4B0B2DF3EAE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8A9A56F-FD78-45BF-8F46-06CE2196A71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F39AFE2-6ADA-4ECE-92BE-AE201072E0FE}">
      <dgm:prSet/>
      <dgm:spPr/>
      <dgm:t>
        <a:bodyPr/>
        <a:lstStyle/>
        <a:p>
          <a:r>
            <a:rPr lang="en-US" dirty="0"/>
            <a:t>1. </a:t>
          </a:r>
          <a:r>
            <a:rPr lang="en-US" b="1" dirty="0" err="1"/>
            <a:t>Metode</a:t>
          </a:r>
          <a:r>
            <a:rPr lang="en-US" b="1" dirty="0"/>
            <a:t> </a:t>
          </a:r>
          <a:r>
            <a:rPr lang="en-US" b="1" dirty="0" err="1"/>
            <a:t>Analitik</a:t>
          </a:r>
          <a:r>
            <a:rPr lang="en-US" dirty="0"/>
            <a:t>, </a:t>
          </a:r>
          <a:r>
            <a:rPr lang="en-US" dirty="0" err="1"/>
            <a:t>metode</a:t>
          </a:r>
          <a:r>
            <a:rPr lang="en-US" dirty="0"/>
            <a:t> </a:t>
          </a:r>
          <a:r>
            <a:rPr lang="en-US" dirty="0" err="1"/>
            <a:t>ini</a:t>
          </a:r>
          <a:r>
            <a:rPr lang="en-US" dirty="0"/>
            <a:t> sangat </a:t>
          </a:r>
          <a:r>
            <a:rPr lang="en-US" dirty="0" err="1"/>
            <a:t>berguna</a:t>
          </a:r>
          <a:r>
            <a:rPr lang="en-US" dirty="0"/>
            <a:t> </a:t>
          </a:r>
          <a:r>
            <a:rPr lang="en-US" dirty="0" err="1"/>
            <a:t>namun</a:t>
          </a:r>
          <a:r>
            <a:rPr lang="en-US" dirty="0"/>
            <a:t> </a:t>
          </a:r>
          <a:r>
            <a:rPr lang="en-US" dirty="0" err="1"/>
            <a:t>terbatas</a:t>
          </a:r>
          <a:r>
            <a:rPr lang="en-US" dirty="0"/>
            <a:t> pada masalah </a:t>
          </a:r>
          <a:r>
            <a:rPr lang="en-US" dirty="0" err="1"/>
            <a:t>sederhana</a:t>
          </a:r>
          <a:r>
            <a:rPr lang="en-US" dirty="0"/>
            <a:t>. </a:t>
          </a:r>
          <a:r>
            <a:rPr lang="en-US" dirty="0" err="1"/>
            <a:t>Sedangkan</a:t>
          </a:r>
          <a:r>
            <a:rPr lang="en-US" dirty="0"/>
            <a:t> masalah </a:t>
          </a:r>
          <a:r>
            <a:rPr lang="en-US" dirty="0" err="1"/>
            <a:t>riil</a:t>
          </a:r>
          <a:r>
            <a:rPr lang="en-US" dirty="0"/>
            <a:t> yang </a:t>
          </a:r>
          <a:r>
            <a:rPr lang="en-US" dirty="0" err="1"/>
            <a:t>kompleks</a:t>
          </a:r>
          <a:r>
            <a:rPr lang="en-US" dirty="0"/>
            <a:t> dan </a:t>
          </a:r>
          <a:r>
            <a:rPr lang="en-US" dirty="0" err="1"/>
            <a:t>nonlinier</a:t>
          </a:r>
          <a:r>
            <a:rPr lang="en-US" dirty="0"/>
            <a:t> </a:t>
          </a:r>
          <a:r>
            <a:rPr lang="en-US" dirty="0" err="1"/>
            <a:t>sulit</a:t>
          </a:r>
          <a:r>
            <a:rPr lang="en-US" dirty="0"/>
            <a:t>/</a:t>
          </a:r>
          <a:r>
            <a:rPr lang="en-US" dirty="0" err="1"/>
            <a:t>tidak</a:t>
          </a:r>
          <a:r>
            <a:rPr lang="en-US" dirty="0"/>
            <a:t> </a:t>
          </a:r>
          <a:r>
            <a:rPr lang="en-US" dirty="0" err="1"/>
            <a:t>dapat</a:t>
          </a:r>
          <a:r>
            <a:rPr lang="en-US" dirty="0"/>
            <a:t> </a:t>
          </a:r>
          <a:r>
            <a:rPr lang="en-US" dirty="0" err="1"/>
            <a:t>diselesaikan</a:t>
          </a:r>
          <a:r>
            <a:rPr lang="en-US" dirty="0"/>
            <a:t>.</a:t>
          </a:r>
        </a:p>
      </dgm:t>
    </dgm:pt>
    <dgm:pt modelId="{A58F885C-3421-4A48-8C4B-8C61B073DE20}" type="parTrans" cxnId="{142BA918-132D-4938-B0A0-4A0CA0AE8BBA}">
      <dgm:prSet/>
      <dgm:spPr/>
      <dgm:t>
        <a:bodyPr/>
        <a:lstStyle/>
        <a:p>
          <a:endParaRPr lang="en-US"/>
        </a:p>
      </dgm:t>
    </dgm:pt>
    <dgm:pt modelId="{A8052600-E860-4F5D-A15D-7ECAD9B811E3}" type="sibTrans" cxnId="{142BA918-132D-4938-B0A0-4A0CA0AE8BBA}">
      <dgm:prSet/>
      <dgm:spPr/>
      <dgm:t>
        <a:bodyPr/>
        <a:lstStyle/>
        <a:p>
          <a:endParaRPr lang="en-US"/>
        </a:p>
      </dgm:t>
    </dgm:pt>
    <dgm:pt modelId="{2C9949A7-EE10-4CD0-AB89-8EF734A3F3D5}">
      <dgm:prSet/>
      <dgm:spPr/>
      <dgm:t>
        <a:bodyPr/>
        <a:lstStyle/>
        <a:p>
          <a:r>
            <a:rPr lang="en-US" dirty="0"/>
            <a:t>2. </a:t>
          </a:r>
          <a:r>
            <a:rPr lang="en-US" b="1" dirty="0" err="1"/>
            <a:t>Metode</a:t>
          </a:r>
          <a:r>
            <a:rPr lang="en-US" b="1" dirty="0"/>
            <a:t> </a:t>
          </a:r>
          <a:r>
            <a:rPr lang="en-US" b="1" dirty="0" err="1"/>
            <a:t>Grafik</a:t>
          </a:r>
          <a:r>
            <a:rPr lang="en-US" dirty="0"/>
            <a:t>, </a:t>
          </a:r>
          <a:r>
            <a:rPr lang="en-US" dirty="0" err="1"/>
            <a:t>metode</a:t>
          </a:r>
          <a:r>
            <a:rPr lang="en-US" dirty="0"/>
            <a:t> </a:t>
          </a:r>
          <a:r>
            <a:rPr lang="en-US" dirty="0" err="1"/>
            <a:t>ini</a:t>
          </a:r>
          <a:r>
            <a:rPr lang="en-US" dirty="0"/>
            <a:t> </a:t>
          </a:r>
          <a:r>
            <a:rPr lang="en-US" dirty="0" err="1"/>
            <a:t>digunakan</a:t>
          </a:r>
          <a:r>
            <a:rPr lang="en-US" dirty="0"/>
            <a:t> </a:t>
          </a:r>
          <a:r>
            <a:rPr lang="en-US" dirty="0" err="1"/>
            <a:t>sebagai</a:t>
          </a:r>
          <a:r>
            <a:rPr lang="en-US" dirty="0"/>
            <a:t> </a:t>
          </a:r>
          <a:r>
            <a:rPr lang="en-US" dirty="0" err="1"/>
            <a:t>pendekatan</a:t>
          </a:r>
          <a:r>
            <a:rPr lang="en-US" dirty="0"/>
            <a:t> </a:t>
          </a:r>
          <a:r>
            <a:rPr lang="en-US" dirty="0" err="1"/>
            <a:t>penyelesaian</a:t>
          </a:r>
          <a:r>
            <a:rPr lang="en-US" dirty="0"/>
            <a:t> yang </a:t>
          </a:r>
          <a:r>
            <a:rPr lang="en-US" dirty="0" err="1"/>
            <a:t>kompleks</a:t>
          </a:r>
          <a:r>
            <a:rPr lang="en-US" dirty="0"/>
            <a:t>. </a:t>
          </a:r>
          <a:r>
            <a:rPr lang="en-US" dirty="0" err="1"/>
            <a:t>Kendalanya</a:t>
          </a:r>
          <a:r>
            <a:rPr lang="en-US" dirty="0"/>
            <a:t> </a:t>
          </a:r>
          <a:r>
            <a:rPr lang="en-US" dirty="0" err="1"/>
            <a:t>bahwa</a:t>
          </a:r>
          <a:r>
            <a:rPr lang="en-US" dirty="0"/>
            <a:t> </a:t>
          </a:r>
          <a:r>
            <a:rPr lang="en-US" dirty="0" err="1"/>
            <a:t>metode</a:t>
          </a:r>
          <a:r>
            <a:rPr lang="en-US" dirty="0"/>
            <a:t> </a:t>
          </a:r>
          <a:r>
            <a:rPr lang="en-US" dirty="0" err="1"/>
            <a:t>ini</a:t>
          </a:r>
          <a:r>
            <a:rPr lang="en-US" dirty="0"/>
            <a:t> </a:t>
          </a:r>
          <a:r>
            <a:rPr lang="en-US" dirty="0" err="1"/>
            <a:t>tidak</a:t>
          </a:r>
          <a:r>
            <a:rPr lang="en-US" dirty="0"/>
            <a:t> </a:t>
          </a:r>
          <a:r>
            <a:rPr lang="en-US" dirty="0" err="1"/>
            <a:t>akurat</a:t>
          </a:r>
          <a:r>
            <a:rPr lang="en-US" dirty="0"/>
            <a:t>, sangat lama, dan </a:t>
          </a:r>
          <a:r>
            <a:rPr lang="en-US" dirty="0" err="1"/>
            <a:t>banyak</a:t>
          </a:r>
          <a:r>
            <a:rPr lang="en-US" dirty="0"/>
            <a:t> </a:t>
          </a:r>
          <a:r>
            <a:rPr lang="en-US" dirty="0" err="1"/>
            <a:t>membutuhkan</a:t>
          </a:r>
          <a:r>
            <a:rPr lang="en-US" dirty="0"/>
            <a:t> </a:t>
          </a:r>
          <a:r>
            <a:rPr lang="en-US" dirty="0" err="1"/>
            <a:t>waktu</a:t>
          </a:r>
          <a:r>
            <a:rPr lang="en-US" dirty="0"/>
            <a:t>.</a:t>
          </a:r>
        </a:p>
      </dgm:t>
    </dgm:pt>
    <dgm:pt modelId="{84A41826-B3F9-47FE-A96F-FEDBB719FA83}" type="parTrans" cxnId="{B8E04916-B248-437D-AECC-5C6CC163D2B8}">
      <dgm:prSet/>
      <dgm:spPr/>
      <dgm:t>
        <a:bodyPr/>
        <a:lstStyle/>
        <a:p>
          <a:endParaRPr lang="en-US"/>
        </a:p>
      </dgm:t>
    </dgm:pt>
    <dgm:pt modelId="{69AB4625-1AFB-4315-B392-AF349B2A5086}" type="sibTrans" cxnId="{B8E04916-B248-437D-AECC-5C6CC163D2B8}">
      <dgm:prSet/>
      <dgm:spPr/>
      <dgm:t>
        <a:bodyPr/>
        <a:lstStyle/>
        <a:p>
          <a:endParaRPr lang="en-US"/>
        </a:p>
      </dgm:t>
    </dgm:pt>
    <dgm:pt modelId="{5B8843BA-93A6-4715-97DF-ECC162C3E4E4}">
      <dgm:prSet/>
      <dgm:spPr/>
      <dgm:t>
        <a:bodyPr/>
        <a:lstStyle/>
        <a:p>
          <a:r>
            <a:rPr lang="en-US" dirty="0"/>
            <a:t>3.</a:t>
          </a:r>
          <a:r>
            <a:rPr lang="en-US" b="1" dirty="0"/>
            <a:t> </a:t>
          </a:r>
          <a:r>
            <a:rPr lang="en-US" b="1" dirty="0" err="1"/>
            <a:t>Kalkulator</a:t>
          </a:r>
          <a:r>
            <a:rPr lang="en-US" b="1" dirty="0"/>
            <a:t> dan slide rules</a:t>
          </a:r>
          <a:r>
            <a:rPr lang="en-US" dirty="0"/>
            <a:t>, </a:t>
          </a:r>
          <a:r>
            <a:rPr lang="en-US" dirty="0" err="1"/>
            <a:t>penyelesaian</a:t>
          </a:r>
          <a:r>
            <a:rPr lang="en-US" dirty="0"/>
            <a:t> </a:t>
          </a:r>
          <a:r>
            <a:rPr lang="en-US" dirty="0" err="1"/>
            <a:t>numerik</a:t>
          </a:r>
          <a:r>
            <a:rPr lang="en-US" dirty="0"/>
            <a:t> </a:t>
          </a:r>
          <a:r>
            <a:rPr lang="en-US" dirty="0" err="1"/>
            <a:t>secara</a:t>
          </a:r>
          <a:r>
            <a:rPr lang="en-US" dirty="0"/>
            <a:t> manual. Cara </a:t>
          </a:r>
          <a:r>
            <a:rPr lang="en-US" dirty="0" err="1"/>
            <a:t>ini</a:t>
          </a:r>
          <a:r>
            <a:rPr lang="en-US" dirty="0"/>
            <a:t> </a:t>
          </a:r>
          <a:r>
            <a:rPr lang="en-US" dirty="0" err="1"/>
            <a:t>cukup</a:t>
          </a:r>
          <a:r>
            <a:rPr lang="en-US" dirty="0"/>
            <a:t> lama dan </a:t>
          </a:r>
          <a:r>
            <a:rPr lang="en-US" dirty="0" err="1"/>
            <a:t>mungkin</a:t>
          </a:r>
          <a:r>
            <a:rPr lang="en-US" dirty="0"/>
            <a:t> </a:t>
          </a:r>
          <a:r>
            <a:rPr lang="en-US" dirty="0" err="1"/>
            <a:t>bisa</a:t>
          </a:r>
          <a:r>
            <a:rPr lang="en-US" dirty="0"/>
            <a:t> </a:t>
          </a:r>
          <a:r>
            <a:rPr lang="en-US" dirty="0" err="1"/>
            <a:t>terjadi</a:t>
          </a:r>
          <a:r>
            <a:rPr lang="en-US" dirty="0"/>
            <a:t> </a:t>
          </a:r>
          <a:r>
            <a:rPr lang="en-US" dirty="0" err="1"/>
            <a:t>kesalahan</a:t>
          </a:r>
          <a:r>
            <a:rPr lang="en-US" dirty="0"/>
            <a:t> </a:t>
          </a:r>
          <a:r>
            <a:rPr lang="en-US" dirty="0" err="1"/>
            <a:t>pemasukan</a:t>
          </a:r>
          <a:r>
            <a:rPr lang="en-US" dirty="0"/>
            <a:t> data.</a:t>
          </a:r>
        </a:p>
      </dgm:t>
    </dgm:pt>
    <dgm:pt modelId="{0FE94009-0AEA-49E6-818F-2F986D695544}" type="parTrans" cxnId="{90FAB805-E64F-4254-B148-56A473A60A47}">
      <dgm:prSet/>
      <dgm:spPr/>
      <dgm:t>
        <a:bodyPr/>
        <a:lstStyle/>
        <a:p>
          <a:endParaRPr lang="en-US"/>
        </a:p>
      </dgm:t>
    </dgm:pt>
    <dgm:pt modelId="{19381235-DFE1-4111-8572-E75B63ED1E61}" type="sibTrans" cxnId="{90FAB805-E64F-4254-B148-56A473A60A47}">
      <dgm:prSet/>
      <dgm:spPr/>
      <dgm:t>
        <a:bodyPr/>
        <a:lstStyle/>
        <a:p>
          <a:endParaRPr lang="en-US"/>
        </a:p>
      </dgm:t>
    </dgm:pt>
    <dgm:pt modelId="{A2817918-7B99-429F-946C-F99208CDB5D8}" type="pres">
      <dgm:prSet presAssocID="{58A9A56F-FD78-45BF-8F46-06CE2196A712}" presName="root" presStyleCnt="0">
        <dgm:presLayoutVars>
          <dgm:dir/>
          <dgm:resizeHandles val="exact"/>
        </dgm:presLayoutVars>
      </dgm:prSet>
      <dgm:spPr/>
    </dgm:pt>
    <dgm:pt modelId="{3B82B030-FC50-46E6-8995-4E01C3EE5569}" type="pres">
      <dgm:prSet presAssocID="{1F39AFE2-6ADA-4ECE-92BE-AE201072E0FE}" presName="compNode" presStyleCnt="0"/>
      <dgm:spPr/>
    </dgm:pt>
    <dgm:pt modelId="{00FB702F-B46D-4E29-B642-E94DC54CA9DF}" type="pres">
      <dgm:prSet presAssocID="{1F39AFE2-6ADA-4ECE-92BE-AE201072E0FE}" presName="bgRect" presStyleLbl="bgShp" presStyleIdx="0" presStyleCnt="3"/>
      <dgm:spPr/>
    </dgm:pt>
    <dgm:pt modelId="{8AE9C28F-8A10-4F18-AA5D-14342D7F566E}" type="pres">
      <dgm:prSet presAssocID="{1F39AFE2-6ADA-4ECE-92BE-AE201072E0F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J"/>
        </a:ext>
      </dgm:extLst>
    </dgm:pt>
    <dgm:pt modelId="{8DDF2AF2-B004-4725-A922-ACA6CC2ECD03}" type="pres">
      <dgm:prSet presAssocID="{1F39AFE2-6ADA-4ECE-92BE-AE201072E0FE}" presName="spaceRect" presStyleCnt="0"/>
      <dgm:spPr/>
    </dgm:pt>
    <dgm:pt modelId="{36D8B63F-826E-4538-A332-3DE8B6DF74AF}" type="pres">
      <dgm:prSet presAssocID="{1F39AFE2-6ADA-4ECE-92BE-AE201072E0FE}" presName="parTx" presStyleLbl="revTx" presStyleIdx="0" presStyleCnt="3">
        <dgm:presLayoutVars>
          <dgm:chMax val="0"/>
          <dgm:chPref val="0"/>
        </dgm:presLayoutVars>
      </dgm:prSet>
      <dgm:spPr/>
    </dgm:pt>
    <dgm:pt modelId="{06024801-A13A-4312-B17E-CF430B4EDE8A}" type="pres">
      <dgm:prSet presAssocID="{A8052600-E860-4F5D-A15D-7ECAD9B811E3}" presName="sibTrans" presStyleCnt="0"/>
      <dgm:spPr/>
    </dgm:pt>
    <dgm:pt modelId="{EB7E8A70-27D5-4887-8DD1-915E5941A206}" type="pres">
      <dgm:prSet presAssocID="{2C9949A7-EE10-4CD0-AB89-8EF734A3F3D5}" presName="compNode" presStyleCnt="0"/>
      <dgm:spPr/>
    </dgm:pt>
    <dgm:pt modelId="{28285A3B-678E-43E2-9ADF-2DE6F1BDE0A3}" type="pres">
      <dgm:prSet presAssocID="{2C9949A7-EE10-4CD0-AB89-8EF734A3F3D5}" presName="bgRect" presStyleLbl="bgShp" presStyleIdx="1" presStyleCnt="3"/>
      <dgm:spPr/>
    </dgm:pt>
    <dgm:pt modelId="{0ABD13F1-7915-49F7-AEA8-EC7936318D63}" type="pres">
      <dgm:prSet presAssocID="{2C9949A7-EE10-4CD0-AB89-8EF734A3F3D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apanese Dolls"/>
        </a:ext>
      </dgm:extLst>
    </dgm:pt>
    <dgm:pt modelId="{905785BD-C47E-44EC-A200-6F7C265CFF96}" type="pres">
      <dgm:prSet presAssocID="{2C9949A7-EE10-4CD0-AB89-8EF734A3F3D5}" presName="spaceRect" presStyleCnt="0"/>
      <dgm:spPr/>
    </dgm:pt>
    <dgm:pt modelId="{89A77659-DA26-4D13-9AE5-FE52AA51A7BF}" type="pres">
      <dgm:prSet presAssocID="{2C9949A7-EE10-4CD0-AB89-8EF734A3F3D5}" presName="parTx" presStyleLbl="revTx" presStyleIdx="1" presStyleCnt="3">
        <dgm:presLayoutVars>
          <dgm:chMax val="0"/>
          <dgm:chPref val="0"/>
        </dgm:presLayoutVars>
      </dgm:prSet>
      <dgm:spPr/>
    </dgm:pt>
    <dgm:pt modelId="{8DEF9F42-A979-451C-9C00-274A1F8AEA73}" type="pres">
      <dgm:prSet presAssocID="{69AB4625-1AFB-4315-B392-AF349B2A5086}" presName="sibTrans" presStyleCnt="0"/>
      <dgm:spPr/>
    </dgm:pt>
    <dgm:pt modelId="{670FBBD0-B575-4B23-ADEF-8C723C740D5E}" type="pres">
      <dgm:prSet presAssocID="{5B8843BA-93A6-4715-97DF-ECC162C3E4E4}" presName="compNode" presStyleCnt="0"/>
      <dgm:spPr/>
    </dgm:pt>
    <dgm:pt modelId="{AB028285-E38D-4C23-87DA-7A4F20D1C00A}" type="pres">
      <dgm:prSet presAssocID="{5B8843BA-93A6-4715-97DF-ECC162C3E4E4}" presName="bgRect" presStyleLbl="bgShp" presStyleIdx="2" presStyleCnt="3"/>
      <dgm:spPr/>
    </dgm:pt>
    <dgm:pt modelId="{9678A1C2-28E3-49BD-9EE3-82DAE73376CC}" type="pres">
      <dgm:prSet presAssocID="{5B8843BA-93A6-4715-97DF-ECC162C3E4E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ientist"/>
        </a:ext>
      </dgm:extLst>
    </dgm:pt>
    <dgm:pt modelId="{E459B320-D3BE-42ED-9E3E-0CCDD0131945}" type="pres">
      <dgm:prSet presAssocID="{5B8843BA-93A6-4715-97DF-ECC162C3E4E4}" presName="spaceRect" presStyleCnt="0"/>
      <dgm:spPr/>
    </dgm:pt>
    <dgm:pt modelId="{661F4132-A5C3-4175-A2A1-409C82326BF1}" type="pres">
      <dgm:prSet presAssocID="{5B8843BA-93A6-4715-97DF-ECC162C3E4E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0FAB805-E64F-4254-B148-56A473A60A47}" srcId="{58A9A56F-FD78-45BF-8F46-06CE2196A712}" destId="{5B8843BA-93A6-4715-97DF-ECC162C3E4E4}" srcOrd="2" destOrd="0" parTransId="{0FE94009-0AEA-49E6-818F-2F986D695544}" sibTransId="{19381235-DFE1-4111-8572-E75B63ED1E61}"/>
    <dgm:cxn modelId="{B8E04916-B248-437D-AECC-5C6CC163D2B8}" srcId="{58A9A56F-FD78-45BF-8F46-06CE2196A712}" destId="{2C9949A7-EE10-4CD0-AB89-8EF734A3F3D5}" srcOrd="1" destOrd="0" parTransId="{84A41826-B3F9-47FE-A96F-FEDBB719FA83}" sibTransId="{69AB4625-1AFB-4315-B392-AF349B2A5086}"/>
    <dgm:cxn modelId="{142BA918-132D-4938-B0A0-4A0CA0AE8BBA}" srcId="{58A9A56F-FD78-45BF-8F46-06CE2196A712}" destId="{1F39AFE2-6ADA-4ECE-92BE-AE201072E0FE}" srcOrd="0" destOrd="0" parTransId="{A58F885C-3421-4A48-8C4B-8C61B073DE20}" sibTransId="{A8052600-E860-4F5D-A15D-7ECAD9B811E3}"/>
    <dgm:cxn modelId="{D0949F60-9761-4DFC-8251-D5FF8292F4AD}" type="presOf" srcId="{5B8843BA-93A6-4715-97DF-ECC162C3E4E4}" destId="{661F4132-A5C3-4175-A2A1-409C82326BF1}" srcOrd="0" destOrd="0" presId="urn:microsoft.com/office/officeart/2018/2/layout/IconVerticalSolidList"/>
    <dgm:cxn modelId="{0AFD07A1-B6AA-4095-8FC5-C3CCED9BE06E}" type="presOf" srcId="{2C9949A7-EE10-4CD0-AB89-8EF734A3F3D5}" destId="{89A77659-DA26-4D13-9AE5-FE52AA51A7BF}" srcOrd="0" destOrd="0" presId="urn:microsoft.com/office/officeart/2018/2/layout/IconVerticalSolidList"/>
    <dgm:cxn modelId="{D09577D6-703C-4886-B220-455550B7F086}" type="presOf" srcId="{58A9A56F-FD78-45BF-8F46-06CE2196A712}" destId="{A2817918-7B99-429F-946C-F99208CDB5D8}" srcOrd="0" destOrd="0" presId="urn:microsoft.com/office/officeart/2018/2/layout/IconVerticalSolidList"/>
    <dgm:cxn modelId="{B72AFDEC-3B79-4179-AED7-B5D0B98B2AA7}" type="presOf" srcId="{1F39AFE2-6ADA-4ECE-92BE-AE201072E0FE}" destId="{36D8B63F-826E-4538-A332-3DE8B6DF74AF}" srcOrd="0" destOrd="0" presId="urn:microsoft.com/office/officeart/2018/2/layout/IconVerticalSolidList"/>
    <dgm:cxn modelId="{12B9C3ED-E5C6-4522-9365-CF6CDAED783F}" type="presParOf" srcId="{A2817918-7B99-429F-946C-F99208CDB5D8}" destId="{3B82B030-FC50-46E6-8995-4E01C3EE5569}" srcOrd="0" destOrd="0" presId="urn:microsoft.com/office/officeart/2018/2/layout/IconVerticalSolidList"/>
    <dgm:cxn modelId="{FBC371C6-A2CD-4915-96F5-8EDE8744E89C}" type="presParOf" srcId="{3B82B030-FC50-46E6-8995-4E01C3EE5569}" destId="{00FB702F-B46D-4E29-B642-E94DC54CA9DF}" srcOrd="0" destOrd="0" presId="urn:microsoft.com/office/officeart/2018/2/layout/IconVerticalSolidList"/>
    <dgm:cxn modelId="{6B62819E-11AF-4AB8-AFD2-65AE50594DAA}" type="presParOf" srcId="{3B82B030-FC50-46E6-8995-4E01C3EE5569}" destId="{8AE9C28F-8A10-4F18-AA5D-14342D7F566E}" srcOrd="1" destOrd="0" presId="urn:microsoft.com/office/officeart/2018/2/layout/IconVerticalSolidList"/>
    <dgm:cxn modelId="{DB5360F8-5626-4AED-83A3-BDB3DAC8CD5A}" type="presParOf" srcId="{3B82B030-FC50-46E6-8995-4E01C3EE5569}" destId="{8DDF2AF2-B004-4725-A922-ACA6CC2ECD03}" srcOrd="2" destOrd="0" presId="urn:microsoft.com/office/officeart/2018/2/layout/IconVerticalSolidList"/>
    <dgm:cxn modelId="{4A9E3ED6-C5C4-4D98-9BB6-8D32D23C9278}" type="presParOf" srcId="{3B82B030-FC50-46E6-8995-4E01C3EE5569}" destId="{36D8B63F-826E-4538-A332-3DE8B6DF74AF}" srcOrd="3" destOrd="0" presId="urn:microsoft.com/office/officeart/2018/2/layout/IconVerticalSolidList"/>
    <dgm:cxn modelId="{ADE23860-F76B-4C82-A02E-CB11140FCCD9}" type="presParOf" srcId="{A2817918-7B99-429F-946C-F99208CDB5D8}" destId="{06024801-A13A-4312-B17E-CF430B4EDE8A}" srcOrd="1" destOrd="0" presId="urn:microsoft.com/office/officeart/2018/2/layout/IconVerticalSolidList"/>
    <dgm:cxn modelId="{F2B44752-EC18-4225-8D5A-7A9804FFD923}" type="presParOf" srcId="{A2817918-7B99-429F-946C-F99208CDB5D8}" destId="{EB7E8A70-27D5-4887-8DD1-915E5941A206}" srcOrd="2" destOrd="0" presId="urn:microsoft.com/office/officeart/2018/2/layout/IconVerticalSolidList"/>
    <dgm:cxn modelId="{078DC842-825F-496B-A396-9E268814AFA9}" type="presParOf" srcId="{EB7E8A70-27D5-4887-8DD1-915E5941A206}" destId="{28285A3B-678E-43E2-9ADF-2DE6F1BDE0A3}" srcOrd="0" destOrd="0" presId="urn:microsoft.com/office/officeart/2018/2/layout/IconVerticalSolidList"/>
    <dgm:cxn modelId="{EB5B07DA-AF12-4DEB-B127-1E171AAC8313}" type="presParOf" srcId="{EB7E8A70-27D5-4887-8DD1-915E5941A206}" destId="{0ABD13F1-7915-49F7-AEA8-EC7936318D63}" srcOrd="1" destOrd="0" presId="urn:microsoft.com/office/officeart/2018/2/layout/IconVerticalSolidList"/>
    <dgm:cxn modelId="{DC514C63-8ADD-4848-9352-A65FAF277A56}" type="presParOf" srcId="{EB7E8A70-27D5-4887-8DD1-915E5941A206}" destId="{905785BD-C47E-44EC-A200-6F7C265CFF96}" srcOrd="2" destOrd="0" presId="urn:microsoft.com/office/officeart/2018/2/layout/IconVerticalSolidList"/>
    <dgm:cxn modelId="{E3E210F7-D3B2-4B70-B0C6-D4828340DB27}" type="presParOf" srcId="{EB7E8A70-27D5-4887-8DD1-915E5941A206}" destId="{89A77659-DA26-4D13-9AE5-FE52AA51A7BF}" srcOrd="3" destOrd="0" presId="urn:microsoft.com/office/officeart/2018/2/layout/IconVerticalSolidList"/>
    <dgm:cxn modelId="{4A1B7229-33A2-4543-9279-9D840730BC28}" type="presParOf" srcId="{A2817918-7B99-429F-946C-F99208CDB5D8}" destId="{8DEF9F42-A979-451C-9C00-274A1F8AEA73}" srcOrd="3" destOrd="0" presId="urn:microsoft.com/office/officeart/2018/2/layout/IconVerticalSolidList"/>
    <dgm:cxn modelId="{741FF2BC-42B8-4E93-9955-957269B47AED}" type="presParOf" srcId="{A2817918-7B99-429F-946C-F99208CDB5D8}" destId="{670FBBD0-B575-4B23-ADEF-8C723C740D5E}" srcOrd="4" destOrd="0" presId="urn:microsoft.com/office/officeart/2018/2/layout/IconVerticalSolidList"/>
    <dgm:cxn modelId="{3E6EFA7C-81B0-4EA3-BA21-FEBC2217FFDA}" type="presParOf" srcId="{670FBBD0-B575-4B23-ADEF-8C723C740D5E}" destId="{AB028285-E38D-4C23-87DA-7A4F20D1C00A}" srcOrd="0" destOrd="0" presId="urn:microsoft.com/office/officeart/2018/2/layout/IconVerticalSolidList"/>
    <dgm:cxn modelId="{40869CB0-02A6-426B-84B8-587F228C7A88}" type="presParOf" srcId="{670FBBD0-B575-4B23-ADEF-8C723C740D5E}" destId="{9678A1C2-28E3-49BD-9EE3-82DAE73376CC}" srcOrd="1" destOrd="0" presId="urn:microsoft.com/office/officeart/2018/2/layout/IconVerticalSolidList"/>
    <dgm:cxn modelId="{82498E35-71F1-4770-B7A8-B723920B4182}" type="presParOf" srcId="{670FBBD0-B575-4B23-ADEF-8C723C740D5E}" destId="{E459B320-D3BE-42ED-9E3E-0CCDD0131945}" srcOrd="2" destOrd="0" presId="urn:microsoft.com/office/officeart/2018/2/layout/IconVerticalSolidList"/>
    <dgm:cxn modelId="{EB740296-462B-4CAA-AC4E-5647EA50E4E8}" type="presParOf" srcId="{670FBBD0-B575-4B23-ADEF-8C723C740D5E}" destId="{661F4132-A5C3-4175-A2A1-409C82326BF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634514-E90E-476C-97D8-546DB6D85510}">
      <dsp:nvSpPr>
        <dsp:cNvPr id="0" name=""/>
        <dsp:cNvSpPr/>
      </dsp:nvSpPr>
      <dsp:spPr>
        <a:xfrm>
          <a:off x="0" y="672366"/>
          <a:ext cx="6102220" cy="7698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1. </a:t>
          </a:r>
          <a:r>
            <a:rPr lang="en-US" sz="1400" kern="1200" dirty="0" err="1"/>
            <a:t>Untuk</a:t>
          </a:r>
          <a:r>
            <a:rPr lang="en-US" sz="1400" kern="1200" dirty="0"/>
            <a:t> </a:t>
          </a:r>
          <a:r>
            <a:rPr lang="en-US" sz="1400" kern="1200" dirty="0" err="1"/>
            <a:t>analisis</a:t>
          </a:r>
          <a:r>
            <a:rPr lang="en-US" sz="1400" kern="1200" dirty="0"/>
            <a:t>, </a:t>
          </a:r>
          <a:r>
            <a:rPr lang="en-US" sz="1400" kern="1200" dirty="0" err="1"/>
            <a:t>seperti</a:t>
          </a:r>
          <a:r>
            <a:rPr lang="en-US" sz="1400" kern="1200" dirty="0"/>
            <a:t> </a:t>
          </a:r>
          <a:r>
            <a:rPr lang="en-US" sz="1400" kern="1200" dirty="0" err="1"/>
            <a:t>cara</a:t>
          </a:r>
          <a:r>
            <a:rPr lang="en-US" sz="1400" kern="1200" dirty="0"/>
            <a:t> </a:t>
          </a:r>
          <a:r>
            <a:rPr lang="en-US" sz="1400" kern="1200" dirty="0" err="1"/>
            <a:t>kerja</a:t>
          </a:r>
          <a:r>
            <a:rPr lang="en-US" sz="1400" kern="1200" dirty="0"/>
            <a:t> </a:t>
          </a:r>
          <a:r>
            <a:rPr lang="en-US" sz="1400" kern="1200" dirty="0" err="1"/>
            <a:t>perangkat</a:t>
          </a:r>
          <a:r>
            <a:rPr lang="en-US" sz="1400" kern="1200" dirty="0"/>
            <a:t> </a:t>
          </a:r>
          <a:r>
            <a:rPr lang="en-US" sz="1400" kern="1200" dirty="0" err="1"/>
            <a:t>elektronik</a:t>
          </a:r>
          <a:r>
            <a:rPr lang="en-US" sz="1400" kern="1200" dirty="0"/>
            <a:t> </a:t>
          </a:r>
          <a:r>
            <a:rPr lang="en-US" sz="1400" kern="1200" dirty="0" err="1"/>
            <a:t>dengan</a:t>
          </a:r>
          <a:r>
            <a:rPr lang="en-US" sz="1400" kern="1200" dirty="0"/>
            <a:t> diagram </a:t>
          </a:r>
          <a:r>
            <a:rPr lang="en-US" sz="1400" kern="1200" dirty="0" err="1"/>
            <a:t>rangkaian</a:t>
          </a:r>
          <a:r>
            <a:rPr lang="en-US" sz="1400" kern="1200" dirty="0"/>
            <a:t> dan </a:t>
          </a:r>
          <a:r>
            <a:rPr lang="en-US" sz="1400" kern="1200" dirty="0" err="1"/>
            <a:t>perilaku</a:t>
          </a:r>
          <a:r>
            <a:rPr lang="en-US" sz="1400" kern="1200" dirty="0"/>
            <a:t> gas </a:t>
          </a:r>
          <a:r>
            <a:rPr lang="en-US" sz="1400" kern="1200" dirty="0" err="1"/>
            <a:t>ditelusuri</a:t>
          </a:r>
          <a:r>
            <a:rPr lang="en-US" sz="1400" kern="1200" dirty="0"/>
            <a:t> </a:t>
          </a:r>
          <a:r>
            <a:rPr lang="en-US" sz="1400" kern="1200" dirty="0" err="1"/>
            <a:t>dengan</a:t>
          </a:r>
          <a:r>
            <a:rPr lang="en-US" sz="1400" kern="1200" dirty="0"/>
            <a:t> </a:t>
          </a:r>
          <a:r>
            <a:rPr lang="en-US" sz="1400" kern="1200" dirty="0" err="1"/>
            <a:t>hukumk</a:t>
          </a:r>
          <a:r>
            <a:rPr lang="en-US" sz="1400" kern="1200" dirty="0"/>
            <a:t> Boyle-Gay </a:t>
          </a:r>
          <a:r>
            <a:rPr lang="en-US" sz="1400" kern="1200" dirty="0" err="1"/>
            <a:t>Lusac</a:t>
          </a:r>
          <a:r>
            <a:rPr lang="en-US" sz="1400" kern="1200" dirty="0"/>
            <a:t> </a:t>
          </a:r>
          <a:r>
            <a:rPr lang="en-US" sz="1400" kern="1200" dirty="0" err="1"/>
            <a:t>yaituPV</a:t>
          </a:r>
          <a:r>
            <a:rPr lang="en-US" sz="1400" kern="1200" dirty="0"/>
            <a:t> = </a:t>
          </a:r>
          <a:r>
            <a:rPr lang="en-US" sz="1400" kern="1200" dirty="0" err="1"/>
            <a:t>nrt</a:t>
          </a:r>
          <a:r>
            <a:rPr lang="en-US" sz="1400" kern="1200" dirty="0"/>
            <a:t>.</a:t>
          </a:r>
        </a:p>
      </dsp:txBody>
      <dsp:txXfrm>
        <a:off x="37581" y="709947"/>
        <a:ext cx="6027058" cy="694697"/>
      </dsp:txXfrm>
    </dsp:sp>
    <dsp:sp modelId="{B47D2F22-3A82-42B6-8520-CA9E0CE88081}">
      <dsp:nvSpPr>
        <dsp:cNvPr id="0" name=""/>
        <dsp:cNvSpPr/>
      </dsp:nvSpPr>
      <dsp:spPr>
        <a:xfrm>
          <a:off x="0" y="1482545"/>
          <a:ext cx="6102220" cy="7698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2. Untuk berkomunikasi mengenai masalah kependudukan dengan jelas disampaikan melalui grafik dan karakteristik lensa dinyatakan dengan persamaan ; = + ′</a:t>
          </a:r>
        </a:p>
      </dsp:txBody>
      <dsp:txXfrm>
        <a:off x="37581" y="1520126"/>
        <a:ext cx="6027058" cy="694697"/>
      </dsp:txXfrm>
    </dsp:sp>
    <dsp:sp modelId="{902A9CD6-A626-417B-AFA8-A8A7E00052EB}">
      <dsp:nvSpPr>
        <dsp:cNvPr id="0" name=""/>
        <dsp:cNvSpPr/>
      </dsp:nvSpPr>
      <dsp:spPr>
        <a:xfrm>
          <a:off x="0" y="2292726"/>
          <a:ext cx="6102220" cy="7698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3. Untuk melakukan prediksi pada ramalan cuaca dengan model yang disusun dari data temperatur, kecepatan angin, tekanan dan kelembaban udara, dan jumlah penduduk 5 tahun yang akandatang diramalkan dari jumlah penduduk sekarang.</a:t>
          </a:r>
        </a:p>
      </dsp:txBody>
      <dsp:txXfrm>
        <a:off x="37581" y="2330307"/>
        <a:ext cx="6027058" cy="694697"/>
      </dsp:txXfrm>
    </dsp:sp>
    <dsp:sp modelId="{6E4ABD58-32CA-401C-8C7F-161BD2E8D8B1}">
      <dsp:nvSpPr>
        <dsp:cNvPr id="0" name=""/>
        <dsp:cNvSpPr/>
      </dsp:nvSpPr>
      <dsp:spPr>
        <a:xfrm>
          <a:off x="0" y="3102906"/>
          <a:ext cx="6102220" cy="7698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4. Untuk pengendalian seperti pada pembangunan Gedung yang disesuaikan dengan modelnya dan lintasan pesawat ruang angkasa.</a:t>
          </a:r>
        </a:p>
      </dsp:txBody>
      <dsp:txXfrm>
        <a:off x="37581" y="3140487"/>
        <a:ext cx="6027058" cy="694697"/>
      </dsp:txXfrm>
    </dsp:sp>
    <dsp:sp modelId="{D148BF4C-E453-4787-BDEE-BA096931065B}">
      <dsp:nvSpPr>
        <dsp:cNvPr id="0" name=""/>
        <dsp:cNvSpPr/>
      </dsp:nvSpPr>
      <dsp:spPr>
        <a:xfrm>
          <a:off x="0" y="3913086"/>
          <a:ext cx="6102220" cy="7698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5. Untuk berlatih atau simulasi seperti seorang calon astronot yang berlatih dengan model pesawat ruang angkasa.</a:t>
          </a:r>
        </a:p>
      </dsp:txBody>
      <dsp:txXfrm>
        <a:off x="37581" y="3950667"/>
        <a:ext cx="6027058" cy="69469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74CC06-AED5-4EF8-9403-09F18A4C83EC}">
      <dsp:nvSpPr>
        <dsp:cNvPr id="0" name=""/>
        <dsp:cNvSpPr/>
      </dsp:nvSpPr>
      <dsp:spPr>
        <a:xfrm>
          <a:off x="0" y="21833"/>
          <a:ext cx="9367203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Model ikonik yaitu suatu model yang memberikan visualisasi/peragaan dari masalah yang ditinjau.</a:t>
          </a:r>
          <a:endParaRPr lang="en-US" sz="1900" kern="1200"/>
        </a:p>
      </dsp:txBody>
      <dsp:txXfrm>
        <a:off x="36896" y="58729"/>
        <a:ext cx="9293411" cy="682028"/>
      </dsp:txXfrm>
    </dsp:sp>
    <dsp:sp modelId="{9D55253C-F282-4D83-AB87-D49A861414ED}">
      <dsp:nvSpPr>
        <dsp:cNvPr id="0" name=""/>
        <dsp:cNvSpPr/>
      </dsp:nvSpPr>
      <dsp:spPr>
        <a:xfrm>
          <a:off x="0" y="832373"/>
          <a:ext cx="9367203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Contoh ; maket, foto, grafik, dan diagram.</a:t>
          </a:r>
          <a:endParaRPr lang="en-US" sz="1900" kern="1200"/>
        </a:p>
      </dsp:txBody>
      <dsp:txXfrm>
        <a:off x="36896" y="869269"/>
        <a:ext cx="9293411" cy="682028"/>
      </dsp:txXfrm>
    </dsp:sp>
    <dsp:sp modelId="{2D604C8B-33E8-489C-A147-98186B677BB6}">
      <dsp:nvSpPr>
        <dsp:cNvPr id="0" name=""/>
        <dsp:cNvSpPr/>
      </dsp:nvSpPr>
      <dsp:spPr>
        <a:xfrm>
          <a:off x="0" y="1642914"/>
          <a:ext cx="9367203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2. Model analog yaitu model yang didasarkan pada keserupaan gejala yang ditunjukkan oleh masalah dan yang dimiliki model.</a:t>
          </a:r>
          <a:endParaRPr lang="en-US" sz="1900" kern="1200"/>
        </a:p>
      </dsp:txBody>
      <dsp:txXfrm>
        <a:off x="36896" y="1679810"/>
        <a:ext cx="9293411" cy="682028"/>
      </dsp:txXfrm>
    </dsp:sp>
    <dsp:sp modelId="{98ECF5B4-4CAA-4051-ADBF-EB3DA17252D8}">
      <dsp:nvSpPr>
        <dsp:cNvPr id="0" name=""/>
        <dsp:cNvSpPr/>
      </dsp:nvSpPr>
      <dsp:spPr>
        <a:xfrm>
          <a:off x="0" y="2453454"/>
          <a:ext cx="9367203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Contoh; pertigaan simpang jalan dan arus listrik, gelombang air dan gelombang suara.</a:t>
          </a:r>
          <a:endParaRPr lang="en-US" sz="1900" kern="1200"/>
        </a:p>
      </dsp:txBody>
      <dsp:txXfrm>
        <a:off x="36896" y="2490350"/>
        <a:ext cx="9293411" cy="682028"/>
      </dsp:txXfrm>
    </dsp:sp>
    <dsp:sp modelId="{FCD7F52C-1758-40BE-9CB6-E4B0B2DF3EAE}">
      <dsp:nvSpPr>
        <dsp:cNvPr id="0" name=""/>
        <dsp:cNvSpPr/>
      </dsp:nvSpPr>
      <dsp:spPr>
        <a:xfrm>
          <a:off x="0" y="3263994"/>
          <a:ext cx="9367203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3. Model matematika yaitu model yang menyatakan kuantitatif, permasalahan dinyatakan dengan persamaan matematika.</a:t>
          </a:r>
          <a:endParaRPr lang="en-US" sz="1900" kern="1200"/>
        </a:p>
      </dsp:txBody>
      <dsp:txXfrm>
        <a:off x="36896" y="3300890"/>
        <a:ext cx="9293411" cy="68202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FB702F-B46D-4E29-B642-E94DC54CA9DF}">
      <dsp:nvSpPr>
        <dsp:cNvPr id="0" name=""/>
        <dsp:cNvSpPr/>
      </dsp:nvSpPr>
      <dsp:spPr>
        <a:xfrm>
          <a:off x="0" y="719"/>
          <a:ext cx="6588691" cy="168437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E9C28F-8A10-4F18-AA5D-14342D7F566E}">
      <dsp:nvSpPr>
        <dsp:cNvPr id="0" name=""/>
        <dsp:cNvSpPr/>
      </dsp:nvSpPr>
      <dsp:spPr>
        <a:xfrm>
          <a:off x="509522" y="379703"/>
          <a:ext cx="926404" cy="92640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D8B63F-826E-4538-A332-3DE8B6DF74AF}">
      <dsp:nvSpPr>
        <dsp:cNvPr id="0" name=""/>
        <dsp:cNvSpPr/>
      </dsp:nvSpPr>
      <dsp:spPr>
        <a:xfrm>
          <a:off x="1945450" y="719"/>
          <a:ext cx="4643240" cy="16843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8263" tIns="178263" rIns="178263" bIns="17826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1. </a:t>
          </a:r>
          <a:r>
            <a:rPr lang="en-US" sz="1900" b="1" kern="1200" dirty="0" err="1"/>
            <a:t>Metode</a:t>
          </a:r>
          <a:r>
            <a:rPr lang="en-US" sz="1900" b="1" kern="1200" dirty="0"/>
            <a:t> </a:t>
          </a:r>
          <a:r>
            <a:rPr lang="en-US" sz="1900" b="1" kern="1200" dirty="0" err="1"/>
            <a:t>Analitik</a:t>
          </a:r>
          <a:r>
            <a:rPr lang="en-US" sz="1900" kern="1200" dirty="0"/>
            <a:t>, </a:t>
          </a:r>
          <a:r>
            <a:rPr lang="en-US" sz="1900" kern="1200" dirty="0" err="1"/>
            <a:t>metode</a:t>
          </a:r>
          <a:r>
            <a:rPr lang="en-US" sz="1900" kern="1200" dirty="0"/>
            <a:t> </a:t>
          </a:r>
          <a:r>
            <a:rPr lang="en-US" sz="1900" kern="1200" dirty="0" err="1"/>
            <a:t>ini</a:t>
          </a:r>
          <a:r>
            <a:rPr lang="en-US" sz="1900" kern="1200" dirty="0"/>
            <a:t> sangat </a:t>
          </a:r>
          <a:r>
            <a:rPr lang="en-US" sz="1900" kern="1200" dirty="0" err="1"/>
            <a:t>berguna</a:t>
          </a:r>
          <a:r>
            <a:rPr lang="en-US" sz="1900" kern="1200" dirty="0"/>
            <a:t> </a:t>
          </a:r>
          <a:r>
            <a:rPr lang="en-US" sz="1900" kern="1200" dirty="0" err="1"/>
            <a:t>namun</a:t>
          </a:r>
          <a:r>
            <a:rPr lang="en-US" sz="1900" kern="1200" dirty="0"/>
            <a:t> </a:t>
          </a:r>
          <a:r>
            <a:rPr lang="en-US" sz="1900" kern="1200" dirty="0" err="1"/>
            <a:t>terbatas</a:t>
          </a:r>
          <a:r>
            <a:rPr lang="en-US" sz="1900" kern="1200" dirty="0"/>
            <a:t> pada masalah </a:t>
          </a:r>
          <a:r>
            <a:rPr lang="en-US" sz="1900" kern="1200" dirty="0" err="1"/>
            <a:t>sederhana</a:t>
          </a:r>
          <a:r>
            <a:rPr lang="en-US" sz="1900" kern="1200" dirty="0"/>
            <a:t>. </a:t>
          </a:r>
          <a:r>
            <a:rPr lang="en-US" sz="1900" kern="1200" dirty="0" err="1"/>
            <a:t>Sedangkan</a:t>
          </a:r>
          <a:r>
            <a:rPr lang="en-US" sz="1900" kern="1200" dirty="0"/>
            <a:t> masalah </a:t>
          </a:r>
          <a:r>
            <a:rPr lang="en-US" sz="1900" kern="1200" dirty="0" err="1"/>
            <a:t>riil</a:t>
          </a:r>
          <a:r>
            <a:rPr lang="en-US" sz="1900" kern="1200" dirty="0"/>
            <a:t> yang </a:t>
          </a:r>
          <a:r>
            <a:rPr lang="en-US" sz="1900" kern="1200" dirty="0" err="1"/>
            <a:t>kompleks</a:t>
          </a:r>
          <a:r>
            <a:rPr lang="en-US" sz="1900" kern="1200" dirty="0"/>
            <a:t> dan </a:t>
          </a:r>
          <a:r>
            <a:rPr lang="en-US" sz="1900" kern="1200" dirty="0" err="1"/>
            <a:t>nonlinier</a:t>
          </a:r>
          <a:r>
            <a:rPr lang="en-US" sz="1900" kern="1200" dirty="0"/>
            <a:t> </a:t>
          </a:r>
          <a:r>
            <a:rPr lang="en-US" sz="1900" kern="1200" dirty="0" err="1"/>
            <a:t>sulit</a:t>
          </a:r>
          <a:r>
            <a:rPr lang="en-US" sz="1900" kern="1200" dirty="0"/>
            <a:t>/</a:t>
          </a:r>
          <a:r>
            <a:rPr lang="en-US" sz="1900" kern="1200" dirty="0" err="1"/>
            <a:t>tidak</a:t>
          </a:r>
          <a:r>
            <a:rPr lang="en-US" sz="1900" kern="1200" dirty="0"/>
            <a:t> </a:t>
          </a:r>
          <a:r>
            <a:rPr lang="en-US" sz="1900" kern="1200" dirty="0" err="1"/>
            <a:t>dapat</a:t>
          </a:r>
          <a:r>
            <a:rPr lang="en-US" sz="1900" kern="1200" dirty="0"/>
            <a:t> </a:t>
          </a:r>
          <a:r>
            <a:rPr lang="en-US" sz="1900" kern="1200" dirty="0" err="1"/>
            <a:t>diselesaikan</a:t>
          </a:r>
          <a:r>
            <a:rPr lang="en-US" sz="1900" kern="1200" dirty="0"/>
            <a:t>.</a:t>
          </a:r>
        </a:p>
      </dsp:txBody>
      <dsp:txXfrm>
        <a:off x="1945450" y="719"/>
        <a:ext cx="4643240" cy="1684372"/>
      </dsp:txXfrm>
    </dsp:sp>
    <dsp:sp modelId="{28285A3B-678E-43E2-9ADF-2DE6F1BDE0A3}">
      <dsp:nvSpPr>
        <dsp:cNvPr id="0" name=""/>
        <dsp:cNvSpPr/>
      </dsp:nvSpPr>
      <dsp:spPr>
        <a:xfrm>
          <a:off x="0" y="2106185"/>
          <a:ext cx="6588691" cy="168437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BD13F1-7915-49F7-AEA8-EC7936318D63}">
      <dsp:nvSpPr>
        <dsp:cNvPr id="0" name=""/>
        <dsp:cNvSpPr/>
      </dsp:nvSpPr>
      <dsp:spPr>
        <a:xfrm>
          <a:off x="509522" y="2485169"/>
          <a:ext cx="926404" cy="92640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A77659-DA26-4D13-9AE5-FE52AA51A7BF}">
      <dsp:nvSpPr>
        <dsp:cNvPr id="0" name=""/>
        <dsp:cNvSpPr/>
      </dsp:nvSpPr>
      <dsp:spPr>
        <a:xfrm>
          <a:off x="1945450" y="2106185"/>
          <a:ext cx="4643240" cy="16843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8263" tIns="178263" rIns="178263" bIns="17826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2. </a:t>
          </a:r>
          <a:r>
            <a:rPr lang="en-US" sz="1900" b="1" kern="1200" dirty="0" err="1"/>
            <a:t>Metode</a:t>
          </a:r>
          <a:r>
            <a:rPr lang="en-US" sz="1900" b="1" kern="1200" dirty="0"/>
            <a:t> </a:t>
          </a:r>
          <a:r>
            <a:rPr lang="en-US" sz="1900" b="1" kern="1200" dirty="0" err="1"/>
            <a:t>Grafik</a:t>
          </a:r>
          <a:r>
            <a:rPr lang="en-US" sz="1900" kern="1200" dirty="0"/>
            <a:t>, </a:t>
          </a:r>
          <a:r>
            <a:rPr lang="en-US" sz="1900" kern="1200" dirty="0" err="1"/>
            <a:t>metode</a:t>
          </a:r>
          <a:r>
            <a:rPr lang="en-US" sz="1900" kern="1200" dirty="0"/>
            <a:t> </a:t>
          </a:r>
          <a:r>
            <a:rPr lang="en-US" sz="1900" kern="1200" dirty="0" err="1"/>
            <a:t>ini</a:t>
          </a:r>
          <a:r>
            <a:rPr lang="en-US" sz="1900" kern="1200" dirty="0"/>
            <a:t> </a:t>
          </a:r>
          <a:r>
            <a:rPr lang="en-US" sz="1900" kern="1200" dirty="0" err="1"/>
            <a:t>digunakan</a:t>
          </a:r>
          <a:r>
            <a:rPr lang="en-US" sz="1900" kern="1200" dirty="0"/>
            <a:t> </a:t>
          </a:r>
          <a:r>
            <a:rPr lang="en-US" sz="1900" kern="1200" dirty="0" err="1"/>
            <a:t>sebagai</a:t>
          </a:r>
          <a:r>
            <a:rPr lang="en-US" sz="1900" kern="1200" dirty="0"/>
            <a:t> </a:t>
          </a:r>
          <a:r>
            <a:rPr lang="en-US" sz="1900" kern="1200" dirty="0" err="1"/>
            <a:t>pendekatan</a:t>
          </a:r>
          <a:r>
            <a:rPr lang="en-US" sz="1900" kern="1200" dirty="0"/>
            <a:t> </a:t>
          </a:r>
          <a:r>
            <a:rPr lang="en-US" sz="1900" kern="1200" dirty="0" err="1"/>
            <a:t>penyelesaian</a:t>
          </a:r>
          <a:r>
            <a:rPr lang="en-US" sz="1900" kern="1200" dirty="0"/>
            <a:t> yang </a:t>
          </a:r>
          <a:r>
            <a:rPr lang="en-US" sz="1900" kern="1200" dirty="0" err="1"/>
            <a:t>kompleks</a:t>
          </a:r>
          <a:r>
            <a:rPr lang="en-US" sz="1900" kern="1200" dirty="0"/>
            <a:t>. </a:t>
          </a:r>
          <a:r>
            <a:rPr lang="en-US" sz="1900" kern="1200" dirty="0" err="1"/>
            <a:t>Kendalanya</a:t>
          </a:r>
          <a:r>
            <a:rPr lang="en-US" sz="1900" kern="1200" dirty="0"/>
            <a:t> </a:t>
          </a:r>
          <a:r>
            <a:rPr lang="en-US" sz="1900" kern="1200" dirty="0" err="1"/>
            <a:t>bahwa</a:t>
          </a:r>
          <a:r>
            <a:rPr lang="en-US" sz="1900" kern="1200" dirty="0"/>
            <a:t> </a:t>
          </a:r>
          <a:r>
            <a:rPr lang="en-US" sz="1900" kern="1200" dirty="0" err="1"/>
            <a:t>metode</a:t>
          </a:r>
          <a:r>
            <a:rPr lang="en-US" sz="1900" kern="1200" dirty="0"/>
            <a:t> </a:t>
          </a:r>
          <a:r>
            <a:rPr lang="en-US" sz="1900" kern="1200" dirty="0" err="1"/>
            <a:t>ini</a:t>
          </a:r>
          <a:r>
            <a:rPr lang="en-US" sz="1900" kern="1200" dirty="0"/>
            <a:t> </a:t>
          </a:r>
          <a:r>
            <a:rPr lang="en-US" sz="1900" kern="1200" dirty="0" err="1"/>
            <a:t>tidak</a:t>
          </a:r>
          <a:r>
            <a:rPr lang="en-US" sz="1900" kern="1200" dirty="0"/>
            <a:t> </a:t>
          </a:r>
          <a:r>
            <a:rPr lang="en-US" sz="1900" kern="1200" dirty="0" err="1"/>
            <a:t>akurat</a:t>
          </a:r>
          <a:r>
            <a:rPr lang="en-US" sz="1900" kern="1200" dirty="0"/>
            <a:t>, sangat lama, dan </a:t>
          </a:r>
          <a:r>
            <a:rPr lang="en-US" sz="1900" kern="1200" dirty="0" err="1"/>
            <a:t>banyak</a:t>
          </a:r>
          <a:r>
            <a:rPr lang="en-US" sz="1900" kern="1200" dirty="0"/>
            <a:t> </a:t>
          </a:r>
          <a:r>
            <a:rPr lang="en-US" sz="1900" kern="1200" dirty="0" err="1"/>
            <a:t>membutuhkan</a:t>
          </a:r>
          <a:r>
            <a:rPr lang="en-US" sz="1900" kern="1200" dirty="0"/>
            <a:t> </a:t>
          </a:r>
          <a:r>
            <a:rPr lang="en-US" sz="1900" kern="1200" dirty="0" err="1"/>
            <a:t>waktu</a:t>
          </a:r>
          <a:r>
            <a:rPr lang="en-US" sz="1900" kern="1200" dirty="0"/>
            <a:t>.</a:t>
          </a:r>
        </a:p>
      </dsp:txBody>
      <dsp:txXfrm>
        <a:off x="1945450" y="2106185"/>
        <a:ext cx="4643240" cy="1684372"/>
      </dsp:txXfrm>
    </dsp:sp>
    <dsp:sp modelId="{AB028285-E38D-4C23-87DA-7A4F20D1C00A}">
      <dsp:nvSpPr>
        <dsp:cNvPr id="0" name=""/>
        <dsp:cNvSpPr/>
      </dsp:nvSpPr>
      <dsp:spPr>
        <a:xfrm>
          <a:off x="0" y="4211650"/>
          <a:ext cx="6588691" cy="168437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78A1C2-28E3-49BD-9EE3-82DAE73376CC}">
      <dsp:nvSpPr>
        <dsp:cNvPr id="0" name=""/>
        <dsp:cNvSpPr/>
      </dsp:nvSpPr>
      <dsp:spPr>
        <a:xfrm>
          <a:off x="509522" y="4590634"/>
          <a:ext cx="926404" cy="92640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1F4132-A5C3-4175-A2A1-409C82326BF1}">
      <dsp:nvSpPr>
        <dsp:cNvPr id="0" name=""/>
        <dsp:cNvSpPr/>
      </dsp:nvSpPr>
      <dsp:spPr>
        <a:xfrm>
          <a:off x="1945450" y="4211650"/>
          <a:ext cx="4643240" cy="16843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8263" tIns="178263" rIns="178263" bIns="17826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3.</a:t>
          </a:r>
          <a:r>
            <a:rPr lang="en-US" sz="1900" b="1" kern="1200" dirty="0"/>
            <a:t> </a:t>
          </a:r>
          <a:r>
            <a:rPr lang="en-US" sz="1900" b="1" kern="1200" dirty="0" err="1"/>
            <a:t>Kalkulator</a:t>
          </a:r>
          <a:r>
            <a:rPr lang="en-US" sz="1900" b="1" kern="1200" dirty="0"/>
            <a:t> dan slide rules</a:t>
          </a:r>
          <a:r>
            <a:rPr lang="en-US" sz="1900" kern="1200" dirty="0"/>
            <a:t>, </a:t>
          </a:r>
          <a:r>
            <a:rPr lang="en-US" sz="1900" kern="1200" dirty="0" err="1"/>
            <a:t>penyelesaian</a:t>
          </a:r>
          <a:r>
            <a:rPr lang="en-US" sz="1900" kern="1200" dirty="0"/>
            <a:t> </a:t>
          </a:r>
          <a:r>
            <a:rPr lang="en-US" sz="1900" kern="1200" dirty="0" err="1"/>
            <a:t>numerik</a:t>
          </a:r>
          <a:r>
            <a:rPr lang="en-US" sz="1900" kern="1200" dirty="0"/>
            <a:t> </a:t>
          </a:r>
          <a:r>
            <a:rPr lang="en-US" sz="1900" kern="1200" dirty="0" err="1"/>
            <a:t>secara</a:t>
          </a:r>
          <a:r>
            <a:rPr lang="en-US" sz="1900" kern="1200" dirty="0"/>
            <a:t> manual. Cara </a:t>
          </a:r>
          <a:r>
            <a:rPr lang="en-US" sz="1900" kern="1200" dirty="0" err="1"/>
            <a:t>ini</a:t>
          </a:r>
          <a:r>
            <a:rPr lang="en-US" sz="1900" kern="1200" dirty="0"/>
            <a:t> </a:t>
          </a:r>
          <a:r>
            <a:rPr lang="en-US" sz="1900" kern="1200" dirty="0" err="1"/>
            <a:t>cukup</a:t>
          </a:r>
          <a:r>
            <a:rPr lang="en-US" sz="1900" kern="1200" dirty="0"/>
            <a:t> lama dan </a:t>
          </a:r>
          <a:r>
            <a:rPr lang="en-US" sz="1900" kern="1200" dirty="0" err="1"/>
            <a:t>mungkin</a:t>
          </a:r>
          <a:r>
            <a:rPr lang="en-US" sz="1900" kern="1200" dirty="0"/>
            <a:t> </a:t>
          </a:r>
          <a:r>
            <a:rPr lang="en-US" sz="1900" kern="1200" dirty="0" err="1"/>
            <a:t>bisa</a:t>
          </a:r>
          <a:r>
            <a:rPr lang="en-US" sz="1900" kern="1200" dirty="0"/>
            <a:t> </a:t>
          </a:r>
          <a:r>
            <a:rPr lang="en-US" sz="1900" kern="1200" dirty="0" err="1"/>
            <a:t>terjadi</a:t>
          </a:r>
          <a:r>
            <a:rPr lang="en-US" sz="1900" kern="1200" dirty="0"/>
            <a:t> </a:t>
          </a:r>
          <a:r>
            <a:rPr lang="en-US" sz="1900" kern="1200" dirty="0" err="1"/>
            <a:t>kesalahan</a:t>
          </a:r>
          <a:r>
            <a:rPr lang="en-US" sz="1900" kern="1200" dirty="0"/>
            <a:t> </a:t>
          </a:r>
          <a:r>
            <a:rPr lang="en-US" sz="1900" kern="1200" dirty="0" err="1"/>
            <a:t>pemasukan</a:t>
          </a:r>
          <a:r>
            <a:rPr lang="en-US" sz="1900" kern="1200" dirty="0"/>
            <a:t> data.</a:t>
          </a:r>
        </a:p>
      </dsp:txBody>
      <dsp:txXfrm>
        <a:off x="1945450" y="4211650"/>
        <a:ext cx="4643240" cy="16843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9F9C41-3D6D-40DA-A817-544FF813B30C}" type="datetimeFigureOut">
              <a:rPr lang="en-ID" smtClean="0"/>
              <a:t>03/09/2021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8010C8-ABB4-48BA-AA1C-2D0B09E8735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80966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A1FDA-4F84-4036-AEF0-0ADFB233BBC5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8922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A1FDA-4F84-4036-AEF0-0ADFB233BBC5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9557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A1FDA-4F84-4036-AEF0-0ADFB233BBC5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12353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A1FDA-4F84-4036-AEF0-0ADFB233BBC5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90813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A1FDA-4F84-4036-AEF0-0ADFB233BBC5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88394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A1FDA-4F84-4036-AEF0-0ADFB233BBC5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2942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A1FDA-4F84-4036-AEF0-0ADFB233BBC5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395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82043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58865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682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6A74D-1C8D-4400-A44B-18C61420D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6136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314F5-9B88-4A10-889F-F5ED67983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86613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F2F78-41F6-4DBD-A49B-20619A862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13582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3B74E-CCD6-46A2-96AD-028888784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13963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CF78D-0AC0-4E71-8350-3BC2A8E43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15785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1"/>
            <a:ext cx="12192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38924"/>
            <a:ext cx="111928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456D31B-DA89-4FCC-A0CF-973CBA8BD493}"/>
              </a:ext>
            </a:extLst>
          </p:cNvPr>
          <p:cNvSpPr txBox="1"/>
          <p:nvPr userDrawn="1"/>
        </p:nvSpPr>
        <p:spPr>
          <a:xfrm>
            <a:off x="1218924" y="166670"/>
            <a:ext cx="5886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PROGRAM STUDI S1 TEKNIK INFORMATIKA</a:t>
            </a:r>
            <a:br>
              <a:rPr lang="en-US" sz="2400" dirty="0"/>
            </a:br>
            <a:r>
              <a:rPr lang="en-US" sz="2400" dirty="0"/>
              <a:t>UNIVERSITAS PAMULANG</a:t>
            </a:r>
            <a:endParaRPr lang="en-ID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60A43D-3921-41B8-B4DC-C239EAEA84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352" y="0"/>
            <a:ext cx="2143648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59788E57-52DB-4E2B-A81F-D18E71DA02CB}"/>
              </a:ext>
            </a:extLst>
          </p:cNvPr>
          <p:cNvSpPr/>
          <p:nvPr userDrawn="1"/>
        </p:nvSpPr>
        <p:spPr>
          <a:xfrm>
            <a:off x="0" y="6360607"/>
            <a:ext cx="12192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8BF5A5-79AC-4428-A4CF-F44278AA4D6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255" y="6422940"/>
            <a:ext cx="453018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F13C787-49DC-45B2-99DA-FD9DF4541EF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6419057"/>
            <a:ext cx="380491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C0EC3BD-0F33-4AAF-A3A2-953764A0D99A}"/>
              </a:ext>
            </a:extLst>
          </p:cNvPr>
          <p:cNvSpPr txBox="1"/>
          <p:nvPr userDrawn="1"/>
        </p:nvSpPr>
        <p:spPr>
          <a:xfrm>
            <a:off x="480133" y="6412026"/>
            <a:ext cx="1793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InfoTI_unpam</a:t>
            </a:r>
            <a:endParaRPr lang="en-ID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CFA357-EB7B-4C90-B08D-FF68109B966A}"/>
              </a:ext>
            </a:extLst>
          </p:cNvPr>
          <p:cNvSpPr txBox="1"/>
          <p:nvPr userDrawn="1"/>
        </p:nvSpPr>
        <p:spPr>
          <a:xfrm>
            <a:off x="2527388" y="6412026"/>
            <a:ext cx="269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informatika.unpam.ac.id</a:t>
            </a:r>
            <a:endParaRPr lang="en-ID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10FF8DC-21DB-400A-A27F-9751868D2AFC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996" y="6412026"/>
            <a:ext cx="648362" cy="458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310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5">
            <a:extLst>
              <a:ext uri="{FF2B5EF4-FFF2-40B4-BE49-F238E27FC236}">
                <a16:creationId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59788E57-52DB-4E2B-A81F-D18E71DA02CB}"/>
              </a:ext>
            </a:extLst>
          </p:cNvPr>
          <p:cNvSpPr/>
          <p:nvPr userDrawn="1"/>
        </p:nvSpPr>
        <p:spPr>
          <a:xfrm>
            <a:off x="0" y="6360607"/>
            <a:ext cx="12192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8BF5A5-79AC-4428-A4CF-F44278AA4D6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255" y="6422940"/>
            <a:ext cx="453018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F13C787-49DC-45B2-99DA-FD9DF4541EF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6419057"/>
            <a:ext cx="380491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C0EC3BD-0F33-4AAF-A3A2-953764A0D99A}"/>
              </a:ext>
            </a:extLst>
          </p:cNvPr>
          <p:cNvSpPr txBox="1"/>
          <p:nvPr userDrawn="1"/>
        </p:nvSpPr>
        <p:spPr>
          <a:xfrm>
            <a:off x="480133" y="6412026"/>
            <a:ext cx="1793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InfoTI_unpam</a:t>
            </a:r>
            <a:endParaRPr lang="en-ID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CFA357-EB7B-4C90-B08D-FF68109B966A}"/>
              </a:ext>
            </a:extLst>
          </p:cNvPr>
          <p:cNvSpPr txBox="1"/>
          <p:nvPr userDrawn="1"/>
        </p:nvSpPr>
        <p:spPr>
          <a:xfrm>
            <a:off x="2527388" y="6412026"/>
            <a:ext cx="269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informatika.unpam.ac.id</a:t>
            </a:r>
            <a:endParaRPr lang="en-ID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10FF8DC-21DB-400A-A27F-9751868D2AF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996" y="6412026"/>
            <a:ext cx="648362" cy="4587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0E9772E-AF4F-4C17-B477-D78352308CB6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590" y="6366986"/>
            <a:ext cx="512406" cy="49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861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7710A05-4BC0-4640-9166-A8A038BAD88C}"/>
              </a:ext>
            </a:extLst>
          </p:cNvPr>
          <p:cNvSpPr txBox="1"/>
          <p:nvPr userDrawn="1"/>
        </p:nvSpPr>
        <p:spPr>
          <a:xfrm>
            <a:off x="3898760" y="2622619"/>
            <a:ext cx="51949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TERIMA KASIH</a:t>
            </a:r>
            <a:endParaRPr lang="en-ID" sz="5400" dirty="0"/>
          </a:p>
        </p:txBody>
      </p:sp>
    </p:spTree>
    <p:extLst>
      <p:ext uri="{BB962C8B-B14F-4D97-AF65-F5344CB8AC3E}">
        <p14:creationId xmlns:p14="http://schemas.microsoft.com/office/powerpoint/2010/main" val="321173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38F377F8-55ED-4437-98B9-2D2AA5DD3B4A}"/>
              </a:ext>
            </a:extLst>
          </p:cNvPr>
          <p:cNvSpPr/>
          <p:nvPr userDrawn="1"/>
        </p:nvSpPr>
        <p:spPr>
          <a:xfrm>
            <a:off x="0" y="2582426"/>
            <a:ext cx="12192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TERIMA KASIH, MAHASISWA TEKNIK INFORMATIKA UNGGUL, ANDA SUDAH BELAJAR DENGAN LUAR BIASA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973921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65A30DD-8BE8-42A1-85CC-D069AF516FB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2057400"/>
            <a:ext cx="4876800" cy="27432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38F377F8-55ED-4437-98B9-2D2AA5DD3B4A}"/>
              </a:ext>
            </a:extLst>
          </p:cNvPr>
          <p:cNvSpPr/>
          <p:nvPr userDrawn="1"/>
        </p:nvSpPr>
        <p:spPr>
          <a:xfrm>
            <a:off x="0" y="0"/>
            <a:ext cx="12192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TERIMA KASIH, MAHASISWA TEKNIK INFORMATIKA UNGGUL, ANDA SUDAH BELAJAR DENGAN LUAR BIASA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404665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1"/>
            <a:ext cx="12192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38924"/>
            <a:ext cx="111928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456D31B-DA89-4FCC-A0CF-973CBA8BD493}"/>
              </a:ext>
            </a:extLst>
          </p:cNvPr>
          <p:cNvSpPr txBox="1"/>
          <p:nvPr userDrawn="1"/>
        </p:nvSpPr>
        <p:spPr>
          <a:xfrm>
            <a:off x="1218924" y="166670"/>
            <a:ext cx="5886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PROGRAM STUDI S1 TEKNIK INFORMATIKA</a:t>
            </a:r>
            <a:br>
              <a:rPr lang="en-US" sz="2400" dirty="0"/>
            </a:br>
            <a:r>
              <a:rPr lang="en-US" sz="2400" dirty="0"/>
              <a:t>UNIVERSITAS PAMULANG</a:t>
            </a:r>
            <a:endParaRPr lang="en-ID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60A43D-3921-41B8-B4DC-C239EAEA84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352" y="0"/>
            <a:ext cx="2143648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FA5E565-A9FD-45A9-9262-E4CE87B5C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32988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40609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7122B0-D188-4F1B-9170-48FB515F7D1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085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ED9D48E-EC15-454D-AFD8-DFA10B4F141B}"/>
              </a:ext>
            </a:extLst>
          </p:cNvPr>
          <p:cNvSpPr txBox="1">
            <a:spLocks/>
          </p:cNvSpPr>
          <p:nvPr/>
        </p:nvSpPr>
        <p:spPr>
          <a:xfrm>
            <a:off x="1709530" y="1350435"/>
            <a:ext cx="8713993" cy="26161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METODE NUMERIK</a:t>
            </a:r>
            <a:endParaRPr lang="en-GB" sz="4800" b="1" dirty="0">
              <a:ln w="10160">
                <a:solidFill>
                  <a:schemeClr val="tx1"/>
                </a:solidFill>
                <a:prstDash val="solid"/>
              </a:ln>
              <a:solidFill>
                <a:srgbClr val="00B0F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5FC42A2-1F0A-4C30-A0B1-C8DA61F0F7CD}"/>
              </a:ext>
            </a:extLst>
          </p:cNvPr>
          <p:cNvSpPr txBox="1">
            <a:spLocks/>
          </p:cNvSpPr>
          <p:nvPr/>
        </p:nvSpPr>
        <p:spPr>
          <a:xfrm>
            <a:off x="4192894" y="3238501"/>
            <a:ext cx="3321090" cy="728133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PERTEMUAN</a:t>
            </a:r>
            <a:r>
              <a:rPr lang="en-US" sz="3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1</a:t>
            </a:r>
            <a:endParaRPr lang="en-GB" sz="3600" b="1" dirty="0">
              <a:ln w="10160">
                <a:solidFill>
                  <a:schemeClr val="tx1"/>
                </a:solidFill>
                <a:prstDash val="solid"/>
              </a:ln>
              <a:solidFill>
                <a:schemeClr val="accent4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52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086643" y="1938435"/>
            <a:ext cx="10018713" cy="2184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sz="80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PENGENALAN </a:t>
            </a:r>
          </a:p>
          <a:p>
            <a:r>
              <a:rPr lang="en-US" sz="80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METODE NUMERIK</a:t>
            </a:r>
          </a:p>
        </p:txBody>
      </p:sp>
    </p:spTree>
    <p:extLst>
      <p:ext uri="{BB962C8B-B14F-4D97-AF65-F5344CB8AC3E}">
        <p14:creationId xmlns:p14="http://schemas.microsoft.com/office/powerpoint/2010/main" val="1678572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98ED85F-DCEE-4B50-802E-71A6E3E12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4000"/>
            </a:schemeClr>
          </a:solidFill>
          <a:ln w="127000" cap="sq" cmpd="thinThick">
            <a:solidFill>
              <a:schemeClr val="tx1">
                <a:lumMod val="85000"/>
                <a:lumOff val="15000"/>
                <a:alpha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1911CC-BFB2-4ECE-92D3-5E6530B52EC3}"/>
              </a:ext>
            </a:extLst>
          </p:cNvPr>
          <p:cNvSpPr txBox="1">
            <a:spLocks/>
          </p:cNvSpPr>
          <p:nvPr/>
        </p:nvSpPr>
        <p:spPr>
          <a:xfrm>
            <a:off x="838200" y="6318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TUJUAN PEMBELAJARAN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8E35B83-1EC3-4F87-9D54-D86346335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97636" y="1957388"/>
            <a:ext cx="10396728" cy="0"/>
          </a:xfrm>
          <a:prstGeom prst="line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486636F-1EA6-4076-8B2A-236A0A53817B}"/>
              </a:ext>
            </a:extLst>
          </p:cNvPr>
          <p:cNvSpPr txBox="1"/>
          <p:nvPr/>
        </p:nvSpPr>
        <p:spPr>
          <a:xfrm>
            <a:off x="838200" y="2269173"/>
            <a:ext cx="10515600" cy="36599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2400" dirty="0"/>
              <a:t>1. </a:t>
            </a:r>
            <a:r>
              <a:rPr lang="en-US" sz="2400" dirty="0" err="1"/>
              <a:t>memahami</a:t>
            </a:r>
            <a:r>
              <a:rPr lang="en-US" sz="2400" dirty="0"/>
              <a:t> </a:t>
            </a:r>
            <a:r>
              <a:rPr lang="en-US" sz="2400" dirty="0" err="1"/>
              <a:t>pemodelan</a:t>
            </a:r>
            <a:r>
              <a:rPr lang="en-US" sz="2400" dirty="0"/>
              <a:t> </a:t>
            </a:r>
            <a:r>
              <a:rPr lang="en-US" sz="2400" dirty="0" err="1"/>
              <a:t>matematika</a:t>
            </a:r>
            <a:endParaRPr lang="en-US" sz="2400" dirty="0"/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2400" dirty="0"/>
              <a:t>2. </a:t>
            </a:r>
            <a:r>
              <a:rPr lang="en-US" sz="2400" dirty="0" err="1"/>
              <a:t>memahami</a:t>
            </a:r>
            <a:r>
              <a:rPr lang="en-US" sz="2400" dirty="0"/>
              <a:t> </a:t>
            </a:r>
            <a:r>
              <a:rPr lang="en-US" sz="2400" dirty="0" err="1"/>
              <a:t>perbedaan</a:t>
            </a:r>
            <a:r>
              <a:rPr lang="en-US" sz="2400" dirty="0"/>
              <a:t> </a:t>
            </a:r>
            <a:r>
              <a:rPr lang="en-US" sz="2400" dirty="0" err="1"/>
              <a:t>antara</a:t>
            </a:r>
            <a:r>
              <a:rPr lang="en-US" sz="2400" dirty="0"/>
              <a:t> </a:t>
            </a:r>
            <a:r>
              <a:rPr lang="en-US" sz="2400" dirty="0" err="1"/>
              <a:t>metode</a:t>
            </a:r>
            <a:r>
              <a:rPr lang="en-US" sz="2400" dirty="0"/>
              <a:t> </a:t>
            </a:r>
            <a:r>
              <a:rPr lang="en-US" sz="2400" dirty="0" err="1"/>
              <a:t>analitik</a:t>
            </a:r>
            <a:r>
              <a:rPr lang="en-US" sz="2400" dirty="0"/>
              <a:t> dan </a:t>
            </a:r>
            <a:r>
              <a:rPr lang="en-US" sz="2400" dirty="0" err="1"/>
              <a:t>metode</a:t>
            </a:r>
            <a:r>
              <a:rPr lang="en-US" sz="2400" dirty="0"/>
              <a:t> </a:t>
            </a:r>
            <a:r>
              <a:rPr lang="en-US" sz="2400" dirty="0" err="1"/>
              <a:t>numerik</a:t>
            </a:r>
            <a:r>
              <a:rPr lang="en-US" sz="2400" dirty="0"/>
              <a:t> 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2400" dirty="0"/>
              <a:t>3. </a:t>
            </a:r>
            <a:r>
              <a:rPr lang="en-US" sz="2400" dirty="0" err="1"/>
              <a:t>memahami</a:t>
            </a:r>
            <a:r>
              <a:rPr lang="en-US" sz="2400" dirty="0"/>
              <a:t> </a:t>
            </a:r>
            <a:r>
              <a:rPr lang="en-US" sz="2400" dirty="0" err="1"/>
              <a:t>prinsip-prinsip</a:t>
            </a:r>
            <a:r>
              <a:rPr lang="en-US" sz="2400" dirty="0"/>
              <a:t> </a:t>
            </a:r>
            <a:r>
              <a:rPr lang="en-US" sz="2400" dirty="0" err="1"/>
              <a:t>menggunakan</a:t>
            </a:r>
            <a:r>
              <a:rPr lang="en-US" sz="2400" dirty="0"/>
              <a:t> </a:t>
            </a:r>
            <a:r>
              <a:rPr lang="en-US" sz="2400" dirty="0" err="1"/>
              <a:t>metode</a:t>
            </a:r>
            <a:r>
              <a:rPr lang="en-US" sz="2400" dirty="0"/>
              <a:t> </a:t>
            </a:r>
            <a:r>
              <a:rPr lang="en-US" sz="2400" dirty="0" err="1"/>
              <a:t>numerik</a:t>
            </a:r>
            <a:r>
              <a:rPr lang="en-US" sz="2400" dirty="0"/>
              <a:t>,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2400" dirty="0"/>
              <a:t>4. </a:t>
            </a:r>
            <a:r>
              <a:rPr lang="en-US" sz="2400" dirty="0" err="1"/>
              <a:t>memahami</a:t>
            </a:r>
            <a:r>
              <a:rPr lang="en-US" sz="2400" dirty="0"/>
              <a:t> </a:t>
            </a:r>
            <a:r>
              <a:rPr lang="en-US" sz="2400" dirty="0" err="1"/>
              <a:t>tahapan-tahapan</a:t>
            </a:r>
            <a:r>
              <a:rPr lang="en-US" sz="2400" dirty="0"/>
              <a:t> </a:t>
            </a:r>
            <a:r>
              <a:rPr lang="en-US" sz="2400" dirty="0" err="1"/>
              <a:t>penyelesaian</a:t>
            </a:r>
            <a:r>
              <a:rPr lang="en-US" sz="2400" dirty="0"/>
              <a:t> masalah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metode</a:t>
            </a:r>
            <a:r>
              <a:rPr lang="en-US" sz="2400" dirty="0"/>
              <a:t> </a:t>
            </a:r>
            <a:r>
              <a:rPr lang="en-US" sz="2400" dirty="0" err="1"/>
              <a:t>numerik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90909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334278" y="437843"/>
            <a:ext cx="6809741" cy="12936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 algn="l">
              <a:spcBef>
                <a:spcPct val="0"/>
              </a:spcBef>
              <a:spcAft>
                <a:spcPts val="600"/>
              </a:spcAft>
            </a:pPr>
            <a:r>
              <a:rPr lang="en-US" sz="3200" kern="1200" dirty="0">
                <a:solidFill>
                  <a:srgbClr val="FFC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PEMODELAN MATEMATIKA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0AC12A-E655-4BAB-AE2C-888111C1B9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938" y="2542939"/>
            <a:ext cx="7539496" cy="258227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388221" y="1264645"/>
            <a:ext cx="3359842" cy="367498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 lnSpcReduction="20000"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b="0" i="0" u="none" strike="noStrike" baseline="0" dirty="0">
                <a:solidFill>
                  <a:schemeClr val="tx1"/>
                </a:solidFill>
              </a:rPr>
              <a:t>Model </a:t>
            </a:r>
            <a:r>
              <a:rPr lang="en-US" b="0" i="0" u="none" strike="noStrike" baseline="0" dirty="0" err="1">
                <a:solidFill>
                  <a:schemeClr val="tx1"/>
                </a:solidFill>
              </a:rPr>
              <a:t>dibuat</a:t>
            </a:r>
            <a:r>
              <a:rPr lang="en-US" b="0" i="0" u="none" strike="noStrike" baseline="0" dirty="0">
                <a:solidFill>
                  <a:schemeClr val="tx1"/>
                </a:solidFill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</a:rPr>
              <a:t>untuk</a:t>
            </a:r>
            <a:r>
              <a:rPr lang="en-US" b="0" i="0" u="none" strike="noStrike" baseline="0" dirty="0">
                <a:solidFill>
                  <a:schemeClr val="tx1"/>
                </a:solidFill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</a:rPr>
              <a:t>memudahkan</a:t>
            </a:r>
            <a:r>
              <a:rPr lang="en-US" b="0" i="0" u="none" strike="noStrike" baseline="0" dirty="0">
                <a:solidFill>
                  <a:schemeClr val="tx1"/>
                </a:solidFill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</a:rPr>
              <a:t>dalam</a:t>
            </a:r>
            <a:r>
              <a:rPr lang="en-US" b="0" i="0" u="none" strike="noStrike" baseline="0" dirty="0">
                <a:solidFill>
                  <a:schemeClr val="tx1"/>
                </a:solidFill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</a:rPr>
              <a:t>menganalisis</a:t>
            </a:r>
            <a:r>
              <a:rPr lang="en-US" b="0" i="0" u="none" strike="noStrike" baseline="0" dirty="0">
                <a:solidFill>
                  <a:schemeClr val="tx1"/>
                </a:solidFill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</a:rPr>
              <a:t>suatu</a:t>
            </a:r>
            <a:r>
              <a:rPr lang="en-US" b="0" i="0" u="none" strike="noStrike" baseline="0" dirty="0">
                <a:solidFill>
                  <a:schemeClr val="tx1"/>
                </a:solidFill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</a:rPr>
              <a:t>permasalahan</a:t>
            </a:r>
            <a:r>
              <a:rPr lang="en-US" b="0" i="0" u="none" strike="noStrike" baseline="0" dirty="0">
                <a:solidFill>
                  <a:schemeClr val="tx1"/>
                </a:solidFill>
              </a:rPr>
              <a:t>. Arti model </a:t>
            </a:r>
            <a:r>
              <a:rPr lang="en-US" b="0" i="0" u="none" strike="noStrike" baseline="0" dirty="0" err="1">
                <a:solidFill>
                  <a:schemeClr val="tx1"/>
                </a:solidFill>
              </a:rPr>
              <a:t>dalam</a:t>
            </a:r>
            <a:r>
              <a:rPr lang="en-US" b="0" i="0" u="none" strike="noStrike" baseline="0" dirty="0">
                <a:solidFill>
                  <a:schemeClr val="tx1"/>
                </a:solidFill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</a:rPr>
              <a:t>teknik</a:t>
            </a:r>
            <a:r>
              <a:rPr lang="en-US" b="0" i="0" u="none" strike="noStrike" baseline="0" dirty="0">
                <a:solidFill>
                  <a:schemeClr val="tx1"/>
                </a:solidFill>
              </a:rPr>
              <a:t>/</a:t>
            </a:r>
            <a:r>
              <a:rPr lang="en-US" b="0" i="0" u="none" strike="noStrike" baseline="0" dirty="0" err="1">
                <a:solidFill>
                  <a:schemeClr val="tx1"/>
                </a:solidFill>
              </a:rPr>
              <a:t>sains</a:t>
            </a:r>
            <a:r>
              <a:rPr lang="en-US" b="0" i="0" u="none" strike="noStrike" baseline="0" dirty="0">
                <a:solidFill>
                  <a:schemeClr val="tx1"/>
                </a:solidFill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</a:rPr>
              <a:t>adalah</a:t>
            </a:r>
            <a:r>
              <a:rPr lang="en-US" b="0" i="0" u="none" strike="noStrike" baseline="0" dirty="0">
                <a:solidFill>
                  <a:schemeClr val="tx1"/>
                </a:solidFill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</a:rPr>
              <a:t>representasi</a:t>
            </a:r>
            <a:r>
              <a:rPr lang="en-US" b="0" i="0" u="none" strike="noStrike" baseline="0" dirty="0">
                <a:solidFill>
                  <a:schemeClr val="tx1"/>
                </a:solidFill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</a:rPr>
              <a:t>suatu</a:t>
            </a:r>
            <a:r>
              <a:rPr lang="en-US" b="0" i="0" u="none" strike="noStrike" baseline="0" dirty="0">
                <a:solidFill>
                  <a:schemeClr val="tx1"/>
                </a:solidFill>
              </a:rPr>
              <a:t> masalah </a:t>
            </a:r>
            <a:r>
              <a:rPr lang="en-US" b="0" i="0" u="none" strike="noStrike" baseline="0" dirty="0" err="1">
                <a:solidFill>
                  <a:schemeClr val="tx1"/>
                </a:solidFill>
              </a:rPr>
              <a:t>dalam</a:t>
            </a:r>
            <a:r>
              <a:rPr lang="en-US" b="0" i="0" u="none" strike="noStrike" baseline="0" dirty="0">
                <a:solidFill>
                  <a:schemeClr val="tx1"/>
                </a:solidFill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</a:rPr>
              <a:t>bentuk</a:t>
            </a:r>
            <a:r>
              <a:rPr lang="en-US" b="0" i="0" u="none" strike="noStrike" baseline="0" dirty="0">
                <a:solidFill>
                  <a:schemeClr val="tx1"/>
                </a:solidFill>
              </a:rPr>
              <a:t> yang </a:t>
            </a:r>
            <a:r>
              <a:rPr lang="en-US" b="0" i="0" u="none" strike="noStrike" baseline="0" dirty="0" err="1">
                <a:solidFill>
                  <a:schemeClr val="tx1"/>
                </a:solidFill>
              </a:rPr>
              <a:t>lebih</a:t>
            </a:r>
            <a:r>
              <a:rPr lang="en-US" b="0" i="0" u="none" strike="noStrike" baseline="0" dirty="0">
                <a:solidFill>
                  <a:schemeClr val="tx1"/>
                </a:solidFill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</a:rPr>
              <a:t>sederhana</a:t>
            </a:r>
            <a:r>
              <a:rPr lang="en-US" b="0" i="0" u="none" strike="noStrike" baseline="0" dirty="0">
                <a:solidFill>
                  <a:schemeClr val="tx1"/>
                </a:solidFill>
              </a:rPr>
              <a:t> dan </a:t>
            </a:r>
            <a:r>
              <a:rPr lang="en-US" b="0" i="0" u="none" strike="noStrike" baseline="0" dirty="0" err="1">
                <a:solidFill>
                  <a:schemeClr val="tx1"/>
                </a:solidFill>
              </a:rPr>
              <a:t>mudah</a:t>
            </a:r>
            <a:r>
              <a:rPr lang="en-US" b="0" i="0" u="none" strike="noStrike" baseline="0" dirty="0">
                <a:solidFill>
                  <a:schemeClr val="tx1"/>
                </a:solidFill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</a:rPr>
              <a:t>dikerjakakan</a:t>
            </a:r>
            <a:r>
              <a:rPr lang="en-US" b="0" i="0" u="none" strike="noStrike" baseline="0" dirty="0">
                <a:solidFill>
                  <a:schemeClr val="tx1"/>
                </a:solidFill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</a:rPr>
              <a:t>dalam</a:t>
            </a:r>
            <a:r>
              <a:rPr lang="en-US" b="0" i="0" u="none" strike="noStrike" baseline="0" dirty="0">
                <a:solidFill>
                  <a:schemeClr val="tx1"/>
                </a:solidFill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</a:rPr>
              <a:t>menyelesaikannya</a:t>
            </a:r>
            <a:r>
              <a:rPr lang="en-US" b="0" i="0" u="none" strike="noStrike" baseline="0" dirty="0">
                <a:solidFill>
                  <a:schemeClr val="tx1"/>
                </a:solidFill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</a:rPr>
              <a:t>untuk</a:t>
            </a:r>
            <a:r>
              <a:rPr lang="en-US" b="0" i="0" u="none" strike="noStrike" baseline="0" dirty="0">
                <a:solidFill>
                  <a:schemeClr val="tx1"/>
                </a:solidFill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</a:rPr>
              <a:t>dianalisis</a:t>
            </a:r>
            <a:r>
              <a:rPr lang="en-US" b="0" i="0" u="none" strike="noStrike" baseline="0" dirty="0">
                <a:solidFill>
                  <a:schemeClr val="tx1"/>
                </a:solidFill>
              </a:rPr>
              <a:t> dan </a:t>
            </a:r>
            <a:r>
              <a:rPr lang="en-US" b="0" i="0" u="none" strike="noStrike" baseline="0" dirty="0" err="1">
                <a:solidFill>
                  <a:schemeClr val="tx1"/>
                </a:solidFill>
              </a:rPr>
              <a:t>dievaluasiuntuk</a:t>
            </a:r>
            <a:r>
              <a:rPr lang="en-US" b="0" i="0" u="none" strike="noStrike" baseline="0" dirty="0">
                <a:solidFill>
                  <a:schemeClr val="tx1"/>
                </a:solidFill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</a:rPr>
              <a:t>menghemat</a:t>
            </a:r>
            <a:r>
              <a:rPr lang="en-US" b="0" i="0" u="none" strike="noStrike" baseline="0" dirty="0">
                <a:solidFill>
                  <a:schemeClr val="tx1"/>
                </a:solidFill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</a:rPr>
              <a:t>waktu</a:t>
            </a:r>
            <a:r>
              <a:rPr lang="en-US" b="0" i="0" u="none" strike="noStrike" baseline="0" dirty="0">
                <a:solidFill>
                  <a:schemeClr val="tx1"/>
                </a:solidFill>
              </a:rPr>
              <a:t>, </a:t>
            </a:r>
            <a:r>
              <a:rPr lang="en-US" b="0" i="0" u="none" strike="noStrike" baseline="0" dirty="0" err="1">
                <a:solidFill>
                  <a:schemeClr val="tx1"/>
                </a:solidFill>
              </a:rPr>
              <a:t>biaya</a:t>
            </a:r>
            <a:r>
              <a:rPr lang="en-US" b="0" i="0" u="none" strike="noStrike" baseline="0" dirty="0">
                <a:solidFill>
                  <a:schemeClr val="tx1"/>
                </a:solidFill>
              </a:rPr>
              <a:t> dan </a:t>
            </a:r>
            <a:r>
              <a:rPr lang="en-US" b="0" i="0" u="none" strike="noStrike" baseline="0" dirty="0" err="1">
                <a:solidFill>
                  <a:schemeClr val="tx1"/>
                </a:solidFill>
              </a:rPr>
              <a:t>resiko</a:t>
            </a:r>
            <a:r>
              <a:rPr lang="en-US" b="0" i="0" u="none" strike="noStrike" baseline="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25" name="Freeform: Shape 22">
            <a:extLst>
              <a:ext uri="{FF2B5EF4-FFF2-40B4-BE49-F238E27FC236}">
                <a16:creationId xmlns:a16="http://schemas.microsoft.com/office/drawing/2014/main" id="{43573EFB-E773-46FC-B866-B57ED2E390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7983434" y="640080"/>
            <a:ext cx="2296028" cy="3569741"/>
          </a:xfrm>
          <a:custGeom>
            <a:avLst/>
            <a:gdLst>
              <a:gd name="connsiteX0" fmla="*/ 2296028 w 2296028"/>
              <a:gd name="connsiteY0" fmla="*/ 3569741 h 3569741"/>
              <a:gd name="connsiteX1" fmla="*/ 459 w 2296028"/>
              <a:gd name="connsiteY1" fmla="*/ 3569741 h 3569741"/>
              <a:gd name="connsiteX2" fmla="*/ 0 w 2296028"/>
              <a:gd name="connsiteY2" fmla="*/ 3248180 h 3569741"/>
              <a:gd name="connsiteX3" fmla="*/ 2011607 w 2296028"/>
              <a:gd name="connsiteY3" fmla="*/ 3249283 h 3569741"/>
              <a:gd name="connsiteX4" fmla="*/ 2011607 w 2296028"/>
              <a:gd name="connsiteY4" fmla="*/ 0 h 3569741"/>
              <a:gd name="connsiteX5" fmla="*/ 2296028 w 2296028"/>
              <a:gd name="connsiteY5" fmla="*/ 0 h 356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96028" h="3569741">
                <a:moveTo>
                  <a:pt x="2296028" y="3569741"/>
                </a:moveTo>
                <a:lnTo>
                  <a:pt x="459" y="3569741"/>
                </a:lnTo>
                <a:cubicBezTo>
                  <a:pt x="-459" y="3458756"/>
                  <a:pt x="918" y="3359164"/>
                  <a:pt x="0" y="3248180"/>
                </a:cubicBezTo>
                <a:lnTo>
                  <a:pt x="2011607" y="3249283"/>
                </a:lnTo>
                <a:lnTo>
                  <a:pt x="2011607" y="0"/>
                </a:lnTo>
                <a:lnTo>
                  <a:pt x="2296028" y="0"/>
                </a:lnTo>
                <a:close/>
              </a:path>
            </a:pathLst>
          </a:custGeom>
          <a:solidFill>
            <a:srgbClr val="4C4C4C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4156088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Freeform: Shape 57">
            <a:extLst>
              <a:ext uri="{FF2B5EF4-FFF2-40B4-BE49-F238E27FC236}">
                <a16:creationId xmlns:a16="http://schemas.microsoft.com/office/drawing/2014/main" id="{569BBA9B-8F4E-4D2B-BEFA-41A4754433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-415188" y="-231223"/>
            <a:ext cx="1409491" cy="1876653"/>
          </a:xfrm>
          <a:custGeom>
            <a:avLst/>
            <a:gdLst>
              <a:gd name="connsiteX0" fmla="*/ 0 w 1409491"/>
              <a:gd name="connsiteY0" fmla="*/ 643075 h 1876653"/>
              <a:gd name="connsiteX1" fmla="*/ 643075 w 1409491"/>
              <a:gd name="connsiteY1" fmla="*/ 0 h 1876653"/>
              <a:gd name="connsiteX2" fmla="*/ 1409491 w 1409491"/>
              <a:gd name="connsiteY2" fmla="*/ 0 h 1876653"/>
              <a:gd name="connsiteX3" fmla="*/ 1409491 w 1409491"/>
              <a:gd name="connsiteY3" fmla="*/ 1876653 h 1876653"/>
              <a:gd name="connsiteX4" fmla="*/ 1233578 w 1409491"/>
              <a:gd name="connsiteY4" fmla="*/ 1876653 h 1876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09491" h="1876653">
                <a:moveTo>
                  <a:pt x="0" y="643075"/>
                </a:moveTo>
                <a:lnTo>
                  <a:pt x="643075" y="0"/>
                </a:lnTo>
                <a:lnTo>
                  <a:pt x="1409491" y="0"/>
                </a:lnTo>
                <a:lnTo>
                  <a:pt x="1409491" y="1876653"/>
                </a:lnTo>
                <a:lnTo>
                  <a:pt x="1233578" y="1876653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51012D1-8033-40B1-9EC0-91390FFC74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01285" y="128278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80943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Isosceles Triangle 63">
            <a:extLst>
              <a:ext uri="{FF2B5EF4-FFF2-40B4-BE49-F238E27FC236}">
                <a16:creationId xmlns:a16="http://schemas.microsoft.com/office/drawing/2014/main" id="{D291F021-C45C-4D44-A2B8-A789E386C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3444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 txBox="1">
            <a:spLocks/>
          </p:cNvSpPr>
          <p:nvPr/>
        </p:nvSpPr>
        <p:spPr>
          <a:xfrm>
            <a:off x="239695" y="1655199"/>
            <a:ext cx="4528950" cy="32412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800" kern="12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KEGUNAAN MODEL</a:t>
            </a:r>
          </a:p>
        </p:txBody>
      </p:sp>
      <p:graphicFrame>
        <p:nvGraphicFramePr>
          <p:cNvPr id="66" name="TextBox 8">
            <a:extLst>
              <a:ext uri="{FF2B5EF4-FFF2-40B4-BE49-F238E27FC236}">
                <a16:creationId xmlns:a16="http://schemas.microsoft.com/office/drawing/2014/main" id="{80BB4F87-6810-4F29-8840-C059F45A2B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39792017"/>
              </p:ext>
            </p:extLst>
          </p:nvPr>
        </p:nvGraphicFramePr>
        <p:xfrm>
          <a:off x="5001209" y="299366"/>
          <a:ext cx="6102220" cy="53553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1094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653363" y="365760"/>
            <a:ext cx="9367203" cy="1188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 lvl="0" algn="l">
              <a:spcBef>
                <a:spcPct val="0"/>
              </a:spcBef>
              <a:spcAft>
                <a:spcPts val="600"/>
              </a:spcAft>
            </a:pPr>
            <a:r>
              <a:rPr lang="en-US" sz="4800" i="0" kern="1200" baseline="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JENIS MODEL</a:t>
            </a:r>
            <a:endParaRPr lang="en-US" sz="4800" kern="1200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21" name="TextBox 7">
            <a:extLst>
              <a:ext uri="{FF2B5EF4-FFF2-40B4-BE49-F238E27FC236}">
                <a16:creationId xmlns:a16="http://schemas.microsoft.com/office/drawing/2014/main" id="{1868E722-9547-43EE-9321-4012E53EC0E7}"/>
              </a:ext>
            </a:extLst>
          </p:cNvPr>
          <p:cNvGraphicFramePr/>
          <p:nvPr/>
        </p:nvGraphicFramePr>
        <p:xfrm>
          <a:off x="1653363" y="2176272"/>
          <a:ext cx="9367204" cy="40416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30928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4F626C4-1A3D-461C-9A99-85DF56EF79BC}"/>
              </a:ext>
            </a:extLst>
          </p:cNvPr>
          <p:cNvSpPr txBox="1"/>
          <p:nvPr/>
        </p:nvSpPr>
        <p:spPr>
          <a:xfrm>
            <a:off x="4965431" y="2438400"/>
            <a:ext cx="6586489" cy="37854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en-US" sz="2400" i="0" u="none" strike="noStrike" baseline="0" dirty="0" err="1"/>
              <a:t>Pemodelan</a:t>
            </a:r>
            <a:r>
              <a:rPr lang="en-US" sz="2400" i="0" u="none" strike="noStrike" baseline="0" dirty="0"/>
              <a:t> </a:t>
            </a:r>
            <a:r>
              <a:rPr lang="en-US" sz="2400" i="0" u="none" strike="noStrike" baseline="0" dirty="0" err="1"/>
              <a:t>matematika</a:t>
            </a:r>
            <a:r>
              <a:rPr lang="en-US" sz="2400" i="0" u="none" strike="noStrike" baseline="0" dirty="0"/>
              <a:t> </a:t>
            </a:r>
            <a:r>
              <a:rPr lang="en-US" sz="2400" i="0" u="none" strike="noStrike" baseline="0" dirty="0" err="1"/>
              <a:t>diperlukan</a:t>
            </a:r>
            <a:r>
              <a:rPr lang="en-US" sz="2400" i="0" u="none" strike="noStrike" baseline="0" dirty="0"/>
              <a:t> </a:t>
            </a:r>
            <a:r>
              <a:rPr lang="en-US" sz="2400" i="0" u="none" strike="noStrike" baseline="0" dirty="0" err="1"/>
              <a:t>untuk</a:t>
            </a:r>
            <a:r>
              <a:rPr lang="en-US" sz="2400" i="0" u="none" strike="noStrike" baseline="0" dirty="0"/>
              <a:t> </a:t>
            </a:r>
            <a:r>
              <a:rPr lang="en-US" sz="2400" i="0" u="none" strike="noStrike" baseline="0" dirty="0" err="1"/>
              <a:t>membantu</a:t>
            </a:r>
            <a:r>
              <a:rPr lang="en-US" sz="2400" i="0" u="none" strike="noStrike" baseline="0" dirty="0"/>
              <a:t> </a:t>
            </a:r>
            <a:r>
              <a:rPr lang="en-US" sz="2400" i="0" u="none" strike="noStrike" baseline="0" dirty="0" err="1"/>
              <a:t>menyelesaikan</a:t>
            </a:r>
            <a:r>
              <a:rPr lang="en-US" sz="2400" i="0" u="none" strike="noStrike" baseline="0" dirty="0"/>
              <a:t> </a:t>
            </a:r>
            <a:r>
              <a:rPr lang="en-US" sz="2400" i="0" u="none" strike="noStrike" baseline="0" dirty="0" err="1"/>
              <a:t>permasalahan</a:t>
            </a:r>
            <a:r>
              <a:rPr lang="en-US" sz="2400" i="0" u="none" strike="noStrike" baseline="0" dirty="0"/>
              <a:t> </a:t>
            </a:r>
            <a:r>
              <a:rPr lang="en-US" sz="2400" i="0" u="none" strike="noStrike" baseline="0" dirty="0" err="1"/>
              <a:t>rekayasa</a:t>
            </a:r>
            <a:r>
              <a:rPr lang="en-US" sz="2400" i="0" u="none" strike="noStrike" baseline="0" dirty="0"/>
              <a:t> /</a:t>
            </a:r>
            <a:r>
              <a:rPr lang="en-US" sz="2400" i="0" u="none" strike="noStrike" baseline="0" dirty="0" err="1"/>
              <a:t>permasalahan</a:t>
            </a:r>
            <a:r>
              <a:rPr lang="en-US" sz="2400" i="0" u="none" strike="noStrike" baseline="0" dirty="0"/>
              <a:t> </a:t>
            </a:r>
            <a:r>
              <a:rPr lang="en-US" sz="2400" i="0" u="none" strike="noStrike" baseline="0" dirty="0" err="1"/>
              <a:t>riil</a:t>
            </a:r>
            <a:r>
              <a:rPr lang="en-US" sz="2400" i="0" u="none" strike="noStrike" baseline="0" dirty="0"/>
              <a:t>. Gambaran </a:t>
            </a:r>
            <a:r>
              <a:rPr lang="en-US" sz="2400" i="0" u="none" strike="noStrike" baseline="0" dirty="0" err="1"/>
              <a:t>tahapan</a:t>
            </a:r>
            <a:r>
              <a:rPr lang="en-US" sz="2400" i="0" u="none" strike="noStrike" baseline="0" dirty="0"/>
              <a:t> </a:t>
            </a:r>
            <a:r>
              <a:rPr lang="en-US" sz="2400" i="0" u="none" strike="noStrike" baseline="0" dirty="0" err="1"/>
              <a:t>pemrosesan</a:t>
            </a:r>
            <a:r>
              <a:rPr lang="en-US" sz="2400" i="0" u="none" strike="noStrike" baseline="0" dirty="0"/>
              <a:t> masalah </a:t>
            </a:r>
            <a:r>
              <a:rPr lang="en-US" sz="2400" i="0" u="none" strike="noStrike" baseline="0" dirty="0" err="1"/>
              <a:t>rekayasa</a:t>
            </a:r>
            <a:r>
              <a:rPr lang="en-US" sz="2400" i="0" u="none" strike="noStrike" baseline="0" dirty="0"/>
              <a:t> yang </a:t>
            </a:r>
            <a:r>
              <a:rPr lang="en-US" sz="2400" i="0" u="none" strike="noStrike" baseline="0" dirty="0" err="1"/>
              <a:t>secara</a:t>
            </a:r>
            <a:r>
              <a:rPr lang="en-US" sz="2400" i="0" u="none" strike="noStrike" baseline="0" dirty="0"/>
              <a:t> </a:t>
            </a:r>
            <a:r>
              <a:rPr lang="en-US" sz="2400" i="0" u="none" strike="noStrike" baseline="0" dirty="0" err="1"/>
              <a:t>analitik</a:t>
            </a:r>
            <a:r>
              <a:rPr lang="en-US" sz="2400" i="0" u="none" strike="noStrike" baseline="0" dirty="0"/>
              <a:t> </a:t>
            </a:r>
            <a:r>
              <a:rPr lang="en-US" sz="2400" i="0" u="none" strike="noStrike" baseline="0" dirty="0" err="1"/>
              <a:t>sulit</a:t>
            </a:r>
            <a:r>
              <a:rPr lang="en-US" sz="2400" i="0" u="none" strike="noStrike" baseline="0" dirty="0"/>
              <a:t> </a:t>
            </a:r>
            <a:r>
              <a:rPr lang="en-US" sz="2400" i="0" u="none" strike="noStrike" baseline="0" dirty="0" err="1"/>
              <a:t>diselesaikan</a:t>
            </a:r>
            <a:r>
              <a:rPr lang="en-US" sz="2400" i="0" u="none" strike="noStrike" baseline="0" dirty="0"/>
              <a:t> </a:t>
            </a:r>
            <a:r>
              <a:rPr lang="en-US" sz="2400" i="0" u="none" strike="noStrike" baseline="0" dirty="0" err="1"/>
              <a:t>selanjutnya</a:t>
            </a:r>
            <a:r>
              <a:rPr lang="en-US" sz="2400" i="0" u="none" strike="noStrike" baseline="0" dirty="0"/>
              <a:t> </a:t>
            </a:r>
            <a:r>
              <a:rPr lang="en-US" sz="2400" i="0" u="none" strike="noStrike" baseline="0" dirty="0" err="1"/>
              <a:t>dibawa</a:t>
            </a:r>
            <a:r>
              <a:rPr lang="en-US" sz="2400" i="0" u="none" strike="noStrike" baseline="0" dirty="0"/>
              <a:t> </a:t>
            </a:r>
            <a:r>
              <a:rPr lang="en-US" sz="2400" i="0" u="none" strike="noStrike" baseline="0" dirty="0" err="1"/>
              <a:t>ke</a:t>
            </a:r>
            <a:r>
              <a:rPr lang="en-US" sz="2400" i="0" u="none" strike="noStrike" baseline="0" dirty="0"/>
              <a:t> </a:t>
            </a:r>
            <a:r>
              <a:rPr lang="en-US" sz="2400" i="0" u="none" strike="noStrike" baseline="0" dirty="0" err="1"/>
              <a:t>bentuk</a:t>
            </a:r>
            <a:r>
              <a:rPr lang="en-US" sz="2400" i="0" u="none" strike="noStrike" baseline="0" dirty="0"/>
              <a:t> model </a:t>
            </a:r>
            <a:r>
              <a:rPr lang="en-US" sz="2400" i="0" u="none" strike="noStrike" baseline="0" dirty="0" err="1"/>
              <a:t>matematika</a:t>
            </a:r>
            <a:r>
              <a:rPr lang="en-US" sz="2400" i="0" u="none" strike="noStrike" baseline="0" dirty="0"/>
              <a:t> dan </a:t>
            </a:r>
            <a:r>
              <a:rPr lang="en-US" sz="2400" i="0" u="none" strike="noStrike" baseline="0" dirty="0" err="1"/>
              <a:t>diselesaikan</a:t>
            </a:r>
            <a:r>
              <a:rPr lang="en-US" sz="2400" i="0" u="none" strike="noStrike" baseline="0" dirty="0"/>
              <a:t> </a:t>
            </a:r>
            <a:r>
              <a:rPr lang="en-US" sz="2400" i="0" u="none" strike="noStrike" baseline="0" dirty="0" err="1"/>
              <a:t>secara</a:t>
            </a:r>
            <a:r>
              <a:rPr lang="en-US" sz="2400" i="0" u="none" strike="noStrike" baseline="0" dirty="0"/>
              <a:t> </a:t>
            </a:r>
            <a:r>
              <a:rPr lang="en-US" sz="2400" i="0" u="none" strike="noStrike" baseline="0" dirty="0" err="1"/>
              <a:t>matematik</a:t>
            </a:r>
            <a:r>
              <a:rPr lang="en-US" sz="2400" i="0" u="none" strike="noStrike" baseline="0" dirty="0"/>
              <a:t>, </a:t>
            </a:r>
            <a:r>
              <a:rPr lang="en-US" sz="2400" i="0" u="none" strike="noStrike" baseline="0" dirty="0" err="1"/>
              <a:t>aljabar</a:t>
            </a:r>
            <a:r>
              <a:rPr lang="en-US" sz="2400" i="0" u="none" strike="noStrike" baseline="0" dirty="0"/>
              <a:t> </a:t>
            </a:r>
            <a:r>
              <a:rPr lang="en-US" sz="2400" i="0" u="none" strike="noStrike" baseline="0" dirty="0" err="1"/>
              <a:t>atau</a:t>
            </a:r>
            <a:r>
              <a:rPr lang="en-US" sz="2400" i="0" u="none" strike="noStrike" baseline="0" dirty="0"/>
              <a:t> </a:t>
            </a:r>
            <a:r>
              <a:rPr lang="en-US" sz="2400" i="0" u="none" strike="noStrike" baseline="0" dirty="0" err="1"/>
              <a:t>statistik</a:t>
            </a:r>
            <a:r>
              <a:rPr lang="en-US" sz="2400" i="0" u="none" strike="noStrike" baseline="0" dirty="0"/>
              <a:t> dan </a:t>
            </a:r>
            <a:r>
              <a:rPr lang="en-US" sz="2400" i="0" u="none" strike="noStrike" baseline="0" dirty="0" err="1"/>
              <a:t>komputasi</a:t>
            </a:r>
            <a:r>
              <a:rPr lang="en-US" sz="2400" i="0" u="none" strike="noStrike" baseline="0" dirty="0"/>
              <a:t>.</a:t>
            </a:r>
          </a:p>
        </p:txBody>
      </p:sp>
      <p:pic>
        <p:nvPicPr>
          <p:cNvPr id="22" name="Picture 21" descr="Rumus matematika kompleks di papan tulis">
            <a:extLst>
              <a:ext uri="{FF2B5EF4-FFF2-40B4-BE49-F238E27FC236}">
                <a16:creationId xmlns:a16="http://schemas.microsoft.com/office/drawing/2014/main" id="{63127A1F-C182-4D51-862A-BB3694999DD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290" r="18366" b="-1"/>
          <a:stretch/>
        </p:blipFill>
        <p:spPr>
          <a:xfrm>
            <a:off x="20" y="10"/>
            <a:ext cx="4635571" cy="6322132"/>
          </a:xfrm>
          <a:prstGeom prst="rect">
            <a:avLst/>
          </a:prstGeom>
          <a:effectLst/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922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>
            <a:spLocks/>
          </p:cNvSpPr>
          <p:nvPr/>
        </p:nvSpPr>
        <p:spPr>
          <a:xfrm>
            <a:off x="2267339" y="394110"/>
            <a:ext cx="8125358" cy="889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sz="4400" dirty="0"/>
              <a:t>TAHAPAN PENYELESAIAN MASALAH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F1B80E-FD45-493C-805E-8134542125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4175" y="1076325"/>
            <a:ext cx="6833694" cy="5068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887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9">
            <a:extLst>
              <a:ext uri="{FF2B5EF4-FFF2-40B4-BE49-F238E27FC236}">
                <a16:creationId xmlns:a16="http://schemas.microsoft.com/office/drawing/2014/main" id="{3A5B4632-C963-4296-86F0-79AA9EA5AE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8328" y="303591"/>
            <a:ext cx="4335327" cy="5896743"/>
          </a:xfrm>
          <a:prstGeom prst="rect">
            <a:avLst/>
          </a:prstGeom>
          <a:solidFill>
            <a:schemeClr val="tx1">
              <a:alpha val="15000"/>
            </a:schemeClr>
          </a:solidFill>
          <a:ln w="127000" cap="sq" cmpd="thinThick"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ECA4CA0-2BE7-41F4-A2D7-2CF4D73A58BD}"/>
              </a:ext>
            </a:extLst>
          </p:cNvPr>
          <p:cNvSpPr txBox="1">
            <a:spLocks/>
          </p:cNvSpPr>
          <p:nvPr/>
        </p:nvSpPr>
        <p:spPr>
          <a:xfrm>
            <a:off x="436325" y="637125"/>
            <a:ext cx="4237330" cy="52563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 algn="l">
              <a:spcBef>
                <a:spcPct val="0"/>
              </a:spcBef>
              <a:spcAft>
                <a:spcPts val="600"/>
              </a:spcAft>
            </a:pPr>
            <a:r>
              <a:rPr lang="en-US" sz="4000" kern="1200" dirty="0">
                <a:solidFill>
                  <a:srgbClr val="FFC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PENDEKATAN PENYELESAIAN MASALAH</a:t>
            </a:r>
          </a:p>
        </p:txBody>
      </p:sp>
      <p:graphicFrame>
        <p:nvGraphicFramePr>
          <p:cNvPr id="15" name="TextBox 2">
            <a:extLst>
              <a:ext uri="{FF2B5EF4-FFF2-40B4-BE49-F238E27FC236}">
                <a16:creationId xmlns:a16="http://schemas.microsoft.com/office/drawing/2014/main" id="{A9EAAA55-221C-48A9-954A-26FA0CD252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90505755"/>
              </p:ext>
            </p:extLst>
          </p:nvPr>
        </p:nvGraphicFramePr>
        <p:xfrm>
          <a:off x="5166985" y="303591"/>
          <a:ext cx="6588691" cy="58967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861253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4577360-4A0F-4E8C-8AE9-CDAD2464DBD3}"/>
              </a:ext>
            </a:extLst>
          </p:cNvPr>
          <p:cNvSpPr txBox="1">
            <a:spLocks/>
          </p:cNvSpPr>
          <p:nvPr/>
        </p:nvSpPr>
        <p:spPr>
          <a:xfrm>
            <a:off x="1653363" y="365760"/>
            <a:ext cx="9367203" cy="1188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 algn="l">
              <a:spcBef>
                <a:spcPct val="0"/>
              </a:spcBef>
              <a:spcAft>
                <a:spcPts val="600"/>
              </a:spcAft>
            </a:pPr>
            <a:r>
              <a:rPr lang="en-US" sz="4800" kern="1200" dirty="0">
                <a:solidFill>
                  <a:srgbClr val="FFC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METODE ANALITIK</a:t>
            </a: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50258F-69B4-45D4-84BF-DADCF3FBD1D3}"/>
              </a:ext>
            </a:extLst>
          </p:cNvPr>
          <p:cNvSpPr txBox="1"/>
          <p:nvPr/>
        </p:nvSpPr>
        <p:spPr>
          <a:xfrm>
            <a:off x="1653363" y="2176272"/>
            <a:ext cx="9367204" cy="40416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 err="1"/>
              <a:t>Metode</a:t>
            </a:r>
            <a:r>
              <a:rPr lang="en-US" sz="2400" dirty="0"/>
              <a:t> </a:t>
            </a:r>
            <a:r>
              <a:rPr lang="en-US" sz="2400" dirty="0" err="1"/>
              <a:t>analitik</a:t>
            </a:r>
            <a:r>
              <a:rPr lang="en-US" sz="2400" dirty="0"/>
              <a:t>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teknik</a:t>
            </a:r>
            <a:r>
              <a:rPr lang="en-US" sz="2400" dirty="0"/>
              <a:t> </a:t>
            </a:r>
            <a:r>
              <a:rPr lang="en-US" sz="2400" dirty="0" err="1"/>
              <a:t>penyelesaian</a:t>
            </a:r>
            <a:r>
              <a:rPr lang="en-US" sz="2400" dirty="0"/>
              <a:t> masalah </a:t>
            </a:r>
            <a:r>
              <a:rPr lang="en-US" sz="2400" dirty="0" err="1"/>
              <a:t>matematika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solusi</a:t>
            </a:r>
            <a:r>
              <a:rPr lang="en-US" sz="2400" dirty="0"/>
              <a:t> </a:t>
            </a:r>
            <a:r>
              <a:rPr lang="en-US" sz="2400" dirty="0" err="1"/>
              <a:t>eksak.Metode</a:t>
            </a:r>
            <a:r>
              <a:rPr lang="en-US" sz="2400" dirty="0"/>
              <a:t> </a:t>
            </a:r>
            <a:r>
              <a:rPr lang="en-US" sz="2400" dirty="0" err="1"/>
              <a:t>analitik</a:t>
            </a:r>
            <a:r>
              <a:rPr lang="en-US" sz="2400" dirty="0"/>
              <a:t> </a:t>
            </a:r>
            <a:r>
              <a:rPr lang="en-US" sz="2400" dirty="0" err="1"/>
              <a:t>disebut</a:t>
            </a:r>
            <a:r>
              <a:rPr lang="en-US" sz="2400" dirty="0"/>
              <a:t> juga </a:t>
            </a:r>
            <a:r>
              <a:rPr lang="en-US" sz="2400" dirty="0" err="1"/>
              <a:t>metode</a:t>
            </a:r>
            <a:r>
              <a:rPr lang="en-US" sz="2400" dirty="0"/>
              <a:t> </a:t>
            </a:r>
            <a:r>
              <a:rPr lang="en-US" sz="2400" dirty="0" err="1"/>
              <a:t>sejati</a:t>
            </a:r>
            <a:r>
              <a:rPr lang="en-US" sz="2400" dirty="0"/>
              <a:t> </a:t>
            </a:r>
            <a:r>
              <a:rPr lang="en-US" sz="2400" dirty="0" err="1"/>
              <a:t>karena</a:t>
            </a:r>
            <a:r>
              <a:rPr lang="en-US" sz="2400" dirty="0"/>
              <a:t> </a:t>
            </a:r>
            <a:r>
              <a:rPr lang="en-US" sz="2400" dirty="0" err="1"/>
              <a:t>memberikan</a:t>
            </a:r>
            <a:r>
              <a:rPr lang="en-US" sz="2400" dirty="0"/>
              <a:t> </a:t>
            </a:r>
            <a:r>
              <a:rPr lang="en-US" sz="2400" dirty="0" err="1"/>
              <a:t>solusi</a:t>
            </a:r>
            <a:r>
              <a:rPr lang="en-US" sz="2400" dirty="0"/>
              <a:t> </a:t>
            </a:r>
            <a:r>
              <a:rPr lang="en-US" sz="2400" dirty="0" err="1"/>
              <a:t>sejati</a:t>
            </a:r>
            <a:r>
              <a:rPr lang="en-US" sz="2400" dirty="0"/>
              <a:t> (exact solution)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solusi</a:t>
            </a:r>
            <a:r>
              <a:rPr lang="en-US" sz="2400" dirty="0"/>
              <a:t> yang </a:t>
            </a:r>
            <a:r>
              <a:rPr lang="en-US" sz="2400" dirty="0" err="1"/>
              <a:t>sesungguhnya</a:t>
            </a:r>
            <a:r>
              <a:rPr lang="en-US" sz="2400" dirty="0"/>
              <a:t>, </a:t>
            </a:r>
            <a:r>
              <a:rPr lang="en-US" sz="2400" dirty="0" err="1"/>
              <a:t>yaitu</a:t>
            </a:r>
            <a:r>
              <a:rPr lang="en-US" sz="2400" dirty="0"/>
              <a:t> </a:t>
            </a:r>
            <a:r>
              <a:rPr lang="en-US" sz="2400" dirty="0" err="1"/>
              <a:t>solusi</a:t>
            </a:r>
            <a:r>
              <a:rPr lang="en-US" sz="2400" dirty="0"/>
              <a:t> yang </a:t>
            </a:r>
            <a:r>
              <a:rPr lang="en-US" sz="2400" dirty="0" err="1"/>
              <a:t>memiliki</a:t>
            </a:r>
            <a:r>
              <a:rPr lang="en-US" sz="2400" dirty="0"/>
              <a:t> </a:t>
            </a:r>
            <a:r>
              <a:rPr lang="en-US" sz="2400" dirty="0" err="1"/>
              <a:t>kesalahan</a:t>
            </a:r>
            <a:r>
              <a:rPr lang="en-US" sz="2400" dirty="0"/>
              <a:t>/</a:t>
            </a:r>
            <a:r>
              <a:rPr lang="en-US" sz="2400" dirty="0" err="1"/>
              <a:t>galat</a:t>
            </a:r>
            <a:r>
              <a:rPr lang="en-US" sz="2400" dirty="0"/>
              <a:t> (error) </a:t>
            </a:r>
            <a:r>
              <a:rPr lang="en-US" sz="2400" dirty="0" err="1"/>
              <a:t>sama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nol.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2255DD-FFDA-48D6-A5B8-7EE2E59733C9}"/>
              </a:ext>
            </a:extLst>
          </p:cNvPr>
          <p:cNvSpPr txBox="1"/>
          <p:nvPr/>
        </p:nvSpPr>
        <p:spPr>
          <a:xfrm>
            <a:off x="838200" y="4305251"/>
            <a:ext cx="1045616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b="1" dirty="0" err="1"/>
              <a:t>Contoh</a:t>
            </a:r>
            <a:r>
              <a:rPr lang="en-US" sz="2400" dirty="0"/>
              <a:t> ; </a:t>
            </a:r>
            <a:r>
              <a:rPr lang="en-US" sz="2400" dirty="0" err="1"/>
              <a:t>menghitung</a:t>
            </a:r>
            <a:r>
              <a:rPr lang="en-US" sz="2400" dirty="0"/>
              <a:t> </a:t>
            </a:r>
            <a:r>
              <a:rPr lang="en-US" sz="2400" dirty="0" err="1"/>
              <a:t>luas</a:t>
            </a:r>
            <a:r>
              <a:rPr lang="en-US" sz="2400" dirty="0"/>
              <a:t> </a:t>
            </a:r>
            <a:r>
              <a:rPr lang="en-US" sz="2400" dirty="0" err="1"/>
              <a:t>daerah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integral </a:t>
            </a:r>
            <a:r>
              <a:rPr lang="en-US" sz="2400" dirty="0" err="1"/>
              <a:t>akan</a:t>
            </a:r>
            <a:r>
              <a:rPr lang="en-US" sz="2400" dirty="0"/>
              <a:t> </a:t>
            </a:r>
            <a:r>
              <a:rPr lang="en-US" sz="2400" dirty="0" err="1"/>
              <a:t>diperoleh</a:t>
            </a:r>
            <a:r>
              <a:rPr lang="en-US" sz="2400" dirty="0"/>
              <a:t> </a:t>
            </a:r>
            <a:r>
              <a:rPr lang="en-US" sz="2400" dirty="0" err="1"/>
              <a:t>nilai</a:t>
            </a:r>
            <a:r>
              <a:rPr lang="en-US" sz="2400" dirty="0"/>
              <a:t> </a:t>
            </a:r>
            <a:r>
              <a:rPr lang="en-US" sz="2400" dirty="0" err="1"/>
              <a:t>eksak</a:t>
            </a:r>
            <a:r>
              <a:rPr lang="en-US" sz="2400" dirty="0"/>
              <a:t> </a:t>
            </a:r>
            <a:r>
              <a:rPr lang="en-US" sz="2400" dirty="0" err="1"/>
              <a:t>jika</a:t>
            </a:r>
            <a:r>
              <a:rPr lang="en-US" sz="2400" dirty="0"/>
              <a:t> </a:t>
            </a:r>
            <a:r>
              <a:rPr lang="en-US" sz="2400" dirty="0" err="1"/>
              <a:t>dibandingkan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metode</a:t>
            </a:r>
            <a:r>
              <a:rPr lang="en-US" sz="2400" dirty="0"/>
              <a:t> </a:t>
            </a:r>
            <a:r>
              <a:rPr lang="en-US" sz="2400" dirty="0" err="1"/>
              <a:t>jumlah</a:t>
            </a:r>
            <a:r>
              <a:rPr lang="en-US" sz="2400" dirty="0"/>
              <a:t> </a:t>
            </a:r>
            <a:r>
              <a:rPr lang="en-US" sz="2400" dirty="0" err="1"/>
              <a:t>Rieman</a:t>
            </a:r>
            <a:r>
              <a:rPr lang="en-US" sz="2400" dirty="0"/>
              <a:t>. </a:t>
            </a:r>
            <a:r>
              <a:rPr lang="en-US" sz="2400" dirty="0" err="1"/>
              <a:t>Metode</a:t>
            </a:r>
            <a:r>
              <a:rPr lang="en-US" sz="2400" dirty="0"/>
              <a:t> </a:t>
            </a:r>
            <a:r>
              <a:rPr lang="en-US" sz="2400" dirty="0" err="1"/>
              <a:t>analitik</a:t>
            </a:r>
            <a:r>
              <a:rPr lang="en-US" sz="2400" dirty="0"/>
              <a:t> </a:t>
            </a:r>
            <a:r>
              <a:rPr lang="en-US" sz="2400" dirty="0" err="1"/>
              <a:t>biasanya</a:t>
            </a:r>
            <a:r>
              <a:rPr lang="en-US" sz="2400" dirty="0"/>
              <a:t> </a:t>
            </a:r>
            <a:r>
              <a:rPr lang="en-US" sz="2400" dirty="0" err="1"/>
              <a:t>menghasilkan</a:t>
            </a:r>
            <a:r>
              <a:rPr lang="en-US" sz="2400" dirty="0"/>
              <a:t> </a:t>
            </a:r>
            <a:r>
              <a:rPr lang="en-US" sz="2400" dirty="0" err="1"/>
              <a:t>solusi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bentuk</a:t>
            </a:r>
            <a:r>
              <a:rPr lang="en-US" sz="2400" dirty="0"/>
              <a:t> </a:t>
            </a:r>
            <a:r>
              <a:rPr lang="en-US" sz="2400" dirty="0" err="1"/>
              <a:t>fungsi</a:t>
            </a:r>
            <a:r>
              <a:rPr lang="en-US" sz="2400" dirty="0"/>
              <a:t> </a:t>
            </a:r>
            <a:r>
              <a:rPr lang="en-US" sz="2400" dirty="0" err="1"/>
              <a:t>matematika</a:t>
            </a:r>
            <a:r>
              <a:rPr lang="en-US" sz="2400" dirty="0"/>
              <a:t> dan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dievaluasi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menghasilkan</a:t>
            </a:r>
            <a:r>
              <a:rPr lang="en-US" sz="2400" dirty="0"/>
              <a:t> </a:t>
            </a:r>
            <a:r>
              <a:rPr lang="en-US" sz="2400" dirty="0" err="1"/>
              <a:t>nilai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bentuk</a:t>
            </a:r>
            <a:r>
              <a:rPr lang="en-US" sz="2400" dirty="0"/>
              <a:t> </a:t>
            </a:r>
            <a:r>
              <a:rPr lang="en-US" sz="2400" dirty="0" err="1"/>
              <a:t>angka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85590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090611" y="241301"/>
            <a:ext cx="10018713" cy="889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DEFINISI METODE NUMERIK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1090611" y="1270000"/>
            <a:ext cx="10018713" cy="4953518"/>
          </a:xfrm>
          <a:prstGeom prst="rect">
            <a:avLst/>
          </a:prstGeom>
        </p:spPr>
        <p:txBody>
          <a:bodyPr numCol="1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Metode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numerik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adalah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Teknik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penyelesaian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permasalahan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diformulasikan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secara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matematis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cara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operasi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hitungan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metode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numerik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ini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dilakukan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operasi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hitungan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jumlah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banyak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prosesnya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berulang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Sehingga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prakteknya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perlu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bantuan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computer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menyelesaikan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hitungan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tersebut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Tanpa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bantuan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komputer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metode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numerik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tidak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banyak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memberikan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manfaat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35338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090611" y="241301"/>
            <a:ext cx="10018713" cy="889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sz="5400" dirty="0"/>
              <a:t>PENERAPAN METODE NUMERIK</a:t>
            </a:r>
            <a:endParaRPr lang="en-GB" sz="5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A38B24D-B86C-4959-B9B3-98BBF989E1C3}"/>
              </a:ext>
            </a:extLst>
          </p:cNvPr>
          <p:cNvSpPr txBox="1"/>
          <p:nvPr/>
        </p:nvSpPr>
        <p:spPr>
          <a:xfrm>
            <a:off x="3631831" y="5098083"/>
            <a:ext cx="7338362" cy="923330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just"/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Meskipun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telah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dilakukan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penyederhanaan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namun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sering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persamaan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tersebut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bisa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diselesaikan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secara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analitis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diperlukan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numerik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menyelesaikannya</a:t>
            </a:r>
            <a:endParaRPr lang="en-ID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A5F56C-02C5-4EFA-973B-A1742FCC3FB7}"/>
              </a:ext>
            </a:extLst>
          </p:cNvPr>
          <p:cNvSpPr txBox="1"/>
          <p:nvPr/>
        </p:nvSpPr>
        <p:spPr>
          <a:xfrm>
            <a:off x="1387485" y="1298252"/>
            <a:ext cx="9436025" cy="337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 err="1"/>
              <a:t>Metode</a:t>
            </a:r>
            <a:r>
              <a:rPr lang="en-US" dirty="0"/>
              <a:t> </a:t>
            </a:r>
            <a:r>
              <a:rPr lang="en-US" dirty="0" err="1"/>
              <a:t>numerik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berbagai</a:t>
            </a:r>
            <a:r>
              <a:rPr lang="en-US" dirty="0"/>
              <a:t> </a:t>
            </a:r>
            <a:r>
              <a:rPr lang="en-US" dirty="0" err="1"/>
              <a:t>bidang</a:t>
            </a:r>
            <a:r>
              <a:rPr lang="en-US" dirty="0"/>
              <a:t> </a:t>
            </a:r>
            <a:r>
              <a:rPr lang="en-US" dirty="0" err="1"/>
              <a:t>ilmu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bidang</a:t>
            </a:r>
            <a:r>
              <a:rPr lang="en-US" dirty="0"/>
              <a:t> </a:t>
            </a:r>
            <a:r>
              <a:rPr lang="en-US" dirty="0" err="1"/>
              <a:t>teknik</a:t>
            </a:r>
            <a:r>
              <a:rPr lang="en-US" dirty="0"/>
              <a:t> (</a:t>
            </a:r>
            <a:r>
              <a:rPr lang="en-US" dirty="0" err="1"/>
              <a:t>teknik</a:t>
            </a:r>
            <a:r>
              <a:rPr lang="en-US" dirty="0"/>
              <a:t> </a:t>
            </a:r>
            <a:r>
              <a:rPr lang="en-US" dirty="0" err="1"/>
              <a:t>mesin</a:t>
            </a:r>
            <a:r>
              <a:rPr lang="en-US" dirty="0"/>
              <a:t>, </a:t>
            </a:r>
            <a:r>
              <a:rPr lang="en-US" dirty="0" err="1"/>
              <a:t>teknik</a:t>
            </a:r>
            <a:r>
              <a:rPr lang="en-US" dirty="0"/>
              <a:t> </a:t>
            </a:r>
            <a:r>
              <a:rPr lang="en-US" dirty="0" err="1"/>
              <a:t>sipil</a:t>
            </a:r>
            <a:r>
              <a:rPr lang="en-US" dirty="0"/>
              <a:t>, </a:t>
            </a:r>
            <a:r>
              <a:rPr lang="en-US" dirty="0" err="1"/>
              <a:t>teknik</a:t>
            </a:r>
            <a:r>
              <a:rPr lang="en-US" dirty="0"/>
              <a:t> </a:t>
            </a:r>
            <a:r>
              <a:rPr lang="en-US" dirty="0" err="1"/>
              <a:t>elektro</a:t>
            </a:r>
            <a:r>
              <a:rPr lang="en-US" dirty="0"/>
              <a:t>, </a:t>
            </a:r>
            <a:r>
              <a:rPr lang="en-US" dirty="0" err="1"/>
              <a:t>teknik</a:t>
            </a:r>
            <a:r>
              <a:rPr lang="en-US" dirty="0"/>
              <a:t> </a:t>
            </a:r>
            <a:r>
              <a:rPr lang="en-US" dirty="0" err="1"/>
              <a:t>kimia</a:t>
            </a:r>
            <a:r>
              <a:rPr lang="en-US" dirty="0"/>
              <a:t> dan </a:t>
            </a:r>
            <a:r>
              <a:rPr lang="en-US" dirty="0" err="1"/>
              <a:t>sebagainya</a:t>
            </a:r>
            <a:r>
              <a:rPr lang="en-US" dirty="0"/>
              <a:t>), </a:t>
            </a:r>
            <a:r>
              <a:rPr lang="en-US" dirty="0" err="1"/>
              <a:t>kedokteran</a:t>
            </a:r>
            <a:r>
              <a:rPr lang="en-US" dirty="0"/>
              <a:t> </a:t>
            </a:r>
            <a:r>
              <a:rPr lang="en-US" dirty="0" err="1"/>
              <a:t>sosial</a:t>
            </a:r>
            <a:r>
              <a:rPr lang="en-US" dirty="0"/>
              <a:t> </a:t>
            </a:r>
            <a:r>
              <a:rPr lang="en-US" dirty="0" err="1"/>
              <a:t>ekonomi</a:t>
            </a:r>
            <a:r>
              <a:rPr lang="en-US" dirty="0"/>
              <a:t> dan </a:t>
            </a:r>
            <a:r>
              <a:rPr lang="en-US" dirty="0" err="1"/>
              <a:t>bidang</a:t>
            </a:r>
            <a:r>
              <a:rPr lang="en-US" dirty="0"/>
              <a:t> </a:t>
            </a:r>
            <a:r>
              <a:rPr lang="en-US" dirty="0" err="1"/>
              <a:t>ilmu</a:t>
            </a:r>
            <a:r>
              <a:rPr lang="en-US" dirty="0"/>
              <a:t> </a:t>
            </a:r>
            <a:r>
              <a:rPr lang="en-US" dirty="0" err="1"/>
              <a:t>lainnya</a:t>
            </a:r>
            <a:r>
              <a:rPr lang="en-US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dirty="0" err="1"/>
              <a:t>Berbagai</a:t>
            </a:r>
            <a:r>
              <a:rPr lang="en-US" dirty="0"/>
              <a:t> masalah yang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berbagai</a:t>
            </a:r>
            <a:r>
              <a:rPr lang="en-US" dirty="0"/>
              <a:t> </a:t>
            </a:r>
            <a:r>
              <a:rPr lang="en-US" dirty="0" err="1"/>
              <a:t>disiplin</a:t>
            </a:r>
            <a:r>
              <a:rPr lang="en-US" dirty="0"/>
              <a:t> </a:t>
            </a:r>
            <a:r>
              <a:rPr lang="en-US" dirty="0" err="1"/>
              <a:t>ilmu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digambarkan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bentuk</a:t>
            </a:r>
            <a:r>
              <a:rPr lang="en-US" dirty="0"/>
              <a:t> </a:t>
            </a:r>
            <a:r>
              <a:rPr lang="en-US" dirty="0" err="1"/>
              <a:t>matematik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berbagai</a:t>
            </a:r>
            <a:r>
              <a:rPr lang="en-US" dirty="0"/>
              <a:t> </a:t>
            </a:r>
            <a:r>
              <a:rPr lang="en-US" dirty="0" err="1"/>
              <a:t>fenomena</a:t>
            </a:r>
            <a:r>
              <a:rPr lang="en-US" dirty="0"/>
              <a:t> yang </a:t>
            </a:r>
            <a:r>
              <a:rPr lang="en-US" dirty="0" err="1"/>
              <a:t>berpengaruh</a:t>
            </a:r>
            <a:r>
              <a:rPr lang="en-US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dirty="0" err="1"/>
              <a:t>Misalnya</a:t>
            </a:r>
            <a:r>
              <a:rPr lang="en-US" dirty="0"/>
              <a:t> </a:t>
            </a:r>
            <a:r>
              <a:rPr lang="en-US" dirty="0" err="1"/>
              <a:t>gerak</a:t>
            </a:r>
            <a:r>
              <a:rPr lang="en-US" dirty="0"/>
              <a:t> air dan </a:t>
            </a:r>
            <a:r>
              <a:rPr lang="en-US" dirty="0" err="1"/>
              <a:t>polutan</a:t>
            </a:r>
            <a:r>
              <a:rPr lang="en-US" dirty="0"/>
              <a:t> di </a:t>
            </a:r>
            <a:r>
              <a:rPr lang="en-US" dirty="0" err="1"/>
              <a:t>saluran</a:t>
            </a:r>
            <a:r>
              <a:rPr lang="en-US" dirty="0"/>
              <a:t> </a:t>
            </a:r>
            <a:r>
              <a:rPr lang="en-US" dirty="0" err="1"/>
              <a:t>sungai</a:t>
            </a:r>
            <a:r>
              <a:rPr lang="en-US" dirty="0"/>
              <a:t> dan </a:t>
            </a:r>
            <a:r>
              <a:rPr lang="en-US" dirty="0" err="1"/>
              <a:t>laut</a:t>
            </a:r>
            <a:r>
              <a:rPr lang="en-US" dirty="0"/>
              <a:t> </a:t>
            </a:r>
            <a:r>
              <a:rPr lang="en-US" dirty="0" err="1"/>
              <a:t>aliran</a:t>
            </a:r>
            <a:r>
              <a:rPr lang="en-US" dirty="0"/>
              <a:t> </a:t>
            </a:r>
            <a:r>
              <a:rPr lang="en-US" dirty="0" err="1"/>
              <a:t>udara</a:t>
            </a:r>
            <a:r>
              <a:rPr lang="en-US" dirty="0"/>
              <a:t> </a:t>
            </a:r>
            <a:r>
              <a:rPr lang="en-US" dirty="0" err="1"/>
              <a:t>perambatan</a:t>
            </a:r>
            <a:r>
              <a:rPr lang="en-US" dirty="0"/>
              <a:t> </a:t>
            </a:r>
            <a:r>
              <a:rPr lang="en-US" dirty="0" err="1"/>
              <a:t>panas</a:t>
            </a:r>
            <a:r>
              <a:rPr lang="en-US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dirty="0" err="1"/>
              <a:t>Biasanya</a:t>
            </a:r>
            <a:r>
              <a:rPr lang="en-US" dirty="0"/>
              <a:t> </a:t>
            </a:r>
            <a:r>
              <a:rPr lang="en-US" dirty="0" err="1"/>
              <a:t>fenomena</a:t>
            </a:r>
            <a:r>
              <a:rPr lang="en-US" dirty="0"/>
              <a:t> yang </a:t>
            </a:r>
            <a:r>
              <a:rPr lang="en-US" dirty="0" err="1"/>
              <a:t>berpengaruh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cukup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dan sangat </a:t>
            </a:r>
            <a:r>
              <a:rPr lang="en-US" dirty="0" err="1"/>
              <a:t>kompleks</a:t>
            </a:r>
            <a:r>
              <a:rPr lang="en-US" dirty="0"/>
              <a:t> dan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menyederhanakannya</a:t>
            </a:r>
            <a:r>
              <a:rPr lang="en-US" dirty="0"/>
              <a:t> </a:t>
            </a:r>
            <a:r>
              <a:rPr lang="en-US" dirty="0" err="1"/>
              <a:t>diperlukan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asumsi</a:t>
            </a:r>
            <a:r>
              <a:rPr lang="en-US" dirty="0"/>
              <a:t>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beberapa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diabaikan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05429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5981A8E-765C-4942-BE08-18B20739734A}"/>
              </a:ext>
            </a:extLst>
          </p:cNvPr>
          <p:cNvSpPr txBox="1">
            <a:spLocks/>
          </p:cNvSpPr>
          <p:nvPr/>
        </p:nvSpPr>
        <p:spPr>
          <a:xfrm>
            <a:off x="4965430" y="429208"/>
            <a:ext cx="6586491" cy="148622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 algn="l">
              <a:spcBef>
                <a:spcPct val="0"/>
              </a:spcBef>
              <a:spcAft>
                <a:spcPts val="600"/>
              </a:spcAft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PENGGUNAAN METODE NUMERIK DALAM PENYELESAIAN MATEMATIKA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E58FBB-F076-4103-A221-3F19B898A586}"/>
              </a:ext>
            </a:extLst>
          </p:cNvPr>
          <p:cNvSpPr txBox="1"/>
          <p:nvPr/>
        </p:nvSpPr>
        <p:spPr>
          <a:xfrm>
            <a:off x="4965431" y="2438400"/>
            <a:ext cx="6586489" cy="3785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1. </a:t>
            </a:r>
            <a:r>
              <a:rPr lang="en-US" sz="2000" dirty="0" err="1"/>
              <a:t>Menyelesaikan</a:t>
            </a:r>
            <a:r>
              <a:rPr lang="en-US" sz="2000" dirty="0"/>
              <a:t> </a:t>
            </a:r>
            <a:r>
              <a:rPr lang="en-US" sz="2000" dirty="0" err="1"/>
              <a:t>persamaan</a:t>
            </a:r>
            <a:r>
              <a:rPr lang="en-US" sz="2000" dirty="0"/>
              <a:t> non linier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2. </a:t>
            </a:r>
            <a:r>
              <a:rPr lang="en-US" sz="2000" dirty="0" err="1"/>
              <a:t>Menyelesaikan</a:t>
            </a:r>
            <a:r>
              <a:rPr lang="en-US" sz="2000" dirty="0"/>
              <a:t> </a:t>
            </a:r>
            <a:r>
              <a:rPr lang="en-US" sz="2000" dirty="0" err="1"/>
              <a:t>persamaan</a:t>
            </a:r>
            <a:r>
              <a:rPr lang="en-US" sz="2000" dirty="0"/>
              <a:t> </a:t>
            </a:r>
            <a:r>
              <a:rPr lang="en-US" sz="2000" dirty="0" err="1"/>
              <a:t>simultan</a:t>
            </a:r>
            <a:endParaRPr lang="en-US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3. </a:t>
            </a:r>
            <a:r>
              <a:rPr lang="en-US" sz="2000" dirty="0" err="1"/>
              <a:t>Menyelesaikan</a:t>
            </a:r>
            <a:r>
              <a:rPr lang="en-US" sz="2000" dirty="0"/>
              <a:t> </a:t>
            </a:r>
            <a:r>
              <a:rPr lang="en-US" sz="2000" dirty="0" err="1"/>
              <a:t>differensial</a:t>
            </a:r>
            <a:r>
              <a:rPr lang="en-US" sz="2000" dirty="0"/>
              <a:t> dan integral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2000" dirty="0"/>
              <a:t>4. </a:t>
            </a:r>
            <a:r>
              <a:rPr lang="en-US" sz="2000" dirty="0" err="1"/>
              <a:t>Interpolasi</a:t>
            </a:r>
            <a:r>
              <a:rPr lang="en-US" sz="2000" dirty="0"/>
              <a:t> dan </a:t>
            </a:r>
            <a:r>
              <a:rPr lang="en-US" sz="2000" dirty="0" err="1"/>
              <a:t>Regresi</a:t>
            </a:r>
            <a:endParaRPr lang="en-US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5. </a:t>
            </a:r>
            <a:r>
              <a:rPr lang="en-US" sz="2000" dirty="0" err="1"/>
              <a:t>Menyelesaikan</a:t>
            </a:r>
            <a:r>
              <a:rPr lang="en-US" sz="2000" dirty="0"/>
              <a:t> </a:t>
            </a:r>
            <a:r>
              <a:rPr lang="en-US" sz="2000" dirty="0" err="1"/>
              <a:t>persamaan</a:t>
            </a:r>
            <a:r>
              <a:rPr lang="en-US" sz="2000" dirty="0"/>
              <a:t> </a:t>
            </a:r>
            <a:r>
              <a:rPr lang="en-US" sz="2000" dirty="0" err="1"/>
              <a:t>differensial</a:t>
            </a:r>
            <a:endParaRPr lang="en-US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6. Masalah multi variable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menentukan</a:t>
            </a:r>
            <a:r>
              <a:rPr lang="en-US" sz="2000" dirty="0"/>
              <a:t> </a:t>
            </a:r>
            <a:r>
              <a:rPr lang="en-US" sz="2000" dirty="0" err="1"/>
              <a:t>nilai</a:t>
            </a:r>
            <a:r>
              <a:rPr lang="en-US" sz="2000" dirty="0"/>
              <a:t> optimal yang  </a:t>
            </a:r>
            <a:r>
              <a:rPr lang="en-US" sz="2000" dirty="0" err="1"/>
              <a:t>tak</a:t>
            </a:r>
            <a:r>
              <a:rPr lang="en-US" sz="2000" dirty="0"/>
              <a:t> </a:t>
            </a:r>
            <a:r>
              <a:rPr lang="en-US" sz="2000" dirty="0" err="1"/>
              <a:t>bersyarat</a:t>
            </a:r>
            <a:endParaRPr lang="en-US" sz="2000" dirty="0"/>
          </a:p>
        </p:txBody>
      </p:sp>
      <p:pic>
        <p:nvPicPr>
          <p:cNvPr id="6" name="Picture 5" descr="Rumus matematika kompleks di papan tulis">
            <a:extLst>
              <a:ext uri="{FF2B5EF4-FFF2-40B4-BE49-F238E27FC236}">
                <a16:creationId xmlns:a16="http://schemas.microsoft.com/office/drawing/2014/main" id="{0AE8ED4B-3797-4829-A432-DB05F40FC25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290" r="18366" b="-1"/>
          <a:stretch/>
        </p:blipFill>
        <p:spPr>
          <a:xfrm>
            <a:off x="20" y="10"/>
            <a:ext cx="4306509" cy="6371167"/>
          </a:xfrm>
          <a:prstGeom prst="rect">
            <a:avLst/>
          </a:prstGeom>
          <a:effectLst/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88017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98ED85F-DCEE-4B50-802E-71A6E3E12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4000"/>
            </a:schemeClr>
          </a:solidFill>
          <a:ln w="127000" cap="sq" cmpd="thinThick">
            <a:solidFill>
              <a:schemeClr val="tx1">
                <a:lumMod val="85000"/>
                <a:lumOff val="15000"/>
                <a:alpha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C91EEB7-E45C-4095-B6AF-0AAFA173D910}"/>
              </a:ext>
            </a:extLst>
          </p:cNvPr>
          <p:cNvSpPr txBox="1">
            <a:spLocks/>
          </p:cNvSpPr>
          <p:nvPr/>
        </p:nvSpPr>
        <p:spPr>
          <a:xfrm>
            <a:off x="838200" y="6318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 algn="l">
              <a:spcBef>
                <a:spcPct val="0"/>
              </a:spcBef>
              <a:spcAft>
                <a:spcPts val="600"/>
              </a:spcAft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PRINSIP-PRINSIP PENGGUNAAN METODE NUMERIK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BD0E94-C3D0-4EBC-A4F9-76EC3B4E5D13}"/>
              </a:ext>
            </a:extLst>
          </p:cNvPr>
          <p:cNvSpPr txBox="1"/>
          <p:nvPr/>
        </p:nvSpPr>
        <p:spPr>
          <a:xfrm>
            <a:off x="838200" y="2057400"/>
            <a:ext cx="10515600" cy="3871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8925" indent="-288925">
              <a:lnSpc>
                <a:spcPct val="90000"/>
              </a:lnSpc>
              <a:spcAft>
                <a:spcPts val="600"/>
              </a:spcAft>
            </a:pPr>
            <a:r>
              <a:rPr lang="en-US" sz="2400" dirty="0"/>
              <a:t>1. </a:t>
            </a:r>
            <a:r>
              <a:rPr lang="en-US" sz="2400" dirty="0" err="1"/>
              <a:t>Metode</a:t>
            </a:r>
            <a:r>
              <a:rPr lang="en-US" sz="2400" dirty="0"/>
              <a:t> </a:t>
            </a:r>
            <a:r>
              <a:rPr lang="en-US" sz="2400" dirty="0" err="1"/>
              <a:t>analitik</a:t>
            </a:r>
            <a:r>
              <a:rPr lang="en-US" sz="2400" dirty="0"/>
              <a:t> </a:t>
            </a:r>
            <a:r>
              <a:rPr lang="en-US" sz="2400" dirty="0" err="1"/>
              <a:t>sulit</a:t>
            </a:r>
            <a:r>
              <a:rPr lang="en-US" sz="2400" dirty="0"/>
              <a:t>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lagi</a:t>
            </a:r>
            <a:r>
              <a:rPr lang="en-US" sz="2400" dirty="0"/>
              <a:t> </a:t>
            </a:r>
            <a:r>
              <a:rPr lang="en-US" sz="2400" dirty="0" err="1"/>
              <a:t>digunakan</a:t>
            </a:r>
            <a:endParaRPr lang="en-US" sz="2400" dirty="0"/>
          </a:p>
          <a:p>
            <a:pPr marL="288925" indent="-288925">
              <a:lnSpc>
                <a:spcPct val="90000"/>
              </a:lnSpc>
              <a:spcAft>
                <a:spcPts val="600"/>
              </a:spcAft>
            </a:pPr>
            <a:r>
              <a:rPr lang="en-US" sz="2400" dirty="0"/>
              <a:t>2. </a:t>
            </a:r>
            <a:r>
              <a:rPr lang="en-US" sz="2400" dirty="0" err="1"/>
              <a:t>Metode</a:t>
            </a:r>
            <a:r>
              <a:rPr lang="en-US" sz="2400" dirty="0"/>
              <a:t> </a:t>
            </a:r>
            <a:r>
              <a:rPr lang="en-US" sz="2400" dirty="0" err="1"/>
              <a:t>numerik</a:t>
            </a:r>
            <a:r>
              <a:rPr lang="en-US" sz="2400" dirty="0"/>
              <a:t> </a:t>
            </a:r>
            <a:r>
              <a:rPr lang="en-US" sz="2400" dirty="0" err="1"/>
              <a:t>merupakan</a:t>
            </a:r>
            <a:r>
              <a:rPr lang="en-US" sz="2400" dirty="0"/>
              <a:t> </a:t>
            </a:r>
            <a:r>
              <a:rPr lang="en-US" sz="2400" dirty="0" err="1"/>
              <a:t>pendekatan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mendapatkan</a:t>
            </a:r>
            <a:r>
              <a:rPr lang="en-US" sz="2400" dirty="0"/>
              <a:t> </a:t>
            </a:r>
            <a:r>
              <a:rPr lang="en-US" sz="2400" dirty="0" err="1"/>
              <a:t>pemecahan</a:t>
            </a:r>
            <a:r>
              <a:rPr lang="en-US" sz="2400" dirty="0"/>
              <a:t> masalah yang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dipertanggung</a:t>
            </a:r>
            <a:r>
              <a:rPr lang="en-US" sz="2400" dirty="0"/>
              <a:t> </a:t>
            </a:r>
            <a:r>
              <a:rPr lang="en-US" sz="2400" dirty="0" err="1"/>
              <a:t>jawabkan</a:t>
            </a:r>
            <a:r>
              <a:rPr lang="en-US" sz="2400" dirty="0"/>
              <a:t> </a:t>
            </a:r>
            <a:r>
              <a:rPr lang="en-US" sz="2400" dirty="0" err="1"/>
              <a:t>secara</a:t>
            </a:r>
            <a:r>
              <a:rPr lang="en-US" sz="2400" dirty="0"/>
              <a:t> </a:t>
            </a:r>
            <a:r>
              <a:rPr lang="en-US" sz="2400" dirty="0" err="1"/>
              <a:t>analitik</a:t>
            </a:r>
            <a:r>
              <a:rPr lang="en-US" sz="2400" dirty="0"/>
              <a:t>.</a:t>
            </a:r>
          </a:p>
          <a:p>
            <a:pPr marL="288925" indent="-288925">
              <a:lnSpc>
                <a:spcPct val="90000"/>
              </a:lnSpc>
              <a:spcAft>
                <a:spcPts val="600"/>
              </a:spcAft>
            </a:pPr>
            <a:r>
              <a:rPr lang="en-US" sz="2400" dirty="0"/>
              <a:t>3. </a:t>
            </a:r>
            <a:r>
              <a:rPr lang="en-US" sz="2400" dirty="0" err="1"/>
              <a:t>Pendekatannya</a:t>
            </a:r>
            <a:r>
              <a:rPr lang="en-US" sz="2400" dirty="0"/>
              <a:t> </a:t>
            </a:r>
            <a:r>
              <a:rPr lang="en-US" sz="2400" dirty="0" err="1"/>
              <a:t>merupakan</a:t>
            </a:r>
            <a:r>
              <a:rPr lang="en-US" sz="2400" dirty="0"/>
              <a:t> </a:t>
            </a:r>
            <a:r>
              <a:rPr lang="en-US" sz="2400" dirty="0" err="1"/>
              <a:t>analisis</a:t>
            </a:r>
            <a:r>
              <a:rPr lang="en-US" sz="2400" dirty="0"/>
              <a:t> </a:t>
            </a:r>
            <a:r>
              <a:rPr lang="en-US" sz="2400" dirty="0" err="1"/>
              <a:t>matematis</a:t>
            </a:r>
            <a:r>
              <a:rPr lang="en-US" sz="2400" dirty="0"/>
              <a:t>.</a:t>
            </a:r>
          </a:p>
          <a:p>
            <a:pPr marL="288925" indent="-288925">
              <a:lnSpc>
                <a:spcPct val="90000"/>
              </a:lnSpc>
              <a:spcAft>
                <a:spcPts val="600"/>
              </a:spcAft>
            </a:pPr>
            <a:r>
              <a:rPr lang="en-US" sz="2400" dirty="0"/>
              <a:t>4. </a:t>
            </a:r>
            <a:r>
              <a:rPr lang="en-US" sz="2400" dirty="0" err="1"/>
              <a:t>Metode</a:t>
            </a:r>
            <a:r>
              <a:rPr lang="en-US" sz="2400" dirty="0"/>
              <a:t> </a:t>
            </a:r>
            <a:r>
              <a:rPr lang="en-US" sz="2400" dirty="0" err="1"/>
              <a:t>numerik</a:t>
            </a:r>
            <a:r>
              <a:rPr lang="en-US" sz="2400" dirty="0"/>
              <a:t> </a:t>
            </a:r>
            <a:r>
              <a:rPr lang="en-US" sz="2400" dirty="0" err="1"/>
              <a:t>terdiri</a:t>
            </a:r>
            <a:r>
              <a:rPr lang="en-US" sz="2400" dirty="0"/>
              <a:t> </a:t>
            </a:r>
            <a:r>
              <a:rPr lang="en-US" sz="2400" dirty="0" err="1"/>
              <a:t>atas</a:t>
            </a:r>
            <a:r>
              <a:rPr lang="en-US" sz="2400" dirty="0"/>
              <a:t> </a:t>
            </a:r>
            <a:r>
              <a:rPr lang="en-US" sz="2400" dirty="0" err="1"/>
              <a:t>algoritma-algoritma</a:t>
            </a:r>
            <a:r>
              <a:rPr lang="en-US" sz="2400" dirty="0"/>
              <a:t> yang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dihitung</a:t>
            </a:r>
            <a:r>
              <a:rPr lang="en-US" sz="2400" dirty="0"/>
              <a:t> </a:t>
            </a:r>
            <a:r>
              <a:rPr lang="en-US" sz="2400" dirty="0" err="1"/>
              <a:t>secara</a:t>
            </a:r>
            <a:r>
              <a:rPr lang="en-US" sz="2400" dirty="0"/>
              <a:t> </a:t>
            </a:r>
            <a:r>
              <a:rPr lang="en-US" sz="2400" dirty="0" err="1"/>
              <a:t>cepat</a:t>
            </a:r>
            <a:r>
              <a:rPr lang="en-US" sz="2400" dirty="0"/>
              <a:t> dan </a:t>
            </a:r>
            <a:r>
              <a:rPr lang="en-US" sz="2400" dirty="0" err="1"/>
              <a:t>mudah</a:t>
            </a:r>
            <a:r>
              <a:rPr lang="en-US" sz="2400" dirty="0"/>
              <a:t>.</a:t>
            </a:r>
          </a:p>
          <a:p>
            <a:pPr marL="288925" indent="-288925">
              <a:lnSpc>
                <a:spcPct val="90000"/>
              </a:lnSpc>
              <a:spcAft>
                <a:spcPts val="600"/>
              </a:spcAft>
            </a:pPr>
            <a:r>
              <a:rPr lang="en-US" sz="2400" dirty="0"/>
              <a:t>5. </a:t>
            </a:r>
            <a:r>
              <a:rPr lang="en-US" sz="2400" dirty="0" err="1"/>
              <a:t>Metode</a:t>
            </a:r>
            <a:r>
              <a:rPr lang="en-US" sz="2400" dirty="0"/>
              <a:t> </a:t>
            </a:r>
            <a:r>
              <a:rPr lang="en-US" sz="2400" dirty="0" err="1"/>
              <a:t>numerik</a:t>
            </a:r>
            <a:r>
              <a:rPr lang="en-US" sz="2400" dirty="0"/>
              <a:t> </a:t>
            </a:r>
            <a:r>
              <a:rPr lang="en-US" sz="2400" dirty="0" err="1"/>
              <a:t>memakai</a:t>
            </a:r>
            <a:r>
              <a:rPr lang="en-US" sz="2400" dirty="0"/>
              <a:t> </a:t>
            </a:r>
            <a:r>
              <a:rPr lang="en-US" sz="2400" dirty="0" err="1"/>
              <a:t>iterasi</a:t>
            </a:r>
            <a:r>
              <a:rPr lang="en-US" sz="2400" dirty="0"/>
              <a:t> (</a:t>
            </a:r>
            <a:r>
              <a:rPr lang="en-US" sz="2400" dirty="0" err="1"/>
              <a:t>pengulangan</a:t>
            </a:r>
            <a:r>
              <a:rPr lang="en-US" sz="2400" dirty="0"/>
              <a:t>), </a:t>
            </a:r>
            <a:r>
              <a:rPr lang="en-US" sz="2400" dirty="0" err="1"/>
              <a:t>karena</a:t>
            </a:r>
            <a:r>
              <a:rPr lang="en-US" sz="2400" dirty="0"/>
              <a:t> </a:t>
            </a:r>
            <a:r>
              <a:rPr lang="en-US" sz="2400" dirty="0" err="1"/>
              <a:t>berasal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algoritma</a:t>
            </a:r>
            <a:r>
              <a:rPr lang="en-US" sz="2400" dirty="0"/>
              <a:t> </a:t>
            </a:r>
            <a:r>
              <a:rPr lang="en-US" sz="2400" dirty="0" err="1"/>
              <a:t>pendekatan</a:t>
            </a:r>
            <a:endParaRPr lang="en-US" sz="2400" dirty="0"/>
          </a:p>
          <a:p>
            <a:pPr marL="288925" indent="-288925">
              <a:lnSpc>
                <a:spcPct val="90000"/>
              </a:lnSpc>
              <a:spcAft>
                <a:spcPts val="600"/>
              </a:spcAft>
            </a:pPr>
            <a:r>
              <a:rPr lang="en-US" sz="2400" dirty="0"/>
              <a:t>6. Nilai </a:t>
            </a:r>
            <a:r>
              <a:rPr lang="en-US" sz="2400" dirty="0" err="1"/>
              <a:t>kesalahan</a:t>
            </a:r>
            <a:r>
              <a:rPr lang="en-US" sz="2400" dirty="0"/>
              <a:t> </a:t>
            </a:r>
            <a:r>
              <a:rPr lang="en-US" sz="2400" dirty="0" err="1"/>
              <a:t>merupakan</a:t>
            </a:r>
            <a:r>
              <a:rPr lang="en-US" sz="2400" dirty="0"/>
              <a:t> </a:t>
            </a:r>
            <a:r>
              <a:rPr lang="en-US" sz="2400" dirty="0" err="1"/>
              <a:t>hal</a:t>
            </a:r>
            <a:r>
              <a:rPr lang="en-US" sz="2400" dirty="0"/>
              <a:t> </a:t>
            </a:r>
            <a:r>
              <a:rPr lang="en-US" sz="2400" dirty="0" err="1"/>
              <a:t>utama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mengetahui</a:t>
            </a:r>
            <a:r>
              <a:rPr lang="en-US" sz="2400" dirty="0"/>
              <a:t> </a:t>
            </a:r>
            <a:r>
              <a:rPr lang="en-US" sz="2400" dirty="0" err="1"/>
              <a:t>seberapa</a:t>
            </a:r>
            <a:r>
              <a:rPr lang="en-US" sz="2400" dirty="0"/>
              <a:t> </a:t>
            </a:r>
            <a:r>
              <a:rPr lang="en-US" sz="2400" dirty="0" err="1"/>
              <a:t>baik</a:t>
            </a:r>
            <a:r>
              <a:rPr lang="en-US" sz="2400" dirty="0"/>
              <a:t> </a:t>
            </a:r>
            <a:r>
              <a:rPr lang="en-US" sz="2400" dirty="0" err="1"/>
              <a:t>metode</a:t>
            </a:r>
            <a:r>
              <a:rPr lang="en-US" sz="2400" dirty="0"/>
              <a:t> yang </a:t>
            </a:r>
            <a:r>
              <a:rPr lang="en-US" sz="2400" dirty="0" err="1"/>
              <a:t>digunakan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899713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91025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66663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8398991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796</Words>
  <Application>Microsoft Office PowerPoint</Application>
  <PresentationFormat>Widescreen</PresentationFormat>
  <Paragraphs>63</Paragraphs>
  <Slides>17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Arial</vt:lpstr>
      <vt:lpstr>Calibri</vt:lpstr>
      <vt:lpstr>Calibri Light</vt:lpstr>
      <vt:lpstr>Times New Roman</vt:lpstr>
      <vt:lpstr>6_Office Theme</vt:lpstr>
      <vt:lpstr>7_Office Theme</vt:lpstr>
      <vt:lpstr>4_Office Theme</vt:lpstr>
      <vt:lpstr>3_Office Theme</vt:lpstr>
      <vt:lpstr>2_Office Theme</vt:lpstr>
      <vt:lpstr>5_Office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lisda masitoh</dc:creator>
  <cp:lastModifiedBy>wiwit kurniawan</cp:lastModifiedBy>
  <cp:revision>15</cp:revision>
  <dcterms:created xsi:type="dcterms:W3CDTF">2021-08-16T10:58:02Z</dcterms:created>
  <dcterms:modified xsi:type="dcterms:W3CDTF">2021-09-03T04:51:12Z</dcterms:modified>
</cp:coreProperties>
</file>