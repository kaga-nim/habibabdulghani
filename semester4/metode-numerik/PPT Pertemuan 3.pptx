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slideLayouts/slideLayout5.xml" ContentType="application/vnd.openxmlformats-officedocument.presentationml.slideLayout+xml"/>
  <Override PartName="/ppt/theme/theme4.xml" ContentType="application/vnd.openxmlformats-officedocument.theme+xml"/>
  <Override PartName="/ppt/slideLayouts/slideLayout6.xml" ContentType="application/vnd.openxmlformats-officedocument.presentationml.slideLayout+xml"/>
  <Override PartName="/ppt/theme/theme5.xml" ContentType="application/vnd.openxmlformats-officedocument.theme+xml"/>
  <Override PartName="/ppt/slideLayouts/slideLayout7.xml" ContentType="application/vnd.openxmlformats-officedocument.presentationml.slideLayout+xml"/>
  <Override PartName="/ppt/theme/theme6.xml" ContentType="application/vnd.openxmlformats-officedocument.theme+xml"/>
  <Override PartName="/ppt/slideLayouts/slideLayout8.xml" ContentType="application/vnd.openxmlformats-officedocument.presentationml.slideLayout+xml"/>
  <Override PartName="/ppt/theme/theme7.xml" ContentType="application/vnd.openxmlformats-officedocument.theme+xml"/>
  <Override PartName="/ppt/theme/theme8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4" r:id="rId1"/>
    <p:sldMasterId id="2147483701" r:id="rId2"/>
    <p:sldMasterId id="2147483692" r:id="rId3"/>
    <p:sldMasterId id="2147483691" r:id="rId4"/>
    <p:sldMasterId id="2147483690" r:id="rId5"/>
    <p:sldMasterId id="2147483693" r:id="rId6"/>
    <p:sldMasterId id="2147483689" r:id="rId7"/>
  </p:sldMasterIdLst>
  <p:notesMasterIdLst>
    <p:notesMasterId r:id="rId20"/>
  </p:notesMasterIdLst>
  <p:sldIdLst>
    <p:sldId id="258" r:id="rId8"/>
    <p:sldId id="257" r:id="rId9"/>
    <p:sldId id="286" r:id="rId10"/>
    <p:sldId id="289" r:id="rId11"/>
    <p:sldId id="283" r:id="rId12"/>
    <p:sldId id="274" r:id="rId13"/>
    <p:sldId id="287" r:id="rId14"/>
    <p:sldId id="290" r:id="rId15"/>
    <p:sldId id="275" r:id="rId16"/>
    <p:sldId id="269" r:id="rId17"/>
    <p:sldId id="270" r:id="rId18"/>
    <p:sldId id="271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643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3" Type="http://schemas.openxmlformats.org/officeDocument/2006/relationships/slideMaster" Target="slideMasters/slideMaster3.xml"/><Relationship Id="rId21" Type="http://schemas.openxmlformats.org/officeDocument/2006/relationships/presProps" Target="presProps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9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4.xml"/><Relationship Id="rId24" Type="http://schemas.openxmlformats.org/officeDocument/2006/relationships/tableStyles" Target="tableStyle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8.xml"/><Relationship Id="rId23" Type="http://schemas.openxmlformats.org/officeDocument/2006/relationships/theme" Target="theme/theme1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DA10426-463E-4FC1-9646-E7E8222239AB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26962F2B-806A-40C6-8B83-0E5440562FA7}">
      <dgm:prSet/>
      <dgm:spPr/>
      <dgm:t>
        <a:bodyPr/>
        <a:lstStyle/>
        <a:p>
          <a:r>
            <a:rPr lang="en-US"/>
            <a:t>Deret Taylor adalah alat yang utama untuk menurunkan suatu metode numerik. </a:t>
          </a:r>
        </a:p>
      </dgm:t>
    </dgm:pt>
    <dgm:pt modelId="{CE566AB8-BD19-4C58-B164-34AD3F797B6B}" type="parTrans" cxnId="{C8F3979C-8F67-4C03-AFE3-D690D2092C76}">
      <dgm:prSet/>
      <dgm:spPr/>
      <dgm:t>
        <a:bodyPr/>
        <a:lstStyle/>
        <a:p>
          <a:endParaRPr lang="en-US"/>
        </a:p>
      </dgm:t>
    </dgm:pt>
    <dgm:pt modelId="{63C9EA19-1A8A-4195-96EF-8719C9980B60}" type="sibTrans" cxnId="{C8F3979C-8F67-4C03-AFE3-D690D2092C76}">
      <dgm:prSet/>
      <dgm:spPr/>
      <dgm:t>
        <a:bodyPr/>
        <a:lstStyle/>
        <a:p>
          <a:endParaRPr lang="en-US"/>
        </a:p>
      </dgm:t>
    </dgm:pt>
    <dgm:pt modelId="{2D96698D-E007-489A-850B-0E0FFDDBCBB2}">
      <dgm:prSet/>
      <dgm:spPr/>
      <dgm:t>
        <a:bodyPr/>
        <a:lstStyle/>
        <a:p>
          <a:r>
            <a:rPr lang="en-US"/>
            <a:t>Deret Taylor berguna untuk menghampiri fungsi ke dalam bentuk polinom. </a:t>
          </a:r>
        </a:p>
      </dgm:t>
    </dgm:pt>
    <dgm:pt modelId="{3D909683-4C0F-441A-838C-0E7ADAED5134}" type="parTrans" cxnId="{87A736F6-D3B1-45CC-875E-3DA90B6A4FE7}">
      <dgm:prSet/>
      <dgm:spPr/>
      <dgm:t>
        <a:bodyPr/>
        <a:lstStyle/>
        <a:p>
          <a:endParaRPr lang="en-US"/>
        </a:p>
      </dgm:t>
    </dgm:pt>
    <dgm:pt modelId="{5AD6A3B6-34A0-4B9D-BD60-1D39E2DD400B}" type="sibTrans" cxnId="{87A736F6-D3B1-45CC-875E-3DA90B6A4FE7}">
      <dgm:prSet/>
      <dgm:spPr/>
      <dgm:t>
        <a:bodyPr/>
        <a:lstStyle/>
        <a:p>
          <a:endParaRPr lang="en-US"/>
        </a:p>
      </dgm:t>
    </dgm:pt>
    <dgm:pt modelId="{894E2818-068A-439A-8D8F-0BA2DD01F0D9}">
      <dgm:prSet/>
      <dgm:spPr/>
      <dgm:t>
        <a:bodyPr/>
        <a:lstStyle/>
        <a:p>
          <a:r>
            <a:rPr lang="en-US"/>
            <a:t>Fungsi yang rumit menjadi sederhana dengan deret Taylor</a:t>
          </a:r>
        </a:p>
      </dgm:t>
    </dgm:pt>
    <dgm:pt modelId="{6B0D9318-984B-4F36-9AC9-2FB3DBDDA0EC}" type="parTrans" cxnId="{71652700-8298-4FF7-A094-80BBEEB3A6F0}">
      <dgm:prSet/>
      <dgm:spPr/>
      <dgm:t>
        <a:bodyPr/>
        <a:lstStyle/>
        <a:p>
          <a:endParaRPr lang="en-US"/>
        </a:p>
      </dgm:t>
    </dgm:pt>
    <dgm:pt modelId="{308DF8E8-E287-4956-8934-7F2A12506D9C}" type="sibTrans" cxnId="{71652700-8298-4FF7-A094-80BBEEB3A6F0}">
      <dgm:prSet/>
      <dgm:spPr/>
      <dgm:t>
        <a:bodyPr/>
        <a:lstStyle/>
        <a:p>
          <a:endParaRPr lang="en-US"/>
        </a:p>
      </dgm:t>
    </dgm:pt>
    <dgm:pt modelId="{4FB5F32F-A7D6-4F07-93AC-44BCA6EE1E56}" type="pres">
      <dgm:prSet presAssocID="{BDA10426-463E-4FC1-9646-E7E8222239AB}" presName="linear" presStyleCnt="0">
        <dgm:presLayoutVars>
          <dgm:animLvl val="lvl"/>
          <dgm:resizeHandles val="exact"/>
        </dgm:presLayoutVars>
      </dgm:prSet>
      <dgm:spPr/>
    </dgm:pt>
    <dgm:pt modelId="{0A505726-B2D5-40A7-A82E-E1999AEE5DC7}" type="pres">
      <dgm:prSet presAssocID="{26962F2B-806A-40C6-8B83-0E5440562FA7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068F7779-849E-439F-9462-522992FD4034}" type="pres">
      <dgm:prSet presAssocID="{63C9EA19-1A8A-4195-96EF-8719C9980B60}" presName="spacer" presStyleCnt="0"/>
      <dgm:spPr/>
    </dgm:pt>
    <dgm:pt modelId="{95CADF47-5A82-432D-A8D5-A5A93709338B}" type="pres">
      <dgm:prSet presAssocID="{2D96698D-E007-489A-850B-0E0FFDDBCBB2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B4D77399-ADB8-4B63-BD59-8FE592084151}" type="pres">
      <dgm:prSet presAssocID="{5AD6A3B6-34A0-4B9D-BD60-1D39E2DD400B}" presName="spacer" presStyleCnt="0"/>
      <dgm:spPr/>
    </dgm:pt>
    <dgm:pt modelId="{8009252A-B56B-402C-9648-38F65C918E47}" type="pres">
      <dgm:prSet presAssocID="{894E2818-068A-439A-8D8F-0BA2DD01F0D9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71652700-8298-4FF7-A094-80BBEEB3A6F0}" srcId="{BDA10426-463E-4FC1-9646-E7E8222239AB}" destId="{894E2818-068A-439A-8D8F-0BA2DD01F0D9}" srcOrd="2" destOrd="0" parTransId="{6B0D9318-984B-4F36-9AC9-2FB3DBDDA0EC}" sibTransId="{308DF8E8-E287-4956-8934-7F2A12506D9C}"/>
    <dgm:cxn modelId="{7624E70F-A57E-42E7-A813-2BBF2BF5E9F5}" type="presOf" srcId="{894E2818-068A-439A-8D8F-0BA2DD01F0D9}" destId="{8009252A-B56B-402C-9648-38F65C918E47}" srcOrd="0" destOrd="0" presId="urn:microsoft.com/office/officeart/2005/8/layout/vList2"/>
    <dgm:cxn modelId="{F8009D17-FDDA-4E4F-8A9C-CCAC2D951B11}" type="presOf" srcId="{BDA10426-463E-4FC1-9646-E7E8222239AB}" destId="{4FB5F32F-A7D6-4F07-93AC-44BCA6EE1E56}" srcOrd="0" destOrd="0" presId="urn:microsoft.com/office/officeart/2005/8/layout/vList2"/>
    <dgm:cxn modelId="{873C3B84-BE7E-49DA-8F3B-96BBC9C45074}" type="presOf" srcId="{26962F2B-806A-40C6-8B83-0E5440562FA7}" destId="{0A505726-B2D5-40A7-A82E-E1999AEE5DC7}" srcOrd="0" destOrd="0" presId="urn:microsoft.com/office/officeart/2005/8/layout/vList2"/>
    <dgm:cxn modelId="{C8F3979C-8F67-4C03-AFE3-D690D2092C76}" srcId="{BDA10426-463E-4FC1-9646-E7E8222239AB}" destId="{26962F2B-806A-40C6-8B83-0E5440562FA7}" srcOrd="0" destOrd="0" parTransId="{CE566AB8-BD19-4C58-B164-34AD3F797B6B}" sibTransId="{63C9EA19-1A8A-4195-96EF-8719C9980B60}"/>
    <dgm:cxn modelId="{94E104C5-E757-4144-8D55-34A778476C53}" type="presOf" srcId="{2D96698D-E007-489A-850B-0E0FFDDBCBB2}" destId="{95CADF47-5A82-432D-A8D5-A5A93709338B}" srcOrd="0" destOrd="0" presId="urn:microsoft.com/office/officeart/2005/8/layout/vList2"/>
    <dgm:cxn modelId="{87A736F6-D3B1-45CC-875E-3DA90B6A4FE7}" srcId="{BDA10426-463E-4FC1-9646-E7E8222239AB}" destId="{2D96698D-E007-489A-850B-0E0FFDDBCBB2}" srcOrd="1" destOrd="0" parTransId="{3D909683-4C0F-441A-838C-0E7ADAED5134}" sibTransId="{5AD6A3B6-34A0-4B9D-BD60-1D39E2DD400B}"/>
    <dgm:cxn modelId="{053A471E-F1C4-44F4-A455-89B6488D39D3}" type="presParOf" srcId="{4FB5F32F-A7D6-4F07-93AC-44BCA6EE1E56}" destId="{0A505726-B2D5-40A7-A82E-E1999AEE5DC7}" srcOrd="0" destOrd="0" presId="urn:microsoft.com/office/officeart/2005/8/layout/vList2"/>
    <dgm:cxn modelId="{D8769278-E649-4198-9A2A-ECB4241F6408}" type="presParOf" srcId="{4FB5F32F-A7D6-4F07-93AC-44BCA6EE1E56}" destId="{068F7779-849E-439F-9462-522992FD4034}" srcOrd="1" destOrd="0" presId="urn:microsoft.com/office/officeart/2005/8/layout/vList2"/>
    <dgm:cxn modelId="{3E83E9F3-F9D5-4292-9794-F2E136314A0D}" type="presParOf" srcId="{4FB5F32F-A7D6-4F07-93AC-44BCA6EE1E56}" destId="{95CADF47-5A82-432D-A8D5-A5A93709338B}" srcOrd="2" destOrd="0" presId="urn:microsoft.com/office/officeart/2005/8/layout/vList2"/>
    <dgm:cxn modelId="{8D98F88F-AA03-4484-A936-A5F6B1985C67}" type="presParOf" srcId="{4FB5F32F-A7D6-4F07-93AC-44BCA6EE1E56}" destId="{B4D77399-ADB8-4B63-BD59-8FE592084151}" srcOrd="3" destOrd="0" presId="urn:microsoft.com/office/officeart/2005/8/layout/vList2"/>
    <dgm:cxn modelId="{AC2A8D25-6D6D-45BB-B7A6-F227F82F34E8}" type="presParOf" srcId="{4FB5F32F-A7D6-4F07-93AC-44BCA6EE1E56}" destId="{8009252A-B56B-402C-9648-38F65C918E47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186F7CD-1B73-40A9-B7C4-113E60830457}" type="doc">
      <dgm:prSet loTypeId="urn:microsoft.com/office/officeart/2005/8/layout/default" loCatId="list" qsTypeId="urn:microsoft.com/office/officeart/2005/8/quickstyle/simple5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39BE3E77-60F1-4EAB-AB57-82F7E976F3E0}">
      <dgm:prSet/>
      <dgm:spPr/>
      <dgm:t>
        <a:bodyPr/>
        <a:lstStyle/>
        <a:p>
          <a:r>
            <a:rPr lang="en-US"/>
            <a:t>Solusi dengan metode numerik adalah solusi hampiran (aproksimasi)</a:t>
          </a:r>
        </a:p>
      </dgm:t>
    </dgm:pt>
    <dgm:pt modelId="{66DD1183-2497-4F9E-9E1D-D270BA1B04A5}" type="parTrans" cxnId="{1EB0C2D3-0B02-423B-80ED-3943F1C17322}">
      <dgm:prSet/>
      <dgm:spPr/>
      <dgm:t>
        <a:bodyPr/>
        <a:lstStyle/>
        <a:p>
          <a:endParaRPr lang="en-US"/>
        </a:p>
      </dgm:t>
    </dgm:pt>
    <dgm:pt modelId="{1346DB67-842B-4A89-939C-E329496A3558}" type="sibTrans" cxnId="{1EB0C2D3-0B02-423B-80ED-3943F1C17322}">
      <dgm:prSet/>
      <dgm:spPr/>
      <dgm:t>
        <a:bodyPr/>
        <a:lstStyle/>
        <a:p>
          <a:endParaRPr lang="en-US"/>
        </a:p>
      </dgm:t>
    </dgm:pt>
    <dgm:pt modelId="{0A84B26F-9A2A-45B8-B2C0-B7999EFBD963}">
      <dgm:prSet/>
      <dgm:spPr/>
      <dgm:t>
        <a:bodyPr/>
        <a:lstStyle/>
        <a:p>
          <a:r>
            <a:rPr lang="en-US" dirty="0" err="1"/>
            <a:t>Hampiran</a:t>
          </a:r>
          <a:r>
            <a:rPr lang="en-US" dirty="0"/>
            <a:t> </a:t>
          </a:r>
          <a:r>
            <a:rPr lang="en-US" dirty="0" err="1"/>
            <a:t>terhadap</a:t>
          </a:r>
          <a:r>
            <a:rPr lang="en-US" dirty="0"/>
            <a:t> </a:t>
          </a:r>
          <a:r>
            <a:rPr lang="en-US" dirty="0" err="1"/>
            <a:t>solusi</a:t>
          </a:r>
          <a:r>
            <a:rPr lang="en-US" dirty="0"/>
            <a:t> </a:t>
          </a:r>
          <a:r>
            <a:rPr lang="en-US" dirty="0" err="1"/>
            <a:t>eksak</a:t>
          </a:r>
          <a:endParaRPr lang="en-US" dirty="0"/>
        </a:p>
      </dgm:t>
    </dgm:pt>
    <dgm:pt modelId="{DF453B98-0C3D-4261-ABBB-44B43C6999F5}" type="parTrans" cxnId="{75A81F45-9BC5-45E2-93A1-1A0E8D3D2D63}">
      <dgm:prSet/>
      <dgm:spPr/>
      <dgm:t>
        <a:bodyPr/>
        <a:lstStyle/>
        <a:p>
          <a:endParaRPr lang="en-US"/>
        </a:p>
      </dgm:t>
    </dgm:pt>
    <dgm:pt modelId="{46C6EBB0-5425-4A59-9457-A24DDA332517}" type="sibTrans" cxnId="{75A81F45-9BC5-45E2-93A1-1A0E8D3D2D63}">
      <dgm:prSet/>
      <dgm:spPr/>
      <dgm:t>
        <a:bodyPr/>
        <a:lstStyle/>
        <a:p>
          <a:endParaRPr lang="en-US"/>
        </a:p>
      </dgm:t>
    </dgm:pt>
    <dgm:pt modelId="{8167F6FA-4F54-4390-B0A8-3637F4676DF8}">
      <dgm:prSet/>
      <dgm:spPr/>
      <dgm:t>
        <a:bodyPr/>
        <a:lstStyle/>
        <a:p>
          <a:r>
            <a:rPr lang="en-US" dirty="0"/>
            <a:t>Oleh </a:t>
          </a:r>
          <a:r>
            <a:rPr lang="en-US" dirty="0" err="1"/>
            <a:t>karena</a:t>
          </a:r>
          <a:r>
            <a:rPr lang="en-US" dirty="0"/>
            <a:t> </a:t>
          </a:r>
          <a:r>
            <a:rPr lang="en-US" dirty="0" err="1"/>
            <a:t>itu</a:t>
          </a:r>
          <a:r>
            <a:rPr lang="en-US" dirty="0"/>
            <a:t>, </a:t>
          </a:r>
          <a:r>
            <a:rPr lang="en-US" dirty="0" err="1"/>
            <a:t>solusi</a:t>
          </a:r>
          <a:r>
            <a:rPr lang="en-US" dirty="0"/>
            <a:t> </a:t>
          </a:r>
          <a:r>
            <a:rPr lang="en-US" dirty="0" err="1"/>
            <a:t>numerik</a:t>
          </a:r>
          <a:r>
            <a:rPr lang="en-US" dirty="0"/>
            <a:t> </a:t>
          </a:r>
          <a:r>
            <a:rPr lang="en-US" dirty="0" err="1"/>
            <a:t>numerik</a:t>
          </a:r>
          <a:r>
            <a:rPr lang="en-US" dirty="0"/>
            <a:t> </a:t>
          </a:r>
          <a:r>
            <a:rPr lang="en-US" dirty="0" err="1"/>
            <a:t>mengandung</a:t>
          </a:r>
          <a:r>
            <a:rPr lang="en-US" dirty="0"/>
            <a:t> </a:t>
          </a:r>
          <a:r>
            <a:rPr lang="en-US" dirty="0" err="1"/>
            <a:t>mengandung</a:t>
          </a:r>
          <a:r>
            <a:rPr lang="en-US" dirty="0"/>
            <a:t> </a:t>
          </a:r>
          <a:r>
            <a:rPr lang="en-US" dirty="0" err="1"/>
            <a:t>galat</a:t>
          </a:r>
          <a:r>
            <a:rPr lang="en-US" dirty="0"/>
            <a:t>.</a:t>
          </a:r>
        </a:p>
      </dgm:t>
    </dgm:pt>
    <dgm:pt modelId="{D010DD49-53B9-45F8-A358-CB5D9AFF6802}" type="parTrans" cxnId="{E7FCC715-2222-4EC0-8264-01751204F2B3}">
      <dgm:prSet/>
      <dgm:spPr/>
      <dgm:t>
        <a:bodyPr/>
        <a:lstStyle/>
        <a:p>
          <a:endParaRPr lang="en-US"/>
        </a:p>
      </dgm:t>
    </dgm:pt>
    <dgm:pt modelId="{706D73C2-7BAA-42A2-B10D-BA6B9F129C99}" type="sibTrans" cxnId="{E7FCC715-2222-4EC0-8264-01751204F2B3}">
      <dgm:prSet/>
      <dgm:spPr/>
      <dgm:t>
        <a:bodyPr/>
        <a:lstStyle/>
        <a:p>
          <a:endParaRPr lang="en-US"/>
        </a:p>
      </dgm:t>
    </dgm:pt>
    <dgm:pt modelId="{BBEE8EC3-774F-47E8-B1E4-DDF7B8860BD7}">
      <dgm:prSet/>
      <dgm:spPr/>
      <dgm:t>
        <a:bodyPr/>
        <a:lstStyle/>
        <a:p>
          <a:r>
            <a:rPr lang="en-US" dirty="0" err="1"/>
            <a:t>Galat</a:t>
          </a:r>
          <a:r>
            <a:rPr lang="en-US" dirty="0"/>
            <a:t> (ε): </a:t>
          </a:r>
          <a:r>
            <a:rPr lang="en-US" dirty="0" err="1"/>
            <a:t>perbedaan</a:t>
          </a:r>
          <a:r>
            <a:rPr lang="en-US" dirty="0"/>
            <a:t> </a:t>
          </a:r>
          <a:r>
            <a:rPr lang="en-US" dirty="0" err="1"/>
            <a:t>antara</a:t>
          </a:r>
          <a:r>
            <a:rPr lang="en-US" dirty="0"/>
            <a:t> </a:t>
          </a:r>
          <a:r>
            <a:rPr lang="en-US" dirty="0" err="1"/>
            <a:t>solusi</a:t>
          </a:r>
          <a:r>
            <a:rPr lang="en-US" dirty="0"/>
            <a:t> </a:t>
          </a:r>
          <a:r>
            <a:rPr lang="en-US" dirty="0" err="1"/>
            <a:t>hampiran</a:t>
          </a:r>
          <a:r>
            <a:rPr lang="en-US" dirty="0"/>
            <a:t> </a:t>
          </a:r>
          <a:r>
            <a:rPr lang="en-US" dirty="0" err="1"/>
            <a:t>dengan</a:t>
          </a:r>
          <a:r>
            <a:rPr lang="en-US" dirty="0"/>
            <a:t> </a:t>
          </a:r>
          <a:r>
            <a:rPr lang="en-US" dirty="0" err="1"/>
            <a:t>solusi</a:t>
          </a:r>
          <a:r>
            <a:rPr lang="en-US" dirty="0"/>
            <a:t> </a:t>
          </a:r>
          <a:r>
            <a:rPr lang="en-US" dirty="0" err="1"/>
            <a:t>eksak</a:t>
          </a:r>
          <a:r>
            <a:rPr lang="en-US" dirty="0"/>
            <a:t>. </a:t>
          </a:r>
        </a:p>
        <a:p>
          <a:endParaRPr lang="en-US" dirty="0"/>
        </a:p>
      </dgm:t>
    </dgm:pt>
    <dgm:pt modelId="{76D8F4C2-BCE0-4F35-BD60-7FCA723C6CDA}" type="parTrans" cxnId="{C40E1476-83BF-4FF1-863E-98358DA76F77}">
      <dgm:prSet/>
      <dgm:spPr/>
      <dgm:t>
        <a:bodyPr/>
        <a:lstStyle/>
        <a:p>
          <a:endParaRPr lang="en-US"/>
        </a:p>
      </dgm:t>
    </dgm:pt>
    <dgm:pt modelId="{982177DA-8141-48FE-A56F-4C33301BE11D}" type="sibTrans" cxnId="{C40E1476-83BF-4FF1-863E-98358DA76F77}">
      <dgm:prSet/>
      <dgm:spPr/>
      <dgm:t>
        <a:bodyPr/>
        <a:lstStyle/>
        <a:p>
          <a:endParaRPr lang="en-US"/>
        </a:p>
      </dgm:t>
    </dgm:pt>
    <dgm:pt modelId="{EBD28C0D-8EA8-4207-B4F5-234FB4EB5467}" type="pres">
      <dgm:prSet presAssocID="{E186F7CD-1B73-40A9-B7C4-113E60830457}" presName="diagram" presStyleCnt="0">
        <dgm:presLayoutVars>
          <dgm:dir/>
          <dgm:resizeHandles val="exact"/>
        </dgm:presLayoutVars>
      </dgm:prSet>
      <dgm:spPr/>
    </dgm:pt>
    <dgm:pt modelId="{0130702E-1D08-4D74-A970-98A8EF2569D9}" type="pres">
      <dgm:prSet presAssocID="{39BE3E77-60F1-4EAB-AB57-82F7E976F3E0}" presName="node" presStyleLbl="node1" presStyleIdx="0" presStyleCnt="4">
        <dgm:presLayoutVars>
          <dgm:bulletEnabled val="1"/>
        </dgm:presLayoutVars>
      </dgm:prSet>
      <dgm:spPr/>
    </dgm:pt>
    <dgm:pt modelId="{1AFF1F05-B4B5-43C8-A172-20CC12A0F89A}" type="pres">
      <dgm:prSet presAssocID="{1346DB67-842B-4A89-939C-E329496A3558}" presName="sibTrans" presStyleCnt="0"/>
      <dgm:spPr/>
    </dgm:pt>
    <dgm:pt modelId="{2E55F546-4A45-449F-8D90-26AC3A9E2299}" type="pres">
      <dgm:prSet presAssocID="{0A84B26F-9A2A-45B8-B2C0-B7999EFBD963}" presName="node" presStyleLbl="node1" presStyleIdx="1" presStyleCnt="4">
        <dgm:presLayoutVars>
          <dgm:bulletEnabled val="1"/>
        </dgm:presLayoutVars>
      </dgm:prSet>
      <dgm:spPr/>
    </dgm:pt>
    <dgm:pt modelId="{6F6C0BE2-B1AF-41D4-B881-6738B99B29E1}" type="pres">
      <dgm:prSet presAssocID="{46C6EBB0-5425-4A59-9457-A24DDA332517}" presName="sibTrans" presStyleCnt="0"/>
      <dgm:spPr/>
    </dgm:pt>
    <dgm:pt modelId="{50928DDE-1B8D-4EBE-98B8-9895F86B8DEA}" type="pres">
      <dgm:prSet presAssocID="{8167F6FA-4F54-4390-B0A8-3637F4676DF8}" presName="node" presStyleLbl="node1" presStyleIdx="2" presStyleCnt="4">
        <dgm:presLayoutVars>
          <dgm:bulletEnabled val="1"/>
        </dgm:presLayoutVars>
      </dgm:prSet>
      <dgm:spPr/>
    </dgm:pt>
    <dgm:pt modelId="{252F7235-9EF9-4E3B-AF3D-168BB2357B49}" type="pres">
      <dgm:prSet presAssocID="{706D73C2-7BAA-42A2-B10D-BA6B9F129C99}" presName="sibTrans" presStyleCnt="0"/>
      <dgm:spPr/>
    </dgm:pt>
    <dgm:pt modelId="{F740FD57-E426-4EEF-8E95-7C33DC95BD29}" type="pres">
      <dgm:prSet presAssocID="{BBEE8EC3-774F-47E8-B1E4-DDF7B8860BD7}" presName="node" presStyleLbl="node1" presStyleIdx="3" presStyleCnt="4">
        <dgm:presLayoutVars>
          <dgm:bulletEnabled val="1"/>
        </dgm:presLayoutVars>
      </dgm:prSet>
      <dgm:spPr/>
    </dgm:pt>
  </dgm:ptLst>
  <dgm:cxnLst>
    <dgm:cxn modelId="{E7FCC715-2222-4EC0-8264-01751204F2B3}" srcId="{E186F7CD-1B73-40A9-B7C4-113E60830457}" destId="{8167F6FA-4F54-4390-B0A8-3637F4676DF8}" srcOrd="2" destOrd="0" parTransId="{D010DD49-53B9-45F8-A358-CB5D9AFF6802}" sibTransId="{706D73C2-7BAA-42A2-B10D-BA6B9F129C99}"/>
    <dgm:cxn modelId="{8D22FE1D-D14C-4B7B-BD80-944E4FA43AF1}" type="presOf" srcId="{E186F7CD-1B73-40A9-B7C4-113E60830457}" destId="{EBD28C0D-8EA8-4207-B4F5-234FB4EB5467}" srcOrd="0" destOrd="0" presId="urn:microsoft.com/office/officeart/2005/8/layout/default"/>
    <dgm:cxn modelId="{06185735-9AAE-4E3A-8462-8861EC670214}" type="presOf" srcId="{39BE3E77-60F1-4EAB-AB57-82F7E976F3E0}" destId="{0130702E-1D08-4D74-A970-98A8EF2569D9}" srcOrd="0" destOrd="0" presId="urn:microsoft.com/office/officeart/2005/8/layout/default"/>
    <dgm:cxn modelId="{75A81F45-9BC5-45E2-93A1-1A0E8D3D2D63}" srcId="{E186F7CD-1B73-40A9-B7C4-113E60830457}" destId="{0A84B26F-9A2A-45B8-B2C0-B7999EFBD963}" srcOrd="1" destOrd="0" parTransId="{DF453B98-0C3D-4261-ABBB-44B43C6999F5}" sibTransId="{46C6EBB0-5425-4A59-9457-A24DDA332517}"/>
    <dgm:cxn modelId="{C40E1476-83BF-4FF1-863E-98358DA76F77}" srcId="{E186F7CD-1B73-40A9-B7C4-113E60830457}" destId="{BBEE8EC3-774F-47E8-B1E4-DDF7B8860BD7}" srcOrd="3" destOrd="0" parTransId="{76D8F4C2-BCE0-4F35-BD60-7FCA723C6CDA}" sibTransId="{982177DA-8141-48FE-A56F-4C33301BE11D}"/>
    <dgm:cxn modelId="{D9BB179D-6F83-4EAF-9705-658411C4124C}" type="presOf" srcId="{BBEE8EC3-774F-47E8-B1E4-DDF7B8860BD7}" destId="{F740FD57-E426-4EEF-8E95-7C33DC95BD29}" srcOrd="0" destOrd="0" presId="urn:microsoft.com/office/officeart/2005/8/layout/default"/>
    <dgm:cxn modelId="{7DE00AC1-B68F-4CE2-B753-256EA732C62D}" type="presOf" srcId="{0A84B26F-9A2A-45B8-B2C0-B7999EFBD963}" destId="{2E55F546-4A45-449F-8D90-26AC3A9E2299}" srcOrd="0" destOrd="0" presId="urn:microsoft.com/office/officeart/2005/8/layout/default"/>
    <dgm:cxn modelId="{1EB0C2D3-0B02-423B-80ED-3943F1C17322}" srcId="{E186F7CD-1B73-40A9-B7C4-113E60830457}" destId="{39BE3E77-60F1-4EAB-AB57-82F7E976F3E0}" srcOrd="0" destOrd="0" parTransId="{66DD1183-2497-4F9E-9E1D-D270BA1B04A5}" sibTransId="{1346DB67-842B-4A89-939C-E329496A3558}"/>
    <dgm:cxn modelId="{8FF143DF-AF5F-4B86-8618-885F1115B56A}" type="presOf" srcId="{8167F6FA-4F54-4390-B0A8-3637F4676DF8}" destId="{50928DDE-1B8D-4EBE-98B8-9895F86B8DEA}" srcOrd="0" destOrd="0" presId="urn:microsoft.com/office/officeart/2005/8/layout/default"/>
    <dgm:cxn modelId="{5D4B8281-A604-4820-80D2-1E62F0121399}" type="presParOf" srcId="{EBD28C0D-8EA8-4207-B4F5-234FB4EB5467}" destId="{0130702E-1D08-4D74-A970-98A8EF2569D9}" srcOrd="0" destOrd="0" presId="urn:microsoft.com/office/officeart/2005/8/layout/default"/>
    <dgm:cxn modelId="{C2B67394-2308-48CC-9FF1-6DAD07160BE4}" type="presParOf" srcId="{EBD28C0D-8EA8-4207-B4F5-234FB4EB5467}" destId="{1AFF1F05-B4B5-43C8-A172-20CC12A0F89A}" srcOrd="1" destOrd="0" presId="urn:microsoft.com/office/officeart/2005/8/layout/default"/>
    <dgm:cxn modelId="{F1E09086-DBE7-4755-B8DB-AF99D14B5E3C}" type="presParOf" srcId="{EBD28C0D-8EA8-4207-B4F5-234FB4EB5467}" destId="{2E55F546-4A45-449F-8D90-26AC3A9E2299}" srcOrd="2" destOrd="0" presId="urn:microsoft.com/office/officeart/2005/8/layout/default"/>
    <dgm:cxn modelId="{BE121F49-621A-4302-BD1D-56D42CFCB5B2}" type="presParOf" srcId="{EBD28C0D-8EA8-4207-B4F5-234FB4EB5467}" destId="{6F6C0BE2-B1AF-41D4-B881-6738B99B29E1}" srcOrd="3" destOrd="0" presId="urn:microsoft.com/office/officeart/2005/8/layout/default"/>
    <dgm:cxn modelId="{7FDC3AD7-263B-4298-AC24-4BCE047085BF}" type="presParOf" srcId="{EBD28C0D-8EA8-4207-B4F5-234FB4EB5467}" destId="{50928DDE-1B8D-4EBE-98B8-9895F86B8DEA}" srcOrd="4" destOrd="0" presId="urn:microsoft.com/office/officeart/2005/8/layout/default"/>
    <dgm:cxn modelId="{15F04BD9-C54E-45E6-99C2-6D4E89D6DE6B}" type="presParOf" srcId="{EBD28C0D-8EA8-4207-B4F5-234FB4EB5467}" destId="{252F7235-9EF9-4E3B-AF3D-168BB2357B49}" srcOrd="5" destOrd="0" presId="urn:microsoft.com/office/officeart/2005/8/layout/default"/>
    <dgm:cxn modelId="{6194F7F2-3710-47A1-95F2-8F59FB897A47}" type="presParOf" srcId="{EBD28C0D-8EA8-4207-B4F5-234FB4EB5467}" destId="{F740FD57-E426-4EEF-8E95-7C33DC95BD29}" srcOrd="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A505726-B2D5-40A7-A82E-E1999AEE5DC7}">
      <dsp:nvSpPr>
        <dsp:cNvPr id="0" name=""/>
        <dsp:cNvSpPr/>
      </dsp:nvSpPr>
      <dsp:spPr>
        <a:xfrm>
          <a:off x="0" y="141309"/>
          <a:ext cx="6586489" cy="111384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Deret Taylor adalah alat yang utama untuk menurunkan suatu metode numerik. </a:t>
          </a:r>
        </a:p>
      </dsp:txBody>
      <dsp:txXfrm>
        <a:off x="54373" y="195682"/>
        <a:ext cx="6477743" cy="1005094"/>
      </dsp:txXfrm>
    </dsp:sp>
    <dsp:sp modelId="{95CADF47-5A82-432D-A8D5-A5A93709338B}">
      <dsp:nvSpPr>
        <dsp:cNvPr id="0" name=""/>
        <dsp:cNvSpPr/>
      </dsp:nvSpPr>
      <dsp:spPr>
        <a:xfrm>
          <a:off x="0" y="1335789"/>
          <a:ext cx="6586489" cy="1113840"/>
        </a:xfrm>
        <a:prstGeom prst="roundRect">
          <a:avLst/>
        </a:prstGeom>
        <a:solidFill>
          <a:schemeClr val="accent2">
            <a:hueOff val="-727682"/>
            <a:satOff val="-41964"/>
            <a:lumOff val="431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Deret Taylor berguna untuk menghampiri fungsi ke dalam bentuk polinom. </a:t>
          </a:r>
        </a:p>
      </dsp:txBody>
      <dsp:txXfrm>
        <a:off x="54373" y="1390162"/>
        <a:ext cx="6477743" cy="1005094"/>
      </dsp:txXfrm>
    </dsp:sp>
    <dsp:sp modelId="{8009252A-B56B-402C-9648-38F65C918E47}">
      <dsp:nvSpPr>
        <dsp:cNvPr id="0" name=""/>
        <dsp:cNvSpPr/>
      </dsp:nvSpPr>
      <dsp:spPr>
        <a:xfrm>
          <a:off x="0" y="2530269"/>
          <a:ext cx="6586489" cy="1113840"/>
        </a:xfrm>
        <a:prstGeom prst="roundRect">
          <a:avLst/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Fungsi yang rumit menjadi sederhana dengan deret Taylor</a:t>
          </a:r>
        </a:p>
      </dsp:txBody>
      <dsp:txXfrm>
        <a:off x="54373" y="2584642"/>
        <a:ext cx="6477743" cy="100509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130702E-1D08-4D74-A970-98A8EF2569D9}">
      <dsp:nvSpPr>
        <dsp:cNvPr id="0" name=""/>
        <dsp:cNvSpPr/>
      </dsp:nvSpPr>
      <dsp:spPr>
        <a:xfrm>
          <a:off x="435133" y="1853"/>
          <a:ext cx="2787085" cy="1672251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Solusi dengan metode numerik adalah solusi hampiran (aproksimasi)</a:t>
          </a:r>
        </a:p>
      </dsp:txBody>
      <dsp:txXfrm>
        <a:off x="435133" y="1853"/>
        <a:ext cx="2787085" cy="1672251"/>
      </dsp:txXfrm>
    </dsp:sp>
    <dsp:sp modelId="{2E55F546-4A45-449F-8D90-26AC3A9E2299}">
      <dsp:nvSpPr>
        <dsp:cNvPr id="0" name=""/>
        <dsp:cNvSpPr/>
      </dsp:nvSpPr>
      <dsp:spPr>
        <a:xfrm>
          <a:off x="3500926" y="1853"/>
          <a:ext cx="2787085" cy="1672251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 err="1"/>
            <a:t>Hampiran</a:t>
          </a:r>
          <a:r>
            <a:rPr lang="en-US" sz="2200" kern="1200" dirty="0"/>
            <a:t> </a:t>
          </a:r>
          <a:r>
            <a:rPr lang="en-US" sz="2200" kern="1200" dirty="0" err="1"/>
            <a:t>terhadap</a:t>
          </a:r>
          <a:r>
            <a:rPr lang="en-US" sz="2200" kern="1200" dirty="0"/>
            <a:t> </a:t>
          </a:r>
          <a:r>
            <a:rPr lang="en-US" sz="2200" kern="1200" dirty="0" err="1"/>
            <a:t>solusi</a:t>
          </a:r>
          <a:r>
            <a:rPr lang="en-US" sz="2200" kern="1200" dirty="0"/>
            <a:t> </a:t>
          </a:r>
          <a:r>
            <a:rPr lang="en-US" sz="2200" kern="1200" dirty="0" err="1"/>
            <a:t>eksak</a:t>
          </a:r>
          <a:endParaRPr lang="en-US" sz="2200" kern="1200" dirty="0"/>
        </a:p>
      </dsp:txBody>
      <dsp:txXfrm>
        <a:off x="3500926" y="1853"/>
        <a:ext cx="2787085" cy="1672251"/>
      </dsp:txXfrm>
    </dsp:sp>
    <dsp:sp modelId="{50928DDE-1B8D-4EBE-98B8-9895F86B8DEA}">
      <dsp:nvSpPr>
        <dsp:cNvPr id="0" name=""/>
        <dsp:cNvSpPr/>
      </dsp:nvSpPr>
      <dsp:spPr>
        <a:xfrm>
          <a:off x="435133" y="1952812"/>
          <a:ext cx="2787085" cy="1672251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Oleh </a:t>
          </a:r>
          <a:r>
            <a:rPr lang="en-US" sz="2200" kern="1200" dirty="0" err="1"/>
            <a:t>karena</a:t>
          </a:r>
          <a:r>
            <a:rPr lang="en-US" sz="2200" kern="1200" dirty="0"/>
            <a:t> </a:t>
          </a:r>
          <a:r>
            <a:rPr lang="en-US" sz="2200" kern="1200" dirty="0" err="1"/>
            <a:t>itu</a:t>
          </a:r>
          <a:r>
            <a:rPr lang="en-US" sz="2200" kern="1200" dirty="0"/>
            <a:t>, </a:t>
          </a:r>
          <a:r>
            <a:rPr lang="en-US" sz="2200" kern="1200" dirty="0" err="1"/>
            <a:t>solusi</a:t>
          </a:r>
          <a:r>
            <a:rPr lang="en-US" sz="2200" kern="1200" dirty="0"/>
            <a:t> </a:t>
          </a:r>
          <a:r>
            <a:rPr lang="en-US" sz="2200" kern="1200" dirty="0" err="1"/>
            <a:t>numerik</a:t>
          </a:r>
          <a:r>
            <a:rPr lang="en-US" sz="2200" kern="1200" dirty="0"/>
            <a:t> </a:t>
          </a:r>
          <a:r>
            <a:rPr lang="en-US" sz="2200" kern="1200" dirty="0" err="1"/>
            <a:t>numerik</a:t>
          </a:r>
          <a:r>
            <a:rPr lang="en-US" sz="2200" kern="1200" dirty="0"/>
            <a:t> </a:t>
          </a:r>
          <a:r>
            <a:rPr lang="en-US" sz="2200" kern="1200" dirty="0" err="1"/>
            <a:t>mengandung</a:t>
          </a:r>
          <a:r>
            <a:rPr lang="en-US" sz="2200" kern="1200" dirty="0"/>
            <a:t> </a:t>
          </a:r>
          <a:r>
            <a:rPr lang="en-US" sz="2200" kern="1200" dirty="0" err="1"/>
            <a:t>mengandung</a:t>
          </a:r>
          <a:r>
            <a:rPr lang="en-US" sz="2200" kern="1200" dirty="0"/>
            <a:t> </a:t>
          </a:r>
          <a:r>
            <a:rPr lang="en-US" sz="2200" kern="1200" dirty="0" err="1"/>
            <a:t>galat</a:t>
          </a:r>
          <a:r>
            <a:rPr lang="en-US" sz="2200" kern="1200" dirty="0"/>
            <a:t>.</a:t>
          </a:r>
        </a:p>
      </dsp:txBody>
      <dsp:txXfrm>
        <a:off x="435133" y="1952812"/>
        <a:ext cx="2787085" cy="1672251"/>
      </dsp:txXfrm>
    </dsp:sp>
    <dsp:sp modelId="{F740FD57-E426-4EEF-8E95-7C33DC95BD29}">
      <dsp:nvSpPr>
        <dsp:cNvPr id="0" name=""/>
        <dsp:cNvSpPr/>
      </dsp:nvSpPr>
      <dsp:spPr>
        <a:xfrm>
          <a:off x="3500926" y="1952812"/>
          <a:ext cx="2787085" cy="1672251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 err="1"/>
            <a:t>Galat</a:t>
          </a:r>
          <a:r>
            <a:rPr lang="en-US" sz="2200" kern="1200" dirty="0"/>
            <a:t> (ε): </a:t>
          </a:r>
          <a:r>
            <a:rPr lang="en-US" sz="2200" kern="1200" dirty="0" err="1"/>
            <a:t>perbedaan</a:t>
          </a:r>
          <a:r>
            <a:rPr lang="en-US" sz="2200" kern="1200" dirty="0"/>
            <a:t> </a:t>
          </a:r>
          <a:r>
            <a:rPr lang="en-US" sz="2200" kern="1200" dirty="0" err="1"/>
            <a:t>antara</a:t>
          </a:r>
          <a:r>
            <a:rPr lang="en-US" sz="2200" kern="1200" dirty="0"/>
            <a:t> </a:t>
          </a:r>
          <a:r>
            <a:rPr lang="en-US" sz="2200" kern="1200" dirty="0" err="1"/>
            <a:t>solusi</a:t>
          </a:r>
          <a:r>
            <a:rPr lang="en-US" sz="2200" kern="1200" dirty="0"/>
            <a:t> </a:t>
          </a:r>
          <a:r>
            <a:rPr lang="en-US" sz="2200" kern="1200" dirty="0" err="1"/>
            <a:t>hampiran</a:t>
          </a:r>
          <a:r>
            <a:rPr lang="en-US" sz="2200" kern="1200" dirty="0"/>
            <a:t> </a:t>
          </a:r>
          <a:r>
            <a:rPr lang="en-US" sz="2200" kern="1200" dirty="0" err="1"/>
            <a:t>dengan</a:t>
          </a:r>
          <a:r>
            <a:rPr lang="en-US" sz="2200" kern="1200" dirty="0"/>
            <a:t> </a:t>
          </a:r>
          <a:r>
            <a:rPr lang="en-US" sz="2200" kern="1200" dirty="0" err="1"/>
            <a:t>solusi</a:t>
          </a:r>
          <a:r>
            <a:rPr lang="en-US" sz="2200" kern="1200" dirty="0"/>
            <a:t> </a:t>
          </a:r>
          <a:r>
            <a:rPr lang="en-US" sz="2200" kern="1200" dirty="0" err="1"/>
            <a:t>eksak</a:t>
          </a:r>
          <a:r>
            <a:rPr lang="en-US" sz="2200" kern="1200" dirty="0"/>
            <a:t>. </a:t>
          </a:r>
        </a:p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200" kern="1200" dirty="0"/>
        </a:p>
      </dsp:txBody>
      <dsp:txXfrm>
        <a:off x="3500926" y="1952812"/>
        <a:ext cx="2787085" cy="167225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9F9C41-3D6D-40DA-A817-544FF813B30C}" type="datetimeFigureOut">
              <a:rPr lang="en-ID" smtClean="0"/>
              <a:t>03/09/2021</a:t>
            </a:fld>
            <a:endParaRPr lang="en-I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8010C8-ABB4-48BA-AA1C-2D0B09E8735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8809667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DA1FDA-4F84-4036-AEF0-0ADFB233BBC5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289228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DA1FDA-4F84-4036-AEF0-0ADFB233BBC5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188394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DA1FDA-4F84-4036-AEF0-0ADFB233BBC5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02942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DA1FDA-4F84-4036-AEF0-0ADFB233BBC5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73952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EBA360-16FD-48D7-AA37-D01665392D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8820432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EBA360-16FD-48D7-AA37-D01665392D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2588658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9/3/2021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46823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D6A74D-1C8D-4400-A44B-18C61420D4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161360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4314F5-9B88-4A10-889F-F5ED679835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3866138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9F2F78-41F6-4DBD-A49B-20619A8622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1135821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C3B74E-CCD6-46A2-96AD-0288887844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5139638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2CF78D-0AC0-4E71-8350-3BC2A8E430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4157850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png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.pn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6310508-6870-44FB-B67F-C3F1350DB66D}"/>
              </a:ext>
            </a:extLst>
          </p:cNvPr>
          <p:cNvSpPr/>
          <p:nvPr userDrawn="1"/>
        </p:nvSpPr>
        <p:spPr>
          <a:xfrm>
            <a:off x="0" y="1"/>
            <a:ext cx="12192000" cy="120446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 </a:t>
            </a:r>
            <a:endParaRPr lang="en-ID" sz="2000" dirty="0">
              <a:solidFill>
                <a:schemeClr val="tx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22E1FA6-9BAA-48F7-9B48-E78A7FC60C7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42" y="38924"/>
            <a:ext cx="1119282" cy="108649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456D31B-DA89-4FCC-A0CF-973CBA8BD493}"/>
              </a:ext>
            </a:extLst>
          </p:cNvPr>
          <p:cNvSpPr txBox="1"/>
          <p:nvPr userDrawn="1"/>
        </p:nvSpPr>
        <p:spPr>
          <a:xfrm>
            <a:off x="1218924" y="166670"/>
            <a:ext cx="588610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dirty="0"/>
              <a:t>PROGRAM STUDI S1 TEKNIK INFORMATIKA</a:t>
            </a:r>
            <a:br>
              <a:rPr lang="en-US" sz="2400" dirty="0"/>
            </a:br>
            <a:r>
              <a:rPr lang="en-US" sz="2400" dirty="0"/>
              <a:t>UNIVERSITAS PAMULANG</a:t>
            </a:r>
            <a:endParaRPr lang="en-ID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960A43D-3921-41B8-B4DC-C239EAEA847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8352" y="0"/>
            <a:ext cx="2143648" cy="1205802"/>
          </a:xfrm>
          <a:prstGeom prst="rect">
            <a:avLst/>
          </a:prstGeom>
        </p:spPr>
      </p:pic>
      <p:sp>
        <p:nvSpPr>
          <p:cNvPr id="6" name="Title Placeholder 5">
            <a:extLst>
              <a:ext uri="{FF2B5EF4-FFF2-40B4-BE49-F238E27FC236}">
                <a16:creationId xmlns:a16="http://schemas.microsoft.com/office/drawing/2014/main" id="{36AE1D4B-E2EF-47C4-A1A7-5689711E6F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0446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Flowchart: Process 2">
            <a:extLst>
              <a:ext uri="{FF2B5EF4-FFF2-40B4-BE49-F238E27FC236}">
                <a16:creationId xmlns:a16="http://schemas.microsoft.com/office/drawing/2014/main" id="{59788E57-52DB-4E2B-A81F-D18E71DA02CB}"/>
              </a:ext>
            </a:extLst>
          </p:cNvPr>
          <p:cNvSpPr/>
          <p:nvPr userDrawn="1"/>
        </p:nvSpPr>
        <p:spPr>
          <a:xfrm>
            <a:off x="0" y="6360607"/>
            <a:ext cx="12192000" cy="497393"/>
          </a:xfrm>
          <a:prstGeom prst="flowChartProcess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E8BF5A5-79AC-4428-A4CF-F44278AA4D6F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7255" y="6422940"/>
            <a:ext cx="453018" cy="43911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F13C787-49DC-45B2-99DA-FD9DF4541EF2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42" y="6419057"/>
            <a:ext cx="380491" cy="38049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C0EC3BD-0F33-4AAF-A3A2-953764A0D99A}"/>
              </a:ext>
            </a:extLst>
          </p:cNvPr>
          <p:cNvSpPr txBox="1"/>
          <p:nvPr userDrawn="1"/>
        </p:nvSpPr>
        <p:spPr>
          <a:xfrm>
            <a:off x="480133" y="6412026"/>
            <a:ext cx="17936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InfoTI_unpam</a:t>
            </a:r>
            <a:endParaRPr lang="en-ID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0CFA357-EB7B-4C90-B08D-FF68109B966A}"/>
              </a:ext>
            </a:extLst>
          </p:cNvPr>
          <p:cNvSpPr txBox="1"/>
          <p:nvPr userDrawn="1"/>
        </p:nvSpPr>
        <p:spPr>
          <a:xfrm>
            <a:off x="2527388" y="6412026"/>
            <a:ext cx="26977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informatika.unpam.ac.id</a:t>
            </a:r>
            <a:endParaRPr lang="en-ID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C10FF8DC-21DB-400A-A27F-9751868D2AFC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43996" y="6412026"/>
            <a:ext cx="648362" cy="458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13102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5">
            <a:extLst>
              <a:ext uri="{FF2B5EF4-FFF2-40B4-BE49-F238E27FC236}">
                <a16:creationId xmlns:a16="http://schemas.microsoft.com/office/drawing/2014/main" id="{36AE1D4B-E2EF-47C4-A1A7-5689711E6F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0446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Flowchart: Process 2">
            <a:extLst>
              <a:ext uri="{FF2B5EF4-FFF2-40B4-BE49-F238E27FC236}">
                <a16:creationId xmlns:a16="http://schemas.microsoft.com/office/drawing/2014/main" id="{59788E57-52DB-4E2B-A81F-D18E71DA02CB}"/>
              </a:ext>
            </a:extLst>
          </p:cNvPr>
          <p:cNvSpPr/>
          <p:nvPr userDrawn="1"/>
        </p:nvSpPr>
        <p:spPr>
          <a:xfrm>
            <a:off x="0" y="6360607"/>
            <a:ext cx="12192000" cy="497393"/>
          </a:xfrm>
          <a:prstGeom prst="flowChartProcess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E8BF5A5-79AC-4428-A4CF-F44278AA4D6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7255" y="6422940"/>
            <a:ext cx="453018" cy="43911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F13C787-49DC-45B2-99DA-FD9DF4541EF2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42" y="6419057"/>
            <a:ext cx="380491" cy="38049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C0EC3BD-0F33-4AAF-A3A2-953764A0D99A}"/>
              </a:ext>
            </a:extLst>
          </p:cNvPr>
          <p:cNvSpPr txBox="1"/>
          <p:nvPr userDrawn="1"/>
        </p:nvSpPr>
        <p:spPr>
          <a:xfrm>
            <a:off x="480133" y="6412026"/>
            <a:ext cx="17936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InfoTI_unpam</a:t>
            </a:r>
            <a:endParaRPr lang="en-ID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0CFA357-EB7B-4C90-B08D-FF68109B966A}"/>
              </a:ext>
            </a:extLst>
          </p:cNvPr>
          <p:cNvSpPr txBox="1"/>
          <p:nvPr userDrawn="1"/>
        </p:nvSpPr>
        <p:spPr>
          <a:xfrm>
            <a:off x="2527388" y="6412026"/>
            <a:ext cx="26977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informatika.unpam.ac.id</a:t>
            </a:r>
            <a:endParaRPr lang="en-ID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C10FF8DC-21DB-400A-A27F-9751868D2AFC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43996" y="6412026"/>
            <a:ext cx="648362" cy="45873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0E9772E-AF4F-4C17-B477-D78352308CB6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590" y="6366986"/>
            <a:ext cx="512406" cy="497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18616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ight Triangle 8">
            <a:extLst>
              <a:ext uri="{FF2B5EF4-FFF2-40B4-BE49-F238E27FC236}">
                <a16:creationId xmlns:a16="http://schemas.microsoft.com/office/drawing/2014/main" id="{0FE1B4E5-ADBE-44E9-94B8-12353259E240}"/>
              </a:ext>
            </a:extLst>
          </p:cNvPr>
          <p:cNvSpPr/>
          <p:nvPr userDrawn="1"/>
        </p:nvSpPr>
        <p:spPr>
          <a:xfrm rot="16200000">
            <a:off x="10209964" y="4875960"/>
            <a:ext cx="1884065" cy="2080010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6310508-6870-44FB-B67F-C3F1350DB66D}"/>
              </a:ext>
            </a:extLst>
          </p:cNvPr>
          <p:cNvSpPr/>
          <p:nvPr userDrawn="1"/>
        </p:nvSpPr>
        <p:spPr>
          <a:xfrm>
            <a:off x="0" y="6211614"/>
            <a:ext cx="12192000" cy="64638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Program </a:t>
            </a:r>
            <a:r>
              <a:rPr lang="en-US" sz="2000" dirty="0" err="1">
                <a:solidFill>
                  <a:schemeClr val="tx1"/>
                </a:solidFill>
              </a:rPr>
              <a:t>Studi</a:t>
            </a:r>
            <a:r>
              <a:rPr lang="en-US" sz="2000" dirty="0">
                <a:solidFill>
                  <a:schemeClr val="tx1"/>
                </a:solidFill>
              </a:rPr>
              <a:t> Teknik </a:t>
            </a:r>
            <a:r>
              <a:rPr lang="en-US" sz="2000" dirty="0" err="1">
                <a:solidFill>
                  <a:schemeClr val="tx1"/>
                </a:solidFill>
              </a:rPr>
              <a:t>Informatika</a:t>
            </a:r>
            <a:r>
              <a:rPr lang="en-US" sz="2000" dirty="0">
                <a:solidFill>
                  <a:schemeClr val="tx1"/>
                </a:solidFill>
              </a:rPr>
              <a:t>, Universitas </a:t>
            </a:r>
            <a:r>
              <a:rPr lang="en-US" sz="2000" dirty="0" err="1">
                <a:solidFill>
                  <a:schemeClr val="tx1"/>
                </a:solidFill>
              </a:rPr>
              <a:t>Pamulang</a:t>
            </a:r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 </a:t>
            </a:r>
            <a:endParaRPr lang="en-ID" sz="2000" dirty="0">
              <a:solidFill>
                <a:schemeClr val="tx1"/>
              </a:solidFill>
            </a:endParaRPr>
          </a:p>
        </p:txBody>
      </p:sp>
      <p:sp>
        <p:nvSpPr>
          <p:cNvPr id="8" name="Right Triangle 7">
            <a:extLst>
              <a:ext uri="{FF2B5EF4-FFF2-40B4-BE49-F238E27FC236}">
                <a16:creationId xmlns:a16="http://schemas.microsoft.com/office/drawing/2014/main" id="{4354D356-3AB9-4317-AD64-9733710C017F}"/>
              </a:ext>
            </a:extLst>
          </p:cNvPr>
          <p:cNvSpPr/>
          <p:nvPr userDrawn="1"/>
        </p:nvSpPr>
        <p:spPr>
          <a:xfrm>
            <a:off x="0" y="5074416"/>
            <a:ext cx="1597688" cy="1783584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22E1FA6-9BAA-48F7-9B48-E78A7FC60C7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9172" y="5725289"/>
            <a:ext cx="1042588" cy="101204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1A5ABCE-DB0D-44E8-AF1B-A1F9AA2448C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0581" y="5864994"/>
            <a:ext cx="1403488" cy="99300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7710A05-4BC0-4640-9166-A8A038BAD88C}"/>
              </a:ext>
            </a:extLst>
          </p:cNvPr>
          <p:cNvSpPr txBox="1"/>
          <p:nvPr userDrawn="1"/>
        </p:nvSpPr>
        <p:spPr>
          <a:xfrm>
            <a:off x="3898760" y="2622619"/>
            <a:ext cx="519499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/>
              <a:t>TERIMA KASIH</a:t>
            </a:r>
            <a:endParaRPr lang="en-ID" sz="5400" dirty="0"/>
          </a:p>
        </p:txBody>
      </p:sp>
    </p:spTree>
    <p:extLst>
      <p:ext uri="{BB962C8B-B14F-4D97-AF65-F5344CB8AC3E}">
        <p14:creationId xmlns:p14="http://schemas.microsoft.com/office/powerpoint/2010/main" val="3211736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ight Triangle 8">
            <a:extLst>
              <a:ext uri="{FF2B5EF4-FFF2-40B4-BE49-F238E27FC236}">
                <a16:creationId xmlns:a16="http://schemas.microsoft.com/office/drawing/2014/main" id="{0FE1B4E5-ADBE-44E9-94B8-12353259E240}"/>
              </a:ext>
            </a:extLst>
          </p:cNvPr>
          <p:cNvSpPr/>
          <p:nvPr userDrawn="1"/>
        </p:nvSpPr>
        <p:spPr>
          <a:xfrm rot="16200000">
            <a:off x="10209964" y="4875960"/>
            <a:ext cx="1884065" cy="2080010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6310508-6870-44FB-B67F-C3F1350DB66D}"/>
              </a:ext>
            </a:extLst>
          </p:cNvPr>
          <p:cNvSpPr/>
          <p:nvPr userDrawn="1"/>
        </p:nvSpPr>
        <p:spPr>
          <a:xfrm>
            <a:off x="0" y="6211614"/>
            <a:ext cx="12192000" cy="64638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Program </a:t>
            </a:r>
            <a:r>
              <a:rPr lang="en-US" sz="2000" dirty="0" err="1">
                <a:solidFill>
                  <a:schemeClr val="tx1"/>
                </a:solidFill>
              </a:rPr>
              <a:t>Studi</a:t>
            </a:r>
            <a:r>
              <a:rPr lang="en-US" sz="2000" dirty="0">
                <a:solidFill>
                  <a:schemeClr val="tx1"/>
                </a:solidFill>
              </a:rPr>
              <a:t> Teknik </a:t>
            </a:r>
            <a:r>
              <a:rPr lang="en-US" sz="2000" dirty="0" err="1">
                <a:solidFill>
                  <a:schemeClr val="tx1"/>
                </a:solidFill>
              </a:rPr>
              <a:t>Informatika</a:t>
            </a:r>
            <a:r>
              <a:rPr lang="en-US" sz="2000" dirty="0">
                <a:solidFill>
                  <a:schemeClr val="tx1"/>
                </a:solidFill>
              </a:rPr>
              <a:t>, Universitas </a:t>
            </a:r>
            <a:r>
              <a:rPr lang="en-US" sz="2000" dirty="0" err="1">
                <a:solidFill>
                  <a:schemeClr val="tx1"/>
                </a:solidFill>
              </a:rPr>
              <a:t>Pamulang</a:t>
            </a:r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 </a:t>
            </a:r>
            <a:endParaRPr lang="en-ID" sz="2000" dirty="0">
              <a:solidFill>
                <a:schemeClr val="tx1"/>
              </a:solidFill>
            </a:endParaRPr>
          </a:p>
        </p:txBody>
      </p:sp>
      <p:sp>
        <p:nvSpPr>
          <p:cNvPr id="8" name="Right Triangle 7">
            <a:extLst>
              <a:ext uri="{FF2B5EF4-FFF2-40B4-BE49-F238E27FC236}">
                <a16:creationId xmlns:a16="http://schemas.microsoft.com/office/drawing/2014/main" id="{4354D356-3AB9-4317-AD64-9733710C017F}"/>
              </a:ext>
            </a:extLst>
          </p:cNvPr>
          <p:cNvSpPr/>
          <p:nvPr userDrawn="1"/>
        </p:nvSpPr>
        <p:spPr>
          <a:xfrm>
            <a:off x="0" y="5074416"/>
            <a:ext cx="1597688" cy="1783584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22E1FA6-9BAA-48F7-9B48-E78A7FC60C7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9172" y="5725289"/>
            <a:ext cx="1042588" cy="101204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1A5ABCE-DB0D-44E8-AF1B-A1F9AA2448C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0581" y="5864994"/>
            <a:ext cx="1403488" cy="993004"/>
          </a:xfrm>
          <a:prstGeom prst="rect">
            <a:avLst/>
          </a:prstGeom>
        </p:spPr>
      </p:pic>
      <p:sp>
        <p:nvSpPr>
          <p:cNvPr id="6" name="Flowchart: Process 5">
            <a:extLst>
              <a:ext uri="{FF2B5EF4-FFF2-40B4-BE49-F238E27FC236}">
                <a16:creationId xmlns:a16="http://schemas.microsoft.com/office/drawing/2014/main" id="{38F377F8-55ED-4437-98B9-2D2AA5DD3B4A}"/>
              </a:ext>
            </a:extLst>
          </p:cNvPr>
          <p:cNvSpPr/>
          <p:nvPr userDrawn="1"/>
        </p:nvSpPr>
        <p:spPr>
          <a:xfrm>
            <a:off x="0" y="2582426"/>
            <a:ext cx="12192000" cy="646385"/>
          </a:xfrm>
          <a:prstGeom prst="flowChartProcess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TERIMA KASIH, MAHASISWA TEKNIK INFORMATIKA UNGGUL, ANDA SUDAH BELAJAR DENGAN LUAR BIASA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9739215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65A30DD-8BE8-42A1-85CC-D069AF516FB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7600" y="2057400"/>
            <a:ext cx="4876800" cy="2743200"/>
          </a:xfrm>
          <a:prstGeom prst="rect">
            <a:avLst/>
          </a:prstGeom>
        </p:spPr>
      </p:pic>
      <p:sp>
        <p:nvSpPr>
          <p:cNvPr id="9" name="Right Triangle 8">
            <a:extLst>
              <a:ext uri="{FF2B5EF4-FFF2-40B4-BE49-F238E27FC236}">
                <a16:creationId xmlns:a16="http://schemas.microsoft.com/office/drawing/2014/main" id="{0FE1B4E5-ADBE-44E9-94B8-12353259E240}"/>
              </a:ext>
            </a:extLst>
          </p:cNvPr>
          <p:cNvSpPr/>
          <p:nvPr userDrawn="1"/>
        </p:nvSpPr>
        <p:spPr>
          <a:xfrm rot="16200000">
            <a:off x="10209964" y="4875960"/>
            <a:ext cx="1884065" cy="2080010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6310508-6870-44FB-B67F-C3F1350DB66D}"/>
              </a:ext>
            </a:extLst>
          </p:cNvPr>
          <p:cNvSpPr/>
          <p:nvPr userDrawn="1"/>
        </p:nvSpPr>
        <p:spPr>
          <a:xfrm>
            <a:off x="0" y="6211614"/>
            <a:ext cx="12192000" cy="64638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Program </a:t>
            </a:r>
            <a:r>
              <a:rPr lang="en-US" sz="2000" dirty="0" err="1">
                <a:solidFill>
                  <a:schemeClr val="tx1"/>
                </a:solidFill>
              </a:rPr>
              <a:t>Studi</a:t>
            </a:r>
            <a:r>
              <a:rPr lang="en-US" sz="2000" dirty="0">
                <a:solidFill>
                  <a:schemeClr val="tx1"/>
                </a:solidFill>
              </a:rPr>
              <a:t> Teknik </a:t>
            </a:r>
            <a:r>
              <a:rPr lang="en-US" sz="2000" dirty="0" err="1">
                <a:solidFill>
                  <a:schemeClr val="tx1"/>
                </a:solidFill>
              </a:rPr>
              <a:t>Informatika</a:t>
            </a:r>
            <a:r>
              <a:rPr lang="en-US" sz="2000" dirty="0">
                <a:solidFill>
                  <a:schemeClr val="tx1"/>
                </a:solidFill>
              </a:rPr>
              <a:t>, Universitas </a:t>
            </a:r>
            <a:r>
              <a:rPr lang="en-US" sz="2000" dirty="0" err="1">
                <a:solidFill>
                  <a:schemeClr val="tx1"/>
                </a:solidFill>
              </a:rPr>
              <a:t>Pamulang</a:t>
            </a:r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 </a:t>
            </a:r>
            <a:endParaRPr lang="en-ID" sz="2000" dirty="0">
              <a:solidFill>
                <a:schemeClr val="tx1"/>
              </a:solidFill>
            </a:endParaRPr>
          </a:p>
        </p:txBody>
      </p:sp>
      <p:sp>
        <p:nvSpPr>
          <p:cNvPr id="8" name="Right Triangle 7">
            <a:extLst>
              <a:ext uri="{FF2B5EF4-FFF2-40B4-BE49-F238E27FC236}">
                <a16:creationId xmlns:a16="http://schemas.microsoft.com/office/drawing/2014/main" id="{4354D356-3AB9-4317-AD64-9733710C017F}"/>
              </a:ext>
            </a:extLst>
          </p:cNvPr>
          <p:cNvSpPr/>
          <p:nvPr userDrawn="1"/>
        </p:nvSpPr>
        <p:spPr>
          <a:xfrm>
            <a:off x="0" y="5074416"/>
            <a:ext cx="1597688" cy="1783584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22E1FA6-9BAA-48F7-9B48-E78A7FC60C7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9172" y="5725289"/>
            <a:ext cx="1042588" cy="101204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1A5ABCE-DB0D-44E8-AF1B-A1F9AA2448CF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0581" y="5864994"/>
            <a:ext cx="1403488" cy="993004"/>
          </a:xfrm>
          <a:prstGeom prst="rect">
            <a:avLst/>
          </a:prstGeom>
        </p:spPr>
      </p:pic>
      <p:sp>
        <p:nvSpPr>
          <p:cNvPr id="6" name="Flowchart: Process 5">
            <a:extLst>
              <a:ext uri="{FF2B5EF4-FFF2-40B4-BE49-F238E27FC236}">
                <a16:creationId xmlns:a16="http://schemas.microsoft.com/office/drawing/2014/main" id="{38F377F8-55ED-4437-98B9-2D2AA5DD3B4A}"/>
              </a:ext>
            </a:extLst>
          </p:cNvPr>
          <p:cNvSpPr/>
          <p:nvPr userDrawn="1"/>
        </p:nvSpPr>
        <p:spPr>
          <a:xfrm>
            <a:off x="0" y="0"/>
            <a:ext cx="12192000" cy="646385"/>
          </a:xfrm>
          <a:prstGeom prst="flowChartProcess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TERIMA KASIH, MAHASISWA TEKNIK INFORMATIKA UNGGUL, ANDA SUDAH BELAJAR DENGAN LUAR BIASA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4046653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6310508-6870-44FB-B67F-C3F1350DB66D}"/>
              </a:ext>
            </a:extLst>
          </p:cNvPr>
          <p:cNvSpPr/>
          <p:nvPr userDrawn="1"/>
        </p:nvSpPr>
        <p:spPr>
          <a:xfrm>
            <a:off x="0" y="1"/>
            <a:ext cx="12192000" cy="120446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 </a:t>
            </a:r>
            <a:endParaRPr lang="en-ID" sz="2000" dirty="0">
              <a:solidFill>
                <a:schemeClr val="tx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22E1FA6-9BAA-48F7-9B48-E78A7FC60C7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42" y="38924"/>
            <a:ext cx="1119282" cy="108649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456D31B-DA89-4FCC-A0CF-973CBA8BD493}"/>
              </a:ext>
            </a:extLst>
          </p:cNvPr>
          <p:cNvSpPr txBox="1"/>
          <p:nvPr userDrawn="1"/>
        </p:nvSpPr>
        <p:spPr>
          <a:xfrm>
            <a:off x="1218924" y="166670"/>
            <a:ext cx="588610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dirty="0"/>
              <a:t>PROGRAM STUDI S1 TEKNIK INFORMATIKA</a:t>
            </a:r>
            <a:br>
              <a:rPr lang="en-US" sz="2400" dirty="0"/>
            </a:br>
            <a:r>
              <a:rPr lang="en-US" sz="2400" dirty="0"/>
              <a:t>UNIVERSITAS PAMULANG</a:t>
            </a:r>
            <a:endParaRPr lang="en-ID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960A43D-3921-41B8-B4DC-C239EAEA847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8352" y="0"/>
            <a:ext cx="2143648" cy="1205802"/>
          </a:xfrm>
          <a:prstGeom prst="rect">
            <a:avLst/>
          </a:prstGeom>
        </p:spPr>
      </p:pic>
      <p:sp>
        <p:nvSpPr>
          <p:cNvPr id="6" name="Title Placeholder 5">
            <a:extLst>
              <a:ext uri="{FF2B5EF4-FFF2-40B4-BE49-F238E27FC236}">
                <a16:creationId xmlns:a16="http://schemas.microsoft.com/office/drawing/2014/main" id="{36AE1D4B-E2EF-47C4-A1A7-5689711E6F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0446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FA5E565-A9FD-45A9-9262-E4CE87B5C4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329881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406096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67122B0-D188-4F1B-9170-48FB515F7D1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Right Triangle 8">
            <a:extLst>
              <a:ext uri="{FF2B5EF4-FFF2-40B4-BE49-F238E27FC236}">
                <a16:creationId xmlns:a16="http://schemas.microsoft.com/office/drawing/2014/main" id="{0FE1B4E5-ADBE-44E9-94B8-12353259E240}"/>
              </a:ext>
            </a:extLst>
          </p:cNvPr>
          <p:cNvSpPr/>
          <p:nvPr userDrawn="1"/>
        </p:nvSpPr>
        <p:spPr>
          <a:xfrm rot="16200000">
            <a:off x="10209964" y="4875960"/>
            <a:ext cx="1884065" cy="2080010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6310508-6870-44FB-B67F-C3F1350DB66D}"/>
              </a:ext>
            </a:extLst>
          </p:cNvPr>
          <p:cNvSpPr/>
          <p:nvPr userDrawn="1"/>
        </p:nvSpPr>
        <p:spPr>
          <a:xfrm>
            <a:off x="0" y="6211614"/>
            <a:ext cx="12192000" cy="64638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Program </a:t>
            </a:r>
            <a:r>
              <a:rPr lang="en-US" sz="2000" dirty="0" err="1">
                <a:solidFill>
                  <a:schemeClr val="tx1"/>
                </a:solidFill>
              </a:rPr>
              <a:t>Studi</a:t>
            </a:r>
            <a:r>
              <a:rPr lang="en-US" sz="2000" dirty="0">
                <a:solidFill>
                  <a:schemeClr val="tx1"/>
                </a:solidFill>
              </a:rPr>
              <a:t> Teknik </a:t>
            </a:r>
            <a:r>
              <a:rPr lang="en-US" sz="2000" dirty="0" err="1">
                <a:solidFill>
                  <a:schemeClr val="tx1"/>
                </a:solidFill>
              </a:rPr>
              <a:t>Informatika</a:t>
            </a:r>
            <a:r>
              <a:rPr lang="en-US" sz="2000" dirty="0">
                <a:solidFill>
                  <a:schemeClr val="tx1"/>
                </a:solidFill>
              </a:rPr>
              <a:t>, Universitas </a:t>
            </a:r>
            <a:r>
              <a:rPr lang="en-US" sz="2000" dirty="0" err="1">
                <a:solidFill>
                  <a:schemeClr val="tx1"/>
                </a:solidFill>
              </a:rPr>
              <a:t>Pamulang</a:t>
            </a:r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 </a:t>
            </a:r>
            <a:endParaRPr lang="en-ID" sz="2000" dirty="0">
              <a:solidFill>
                <a:schemeClr val="tx1"/>
              </a:solidFill>
            </a:endParaRPr>
          </a:p>
        </p:txBody>
      </p:sp>
      <p:sp>
        <p:nvSpPr>
          <p:cNvPr id="8" name="Right Triangle 7">
            <a:extLst>
              <a:ext uri="{FF2B5EF4-FFF2-40B4-BE49-F238E27FC236}">
                <a16:creationId xmlns:a16="http://schemas.microsoft.com/office/drawing/2014/main" id="{4354D356-3AB9-4317-AD64-9733710C017F}"/>
              </a:ext>
            </a:extLst>
          </p:cNvPr>
          <p:cNvSpPr/>
          <p:nvPr userDrawn="1"/>
        </p:nvSpPr>
        <p:spPr>
          <a:xfrm>
            <a:off x="0" y="5074416"/>
            <a:ext cx="1597688" cy="1783584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22E1FA6-9BAA-48F7-9B48-E78A7FC60C7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9172" y="5725289"/>
            <a:ext cx="1042588" cy="101204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1A5ABCE-DB0D-44E8-AF1B-A1F9AA2448CF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0581" y="5864994"/>
            <a:ext cx="1403488" cy="993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60858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2.xml"/><Relationship Id="rId3" Type="http://schemas.openxmlformats.org/officeDocument/2006/relationships/image" Target="../media/image11.png"/><Relationship Id="rId7" Type="http://schemas.openxmlformats.org/officeDocument/2006/relationships/diagramQuickStyle" Target="../diagrams/quickStyle2.xm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Relationship Id="rId6" Type="http://schemas.openxmlformats.org/officeDocument/2006/relationships/diagramLayout" Target="../diagrams/layout2.xml"/><Relationship Id="rId5" Type="http://schemas.openxmlformats.org/officeDocument/2006/relationships/diagramData" Target="../diagrams/data2.xml"/><Relationship Id="rId4" Type="http://schemas.openxmlformats.org/officeDocument/2006/relationships/image" Target="../media/image12.png"/><Relationship Id="rId9" Type="http://schemas.microsoft.com/office/2007/relationships/diagramDrawing" Target="../diagrams/drawing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1ED9D48E-EC15-454D-AFD8-DFA10B4F141B}"/>
              </a:ext>
            </a:extLst>
          </p:cNvPr>
          <p:cNvSpPr txBox="1">
            <a:spLocks/>
          </p:cNvSpPr>
          <p:nvPr/>
        </p:nvSpPr>
        <p:spPr>
          <a:xfrm>
            <a:off x="1709530" y="1350435"/>
            <a:ext cx="8713993" cy="26161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8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METODE NUMERIK</a:t>
            </a:r>
            <a:endParaRPr lang="en-GB" sz="4800" b="1" dirty="0">
              <a:ln w="10160">
                <a:solidFill>
                  <a:schemeClr val="tx1"/>
                </a:solidFill>
                <a:prstDash val="solid"/>
              </a:ln>
              <a:solidFill>
                <a:srgbClr val="00B0F0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15FC42A2-1F0A-4C30-A0B1-C8DA61F0F7CD}"/>
              </a:ext>
            </a:extLst>
          </p:cNvPr>
          <p:cNvSpPr txBox="1">
            <a:spLocks/>
          </p:cNvSpPr>
          <p:nvPr/>
        </p:nvSpPr>
        <p:spPr>
          <a:xfrm>
            <a:off x="4192894" y="3238501"/>
            <a:ext cx="3321090" cy="728133"/>
          </a:xfrm>
          <a:prstGeom prst="rect">
            <a:avLst/>
          </a:prstGeom>
        </p:spPr>
        <p:txBody>
          <a:bodyPr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6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accent4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PERTEMUAN</a:t>
            </a:r>
            <a:r>
              <a:rPr lang="en-US" sz="3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chemeClr val="accent4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6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accent4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endParaRPr lang="en-GB" sz="3600" b="1" dirty="0">
              <a:ln w="10160">
                <a:solidFill>
                  <a:schemeClr val="tx1"/>
                </a:solidFill>
                <a:prstDash val="solid"/>
              </a:ln>
              <a:solidFill>
                <a:schemeClr val="accent4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75252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1086643" y="1938435"/>
            <a:ext cx="10018713" cy="2184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indent="0" algn="ctr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1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accent4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defRPr>
            </a:lvl1pPr>
            <a:lvl2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2pPr>
            <a:lvl3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4pPr>
            <a:lvl5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5pPr>
            <a:lvl6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6pPr>
            <a:lvl7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7pPr>
            <a:lvl8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8pPr>
            <a:lvl9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9pPr>
          </a:lstStyle>
          <a:p>
            <a:r>
              <a:rPr lang="en-US" sz="8000" dirty="0">
                <a:solidFill>
                  <a:srgbClr val="92D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DERET TAYLOR</a:t>
            </a:r>
          </a:p>
        </p:txBody>
      </p:sp>
    </p:spTree>
    <p:extLst>
      <p:ext uri="{BB962C8B-B14F-4D97-AF65-F5344CB8AC3E}">
        <p14:creationId xmlns:p14="http://schemas.microsoft.com/office/powerpoint/2010/main" val="16785728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1911CC-BFB2-4ECE-92D3-5E6530B52EC3}"/>
              </a:ext>
            </a:extLst>
          </p:cNvPr>
          <p:cNvSpPr txBox="1">
            <a:spLocks/>
          </p:cNvSpPr>
          <p:nvPr/>
        </p:nvSpPr>
        <p:spPr>
          <a:xfrm>
            <a:off x="4965430" y="629268"/>
            <a:ext cx="6586491" cy="128616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indent="0" algn="ctr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1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accent4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defRPr>
            </a:lvl1pPr>
            <a:lvl2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2pPr>
            <a:lvl3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4pPr>
            <a:lvl5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5pPr>
            <a:lvl6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6pPr>
            <a:lvl7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7pPr>
            <a:lvl8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8pPr>
            <a:lvl9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9pPr>
          </a:lstStyle>
          <a:p>
            <a:pPr algn="l">
              <a:spcBef>
                <a:spcPct val="0"/>
              </a:spcBef>
              <a:spcAft>
                <a:spcPts val="600"/>
              </a:spcAft>
            </a:pPr>
            <a:r>
              <a:rPr lang="en-US" sz="44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TUJUAN PEMBELAJARAN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486636F-1EA6-4076-8B2A-236A0A53817B}"/>
              </a:ext>
            </a:extLst>
          </p:cNvPr>
          <p:cNvSpPr txBox="1"/>
          <p:nvPr/>
        </p:nvSpPr>
        <p:spPr>
          <a:xfrm>
            <a:off x="4965431" y="2438400"/>
            <a:ext cx="6586489" cy="37854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000" b="0" i="0" u="none" strike="noStrike" baseline="0" dirty="0"/>
              <a:t>Mampu </a:t>
            </a:r>
            <a:r>
              <a:rPr lang="en-US" sz="2000" b="0" i="0" u="none" strike="noStrike" baseline="0" dirty="0" err="1"/>
              <a:t>menghampiri</a:t>
            </a:r>
            <a:r>
              <a:rPr lang="en-US" sz="2000" b="0" i="0" u="none" strike="noStrike" baseline="0" dirty="0"/>
              <a:t> </a:t>
            </a:r>
            <a:r>
              <a:rPr lang="en-US" sz="2000" b="0" i="0" u="none" strike="noStrike" baseline="0" dirty="0" err="1"/>
              <a:t>suatu</a:t>
            </a:r>
            <a:r>
              <a:rPr lang="en-US" sz="2000" b="0" i="0" u="none" strike="noStrike" baseline="0" dirty="0"/>
              <a:t> </a:t>
            </a:r>
            <a:r>
              <a:rPr lang="en-US" sz="2000" b="0" i="0" u="none" strike="noStrike" baseline="0" dirty="0" err="1"/>
              <a:t>fungsi</a:t>
            </a:r>
            <a:r>
              <a:rPr lang="en-US" sz="2000" b="0" i="0" u="none" strike="noStrike" baseline="0" dirty="0"/>
              <a:t> </a:t>
            </a:r>
            <a:r>
              <a:rPr lang="en-US" sz="2000" b="0" i="0" u="none" strike="noStrike" baseline="0" dirty="0" err="1"/>
              <a:t>dengan</a:t>
            </a:r>
            <a:r>
              <a:rPr lang="en-US" sz="2000" b="0" i="0" u="none" strike="noStrike" baseline="0" dirty="0"/>
              <a:t> </a:t>
            </a:r>
            <a:r>
              <a:rPr lang="en-US" sz="2000" b="0" i="0" u="none" strike="noStrike" baseline="0" dirty="0" err="1"/>
              <a:t>bentuk</a:t>
            </a:r>
            <a:r>
              <a:rPr lang="en-US" sz="2000" b="0" i="0" u="none" strike="noStrike" baseline="0" dirty="0"/>
              <a:t> </a:t>
            </a:r>
            <a:r>
              <a:rPr lang="en-US" sz="2000" b="0" i="0" u="none" strike="noStrike" baseline="0" dirty="0" err="1"/>
              <a:t>deret</a:t>
            </a:r>
            <a:r>
              <a:rPr lang="en-US" sz="2000" b="0" i="0" u="none" strike="noStrike" baseline="0" dirty="0"/>
              <a:t> </a:t>
            </a:r>
            <a:r>
              <a:rPr lang="en-US" sz="2000" b="0" i="0" u="none" strike="noStrike" baseline="0" dirty="0" err="1"/>
              <a:t>yaitu</a:t>
            </a:r>
            <a:r>
              <a:rPr lang="en-US" sz="2000" b="0" i="0" u="none" strike="noStrike" baseline="0" dirty="0"/>
              <a:t> </a:t>
            </a:r>
            <a:r>
              <a:rPr lang="en-US" sz="2000" b="0" i="0" u="none" strike="noStrike" baseline="0" dirty="0" err="1"/>
              <a:t>deret</a:t>
            </a:r>
            <a:r>
              <a:rPr lang="en-US" sz="2000" b="0" i="0" u="none" strike="noStrike" baseline="0" dirty="0"/>
              <a:t> Taylor 	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pic>
        <p:nvPicPr>
          <p:cNvPr id="13" name="Picture 12" descr="Bohlam putih dan satu bohlam warna kuning yang menonjol">
            <a:extLst>
              <a:ext uri="{FF2B5EF4-FFF2-40B4-BE49-F238E27FC236}">
                <a16:creationId xmlns:a16="http://schemas.microsoft.com/office/drawing/2014/main" id="{AEA41C7D-DF0B-4838-91EF-2842904722B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9505" r="35375" b="-1"/>
          <a:stretch/>
        </p:blipFill>
        <p:spPr>
          <a:xfrm>
            <a:off x="20" y="10"/>
            <a:ext cx="4635571" cy="6361461"/>
          </a:xfrm>
          <a:prstGeom prst="rect">
            <a:avLst/>
          </a:prstGeom>
          <a:effectLst/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A7F400EE-A8A5-48AF-B4D6-291B52C6F0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080934" y="2115117"/>
            <a:ext cx="6309360" cy="0"/>
          </a:xfrm>
          <a:prstGeom prst="line">
            <a:avLst/>
          </a:prstGeom>
          <a:ln w="19050">
            <a:solidFill>
              <a:srgbClr val="BAB92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909090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0BED71A-5A4D-454A-A523-6522770EE585}"/>
              </a:ext>
            </a:extLst>
          </p:cNvPr>
          <p:cNvSpPr txBox="1">
            <a:spLocks/>
          </p:cNvSpPr>
          <p:nvPr/>
        </p:nvSpPr>
        <p:spPr>
          <a:xfrm>
            <a:off x="4965430" y="629266"/>
            <a:ext cx="6586491" cy="167660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indent="0" algn="ctr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1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accent4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defRPr>
            </a:lvl1pPr>
            <a:lvl2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2pPr>
            <a:lvl3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4pPr>
            <a:lvl5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5pPr>
            <a:lvl6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6pPr>
            <a:lvl7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7pPr>
            <a:lvl8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8pPr>
            <a:lvl9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9pPr>
          </a:lstStyle>
          <a:p>
            <a:pPr algn="l">
              <a:spcBef>
                <a:spcPct val="0"/>
              </a:spcBef>
              <a:spcAft>
                <a:spcPts val="600"/>
              </a:spcAft>
            </a:pPr>
            <a:r>
              <a:rPr lang="en-US" sz="4000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DEFINISI DERET TAYLOR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53E3853-2DCA-4920-9773-8C4ED316C58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49305"/>
          <a:stretch/>
        </p:blipFill>
        <p:spPr>
          <a:xfrm>
            <a:off x="20" y="-37312"/>
            <a:ext cx="4635571" cy="6390958"/>
          </a:xfrm>
          <a:prstGeom prst="rect">
            <a:avLst/>
          </a:prstGeom>
          <a:effectLst/>
        </p:spPr>
      </p:pic>
      <p:graphicFrame>
        <p:nvGraphicFramePr>
          <p:cNvPr id="6" name="TextBox 2">
            <a:extLst>
              <a:ext uri="{FF2B5EF4-FFF2-40B4-BE49-F238E27FC236}">
                <a16:creationId xmlns:a16="http://schemas.microsoft.com/office/drawing/2014/main" id="{D614E21B-A1B1-4D29-8FF6-D4072D415AD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76487211"/>
              </p:ext>
            </p:extLst>
          </p:nvPr>
        </p:nvGraphicFramePr>
        <p:xfrm>
          <a:off x="4965431" y="2438400"/>
          <a:ext cx="6586489" cy="37854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6194767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 txBox="1">
            <a:spLocks/>
          </p:cNvSpPr>
          <p:nvPr/>
        </p:nvSpPr>
        <p:spPr>
          <a:xfrm>
            <a:off x="2267339" y="394110"/>
            <a:ext cx="8125358" cy="889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indent="0" algn="ctr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1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accent4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defRPr>
            </a:lvl1pPr>
            <a:lvl2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2pPr>
            <a:lvl3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4pPr>
            <a:lvl5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5pPr>
            <a:lvl6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6pPr>
            <a:lvl7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7pPr>
            <a:lvl8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8pPr>
            <a:lvl9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9pPr>
          </a:lstStyle>
          <a:p>
            <a:r>
              <a:rPr lang="en-US" sz="4400" dirty="0"/>
              <a:t>DEFINISI DERET TAYLOR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C008A84-F4DC-4D67-9EA8-D1753501C1EA}"/>
              </a:ext>
            </a:extLst>
          </p:cNvPr>
          <p:cNvSpPr txBox="1"/>
          <p:nvPr/>
        </p:nvSpPr>
        <p:spPr>
          <a:xfrm>
            <a:off x="1215093" y="1223359"/>
            <a:ext cx="9953650" cy="12958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 err="1"/>
              <a:t>Andaikan</a:t>
            </a:r>
            <a:r>
              <a:rPr lang="en-US" dirty="0"/>
              <a:t> f dan </a:t>
            </a:r>
            <a:r>
              <a:rPr lang="en-US" dirty="0" err="1"/>
              <a:t>semua</a:t>
            </a:r>
            <a:r>
              <a:rPr lang="en-US" dirty="0"/>
              <a:t> </a:t>
            </a:r>
            <a:r>
              <a:rPr lang="en-US" dirty="0" err="1"/>
              <a:t>turunannya</a:t>
            </a:r>
            <a:r>
              <a:rPr lang="en-US" dirty="0"/>
              <a:t>, f’, f’’, f’’’, ..., </a:t>
            </a:r>
            <a:r>
              <a:rPr lang="en-US" dirty="0" err="1"/>
              <a:t>menerus</a:t>
            </a:r>
            <a:r>
              <a:rPr lang="en-US" dirty="0"/>
              <a:t> di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selang</a:t>
            </a:r>
            <a:r>
              <a:rPr lang="en-US" dirty="0"/>
              <a:t> [a, b]. </a:t>
            </a:r>
            <a:r>
              <a:rPr lang="en-US" dirty="0" err="1"/>
              <a:t>Misalkan</a:t>
            </a:r>
            <a:r>
              <a:rPr lang="en-US" dirty="0"/>
              <a:t> x0 ∈ [a, b], </a:t>
            </a:r>
            <a:r>
              <a:rPr lang="en-US" dirty="0" err="1"/>
              <a:t>maka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nilainilai</a:t>
            </a:r>
            <a:r>
              <a:rPr lang="en-US" dirty="0"/>
              <a:t> x di </a:t>
            </a:r>
            <a:r>
              <a:rPr lang="en-US" dirty="0" err="1"/>
              <a:t>sekitar</a:t>
            </a:r>
            <a:r>
              <a:rPr lang="en-US" dirty="0"/>
              <a:t> x0 (Gambar 2.1) dan x ∈ [a, b], f(x)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diperluas</a:t>
            </a:r>
            <a:r>
              <a:rPr lang="en-US" dirty="0"/>
              <a:t> (</a:t>
            </a:r>
            <a:r>
              <a:rPr lang="en-US" dirty="0" err="1"/>
              <a:t>diekspansi</a:t>
            </a:r>
            <a:r>
              <a:rPr lang="en-US" dirty="0"/>
              <a:t>) </a:t>
            </a:r>
            <a:r>
              <a:rPr lang="en-US" dirty="0" err="1"/>
              <a:t>ke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deret</a:t>
            </a:r>
            <a:r>
              <a:rPr lang="en-US" dirty="0"/>
              <a:t> Taylor: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8F6536D-4586-4D5A-92C3-2CD2D45877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5093" y="2487166"/>
            <a:ext cx="10229850" cy="3847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48876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1086643" y="280630"/>
            <a:ext cx="10018713" cy="889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indent="0" algn="ctr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1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accent4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defRPr>
            </a:lvl1pPr>
            <a:lvl2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2pPr>
            <a:lvl3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4pPr>
            <a:lvl5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5pPr>
            <a:lvl6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6pPr>
            <a:lvl7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7pPr>
            <a:lvl8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8pPr>
            <a:lvl9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9pPr>
          </a:lstStyle>
          <a:p>
            <a:r>
              <a:rPr lang="en-US" sz="5400" dirty="0">
                <a:latin typeface="Arial" panose="020B0604020202020204" pitchFamily="34" charset="0"/>
                <a:cs typeface="Arial" panose="020B0604020202020204" pitchFamily="34" charset="0"/>
              </a:rPr>
              <a:t>CONTOH SOAL</a:t>
            </a:r>
            <a:endParaRPr lang="en-GB" sz="5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11167B1-5D19-4C1B-B040-9B6D501351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8530" y="1253661"/>
            <a:ext cx="8691715" cy="5074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35338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>
            <a:extLst>
              <a:ext uri="{FF2B5EF4-FFF2-40B4-BE49-F238E27FC236}">
                <a16:creationId xmlns:a16="http://schemas.microsoft.com/office/drawing/2014/main" id="{E4B7C1DD-857C-4D03-AAB3-C5C95BD51A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36883" y="321176"/>
            <a:ext cx="7500831" cy="5896743"/>
          </a:xfrm>
          <a:prstGeom prst="rect">
            <a:avLst/>
          </a:prstGeom>
          <a:solidFill>
            <a:schemeClr val="tx1">
              <a:alpha val="15000"/>
            </a:schemeClr>
          </a:solidFill>
          <a:ln w="127000" cap="sq" cmpd="thinThick">
            <a:solidFill>
              <a:schemeClr val="tx1">
                <a:alpha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5981A8E-765C-4942-BE08-18B20739734A}"/>
              </a:ext>
            </a:extLst>
          </p:cNvPr>
          <p:cNvSpPr txBox="1">
            <a:spLocks/>
          </p:cNvSpPr>
          <p:nvPr/>
        </p:nvSpPr>
        <p:spPr>
          <a:xfrm>
            <a:off x="821516" y="640263"/>
            <a:ext cx="6713140" cy="13449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indent="0" algn="ctr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1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accent4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defRPr>
            </a:lvl1pPr>
            <a:lvl2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2pPr>
            <a:lvl3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4pPr>
            <a:lvl5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5pPr>
            <a:lvl6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6pPr>
            <a:lvl7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7pPr>
            <a:lvl8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8pPr>
            <a:lvl9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9pPr>
          </a:lstStyle>
          <a:p>
            <a:pPr algn="l">
              <a:spcBef>
                <a:spcPct val="0"/>
              </a:spcBef>
              <a:spcAft>
                <a:spcPts val="600"/>
              </a:spcAft>
            </a:pPr>
            <a:r>
              <a:rPr lang="en-US" sz="40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ANALISIS GALAT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8F441B34-88D1-484C-AC77-C04BDC14C5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19870" y="627912"/>
            <a:ext cx="3752090" cy="111624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1A240C8D-C2B6-424E-9FCF-0140C35D5F7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728"/>
          <a:stretch/>
        </p:blipFill>
        <p:spPr>
          <a:xfrm>
            <a:off x="8129873" y="2797159"/>
            <a:ext cx="3742087" cy="92289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6BD914A-08CD-4680-B2B0-B793542284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9877" y="4456850"/>
            <a:ext cx="3732084" cy="1756274"/>
          </a:xfrm>
          <a:prstGeom prst="rect">
            <a:avLst/>
          </a:prstGeom>
        </p:spPr>
      </p:pic>
      <p:graphicFrame>
        <p:nvGraphicFramePr>
          <p:cNvPr id="16" name="TextBox 10">
            <a:extLst>
              <a:ext uri="{FF2B5EF4-FFF2-40B4-BE49-F238E27FC236}">
                <a16:creationId xmlns:a16="http://schemas.microsoft.com/office/drawing/2014/main" id="{1A611A2A-CE3A-4EE7-9236-6AAE13F5A6F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97704585"/>
              </p:ext>
            </p:extLst>
          </p:nvPr>
        </p:nvGraphicFramePr>
        <p:xfrm>
          <a:off x="821514" y="2121762"/>
          <a:ext cx="6723145" cy="362691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extLst>
      <p:ext uri="{BB962C8B-B14F-4D97-AF65-F5344CB8AC3E}">
        <p14:creationId xmlns:p14="http://schemas.microsoft.com/office/powerpoint/2010/main" val="17188017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EB4D3C6-7C68-4818-8D77-E1777B809E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987" y="1123950"/>
            <a:ext cx="10106025" cy="4610100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AE3C1D58-A653-471E-B6BE-2D2678697D2C}"/>
              </a:ext>
            </a:extLst>
          </p:cNvPr>
          <p:cNvSpPr txBox="1">
            <a:spLocks/>
          </p:cNvSpPr>
          <p:nvPr/>
        </p:nvSpPr>
        <p:spPr>
          <a:xfrm>
            <a:off x="1086643" y="280630"/>
            <a:ext cx="10018713" cy="889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indent="0" algn="ctr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1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accent4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defRPr>
            </a:lvl1pPr>
            <a:lvl2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2pPr>
            <a:lvl3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4pPr>
            <a:lvl5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5pPr>
            <a:lvl6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6pPr>
            <a:lvl7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7pPr>
            <a:lvl8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8pPr>
            <a:lvl9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9pPr>
          </a:lstStyle>
          <a:p>
            <a:r>
              <a:rPr lang="en-US" sz="5400" dirty="0">
                <a:latin typeface="Arial" panose="020B0604020202020204" pitchFamily="34" charset="0"/>
                <a:cs typeface="Arial" panose="020B0604020202020204" pitchFamily="34" charset="0"/>
              </a:rPr>
              <a:t>CONTOH SOAL GALAT</a:t>
            </a:r>
            <a:endParaRPr lang="en-GB" sz="5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74254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1653363" y="365760"/>
            <a:ext cx="9367203" cy="11887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indent="0" algn="ctr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1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accent4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defRPr>
            </a:lvl1pPr>
            <a:lvl2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2pPr>
            <a:lvl3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4pPr>
            <a:lvl5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5pPr>
            <a:lvl6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6pPr>
            <a:lvl7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7pPr>
            <a:lvl8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8pPr>
            <a:lvl9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9pPr>
          </a:lstStyle>
          <a:p>
            <a:pPr algn="l">
              <a:spcBef>
                <a:spcPct val="0"/>
              </a:spcBef>
              <a:spcAft>
                <a:spcPts val="600"/>
              </a:spcAft>
            </a:pPr>
            <a:r>
              <a:rPr lang="en-US" sz="4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SOAL</a:t>
            </a:r>
          </a:p>
        </p:txBody>
      </p:sp>
      <p:sp>
        <p:nvSpPr>
          <p:cNvPr id="21" name="Freeform: Shape 23">
            <a:extLst>
              <a:ext uri="{FF2B5EF4-FFF2-40B4-BE49-F238E27FC236}">
                <a16:creationId xmlns:a16="http://schemas.microsoft.com/office/drawing/2014/main" id="{7CB4857B-ED7C-444D-9F04-2F885114A1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764099" cy="1558212"/>
          </a:xfrm>
          <a:custGeom>
            <a:avLst/>
            <a:gdLst>
              <a:gd name="connsiteX0" fmla="*/ 0 w 1764099"/>
              <a:gd name="connsiteY0" fmla="*/ 0 h 1558212"/>
              <a:gd name="connsiteX1" fmla="*/ 1764099 w 1764099"/>
              <a:gd name="connsiteY1" fmla="*/ 0 h 1558212"/>
              <a:gd name="connsiteX2" fmla="*/ 1042087 w 1764099"/>
              <a:gd name="connsiteY2" fmla="*/ 1558212 h 1558212"/>
              <a:gd name="connsiteX3" fmla="*/ 0 w 1764099"/>
              <a:gd name="connsiteY3" fmla="*/ 1558212 h 15582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64099" h="1558212">
                <a:moveTo>
                  <a:pt x="0" y="0"/>
                </a:moveTo>
                <a:lnTo>
                  <a:pt x="1764099" y="0"/>
                </a:lnTo>
                <a:lnTo>
                  <a:pt x="1042087" y="1558212"/>
                </a:lnTo>
                <a:lnTo>
                  <a:pt x="0" y="1558212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D18046FB-44EA-4FD8-A585-EA09A319B2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691640"/>
            <a:ext cx="12191999" cy="5166360"/>
          </a:xfrm>
          <a:custGeom>
            <a:avLst/>
            <a:gdLst>
              <a:gd name="connsiteX0" fmla="*/ 0 w 12191999"/>
              <a:gd name="connsiteY0" fmla="*/ 0 h 5166360"/>
              <a:gd name="connsiteX1" fmla="*/ 1822388 w 12191999"/>
              <a:gd name="connsiteY1" fmla="*/ 0 h 5166360"/>
              <a:gd name="connsiteX2" fmla="*/ 6468290 w 12191999"/>
              <a:gd name="connsiteY2" fmla="*/ 0 h 5166360"/>
              <a:gd name="connsiteX3" fmla="*/ 7796394 w 12191999"/>
              <a:gd name="connsiteY3" fmla="*/ 0 h 5166360"/>
              <a:gd name="connsiteX4" fmla="*/ 8376834 w 12191999"/>
              <a:gd name="connsiteY4" fmla="*/ 0 h 5166360"/>
              <a:gd name="connsiteX5" fmla="*/ 9704938 w 12191999"/>
              <a:gd name="connsiteY5" fmla="*/ 0 h 5166360"/>
              <a:gd name="connsiteX6" fmla="*/ 9704938 w 12191999"/>
              <a:gd name="connsiteY6" fmla="*/ 2 h 5166360"/>
              <a:gd name="connsiteX7" fmla="*/ 10283456 w 12191999"/>
              <a:gd name="connsiteY7" fmla="*/ 2 h 5166360"/>
              <a:gd name="connsiteX8" fmla="*/ 10863897 w 12191999"/>
              <a:gd name="connsiteY8" fmla="*/ 2 h 5166360"/>
              <a:gd name="connsiteX9" fmla="*/ 12191999 w 12191999"/>
              <a:gd name="connsiteY9" fmla="*/ 2 h 5166360"/>
              <a:gd name="connsiteX10" fmla="*/ 12191999 w 12191999"/>
              <a:gd name="connsiteY10" fmla="*/ 5166360 h 5166360"/>
              <a:gd name="connsiteX11" fmla="*/ 0 w 12191999"/>
              <a:gd name="connsiteY11" fmla="*/ 5166360 h 5166360"/>
              <a:gd name="connsiteX12" fmla="*/ 0 w 12191999"/>
              <a:gd name="connsiteY12" fmla="*/ 2604436 h 5166360"/>
              <a:gd name="connsiteX13" fmla="*/ 862341 w 12191999"/>
              <a:gd name="connsiteY13" fmla="*/ 743371 h 5166360"/>
              <a:gd name="connsiteX14" fmla="*/ 0 w 12191999"/>
              <a:gd name="connsiteY14" fmla="*/ 743371 h 5166360"/>
              <a:gd name="connsiteX15" fmla="*/ 0 w 12191999"/>
              <a:gd name="connsiteY15" fmla="*/ 742508 h 5166360"/>
              <a:gd name="connsiteX16" fmla="*/ 92826 w 12191999"/>
              <a:gd name="connsiteY16" fmla="*/ 742508 h 5166360"/>
              <a:gd name="connsiteX17" fmla="*/ 406486 w 12191999"/>
              <a:gd name="connsiteY17" fmla="*/ 742508 h 5166360"/>
              <a:gd name="connsiteX18" fmla="*/ 406486 w 12191999"/>
              <a:gd name="connsiteY18" fmla="*/ 742507 h 5166360"/>
              <a:gd name="connsiteX19" fmla="*/ 862741 w 12191999"/>
              <a:gd name="connsiteY19" fmla="*/ 742507 h 5166360"/>
              <a:gd name="connsiteX20" fmla="*/ 1206388 w 12191999"/>
              <a:gd name="connsiteY20" fmla="*/ 864 h 5166360"/>
              <a:gd name="connsiteX21" fmla="*/ 748500 w 12191999"/>
              <a:gd name="connsiteY21" fmla="*/ 864 h 5166360"/>
              <a:gd name="connsiteX22" fmla="*/ 0 w 12191999"/>
              <a:gd name="connsiteY22" fmla="*/ 864 h 5166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2191999" h="5166360">
                <a:moveTo>
                  <a:pt x="0" y="0"/>
                </a:moveTo>
                <a:lnTo>
                  <a:pt x="1822388" y="0"/>
                </a:lnTo>
                <a:lnTo>
                  <a:pt x="6468290" y="0"/>
                </a:lnTo>
                <a:lnTo>
                  <a:pt x="7796394" y="0"/>
                </a:lnTo>
                <a:lnTo>
                  <a:pt x="8376834" y="0"/>
                </a:lnTo>
                <a:lnTo>
                  <a:pt x="9704938" y="0"/>
                </a:lnTo>
                <a:lnTo>
                  <a:pt x="9704938" y="2"/>
                </a:lnTo>
                <a:lnTo>
                  <a:pt x="10283456" y="2"/>
                </a:lnTo>
                <a:lnTo>
                  <a:pt x="10863897" y="2"/>
                </a:lnTo>
                <a:lnTo>
                  <a:pt x="12191999" y="2"/>
                </a:lnTo>
                <a:lnTo>
                  <a:pt x="12191999" y="5166360"/>
                </a:lnTo>
                <a:lnTo>
                  <a:pt x="0" y="5166360"/>
                </a:lnTo>
                <a:lnTo>
                  <a:pt x="0" y="2604436"/>
                </a:lnTo>
                <a:lnTo>
                  <a:pt x="862341" y="743371"/>
                </a:lnTo>
                <a:lnTo>
                  <a:pt x="0" y="743371"/>
                </a:lnTo>
                <a:lnTo>
                  <a:pt x="0" y="742508"/>
                </a:lnTo>
                <a:lnTo>
                  <a:pt x="92826" y="742508"/>
                </a:lnTo>
                <a:lnTo>
                  <a:pt x="406486" y="742508"/>
                </a:lnTo>
                <a:lnTo>
                  <a:pt x="406486" y="742507"/>
                </a:lnTo>
                <a:lnTo>
                  <a:pt x="862741" y="742507"/>
                </a:lnTo>
                <a:lnTo>
                  <a:pt x="1206388" y="864"/>
                </a:lnTo>
                <a:lnTo>
                  <a:pt x="748500" y="864"/>
                </a:lnTo>
                <a:lnTo>
                  <a:pt x="0" y="864"/>
                </a:lnTo>
                <a:close/>
              </a:path>
            </a:pathLst>
          </a:custGeom>
          <a:solidFill>
            <a:srgbClr val="A6A6A6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479F5F2B-8B58-4140-AE6A-51F6C67B1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91641"/>
            <a:ext cx="971654" cy="2096979"/>
          </a:xfrm>
          <a:custGeom>
            <a:avLst/>
            <a:gdLst>
              <a:gd name="connsiteX0" fmla="*/ 0 w 971654"/>
              <a:gd name="connsiteY0" fmla="*/ 0 h 2096979"/>
              <a:gd name="connsiteX1" fmla="*/ 971654 w 971654"/>
              <a:gd name="connsiteY1" fmla="*/ 0 h 2096979"/>
              <a:gd name="connsiteX2" fmla="*/ 0 w 971654"/>
              <a:gd name="connsiteY2" fmla="*/ 2096979 h 20969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1654" h="2096979">
                <a:moveTo>
                  <a:pt x="0" y="0"/>
                </a:moveTo>
                <a:lnTo>
                  <a:pt x="971654" y="0"/>
                </a:lnTo>
                <a:lnTo>
                  <a:pt x="0" y="2096979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1A5F56C-02C5-4EFA-973B-A1742FCC3FB7}"/>
              </a:ext>
            </a:extLst>
          </p:cNvPr>
          <p:cNvSpPr txBox="1"/>
          <p:nvPr/>
        </p:nvSpPr>
        <p:spPr>
          <a:xfrm>
            <a:off x="1653363" y="2176272"/>
            <a:ext cx="9367204" cy="404164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400" dirty="0"/>
              <a:t>1. </a:t>
            </a:r>
            <a:r>
              <a:rPr lang="en-US" sz="2400" dirty="0" err="1"/>
              <a:t>Gunakan</a:t>
            </a:r>
            <a:r>
              <a:rPr lang="en-US" sz="2400" dirty="0"/>
              <a:t> </a:t>
            </a:r>
            <a:r>
              <a:rPr lang="en-US" sz="2400" dirty="0" err="1"/>
              <a:t>deret</a:t>
            </a:r>
            <a:r>
              <a:rPr lang="en-US" sz="2400" dirty="0"/>
              <a:t> Taylor </a:t>
            </a:r>
            <a:r>
              <a:rPr lang="en-US" sz="2400" dirty="0" err="1"/>
              <a:t>orde</a:t>
            </a:r>
            <a:r>
              <a:rPr lang="en-US" sz="2400" dirty="0"/>
              <a:t> 4 di </a:t>
            </a:r>
            <a:r>
              <a:rPr lang="en-US" sz="2400" dirty="0" err="1"/>
              <a:t>sekitar</a:t>
            </a:r>
            <a:r>
              <a:rPr lang="en-US" sz="2400" dirty="0"/>
              <a:t> x</a:t>
            </a:r>
            <a:r>
              <a:rPr lang="en-US" sz="2000" dirty="0"/>
              <a:t>o</a:t>
            </a:r>
            <a:r>
              <a:rPr lang="en-US" sz="2400" dirty="0"/>
              <a:t>=1 </a:t>
            </a:r>
            <a:r>
              <a:rPr lang="en-US" sz="2400" dirty="0" err="1"/>
              <a:t>untuk</a:t>
            </a:r>
            <a:r>
              <a:rPr lang="en-US" sz="2400" dirty="0"/>
              <a:t> </a:t>
            </a:r>
            <a:r>
              <a:rPr lang="en-US" sz="2400" dirty="0" err="1"/>
              <a:t>menghampiri</a:t>
            </a:r>
            <a:r>
              <a:rPr lang="en-US" sz="2400" dirty="0"/>
              <a:t> cos x, </a:t>
            </a:r>
            <a:r>
              <a:rPr lang="en-US" sz="2400" dirty="0" err="1"/>
              <a:t>e^x</a:t>
            </a:r>
            <a:r>
              <a:rPr lang="en-US" sz="2400" dirty="0"/>
              <a:t>, ln (x), ln (x+1) 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2400" dirty="0"/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400" dirty="0"/>
              <a:t>2. </a:t>
            </a:r>
            <a:r>
              <a:rPr lang="en-US" sz="2400" dirty="0" err="1"/>
              <a:t>Gunakan</a:t>
            </a:r>
            <a:r>
              <a:rPr lang="en-US" sz="2400" dirty="0"/>
              <a:t> </a:t>
            </a:r>
            <a:r>
              <a:rPr lang="en-US" sz="2400" dirty="0" err="1"/>
              <a:t>deret</a:t>
            </a:r>
            <a:r>
              <a:rPr lang="en-US" sz="2400" dirty="0"/>
              <a:t> Taylor </a:t>
            </a:r>
            <a:r>
              <a:rPr lang="en-US" sz="2400" dirty="0" err="1"/>
              <a:t>orde</a:t>
            </a:r>
            <a:r>
              <a:rPr lang="en-US" sz="2400" dirty="0"/>
              <a:t> 4 di </a:t>
            </a:r>
            <a:r>
              <a:rPr lang="en-US" sz="2400" dirty="0" err="1"/>
              <a:t>sekitar</a:t>
            </a:r>
            <a:r>
              <a:rPr lang="en-US" sz="2400" dirty="0"/>
              <a:t> x</a:t>
            </a:r>
            <a:r>
              <a:rPr lang="en-US" sz="2000" dirty="0"/>
              <a:t>o</a:t>
            </a:r>
            <a:r>
              <a:rPr lang="en-US" sz="2400" dirty="0"/>
              <a:t>=1 </a:t>
            </a:r>
            <a:r>
              <a:rPr lang="en-US" sz="2400" dirty="0" err="1"/>
              <a:t>untuk</a:t>
            </a:r>
            <a:r>
              <a:rPr lang="en-US" sz="2400" dirty="0"/>
              <a:t> </a:t>
            </a:r>
            <a:r>
              <a:rPr lang="en-US" sz="2400" dirty="0" err="1"/>
              <a:t>menghampiri</a:t>
            </a:r>
            <a:r>
              <a:rPr lang="en-US" sz="2400" dirty="0"/>
              <a:t> ln(0,9) dan </a:t>
            </a:r>
            <a:r>
              <a:rPr lang="en-US" sz="2400" dirty="0" err="1"/>
              <a:t>beri-kan</a:t>
            </a:r>
            <a:r>
              <a:rPr lang="en-US" sz="2400" dirty="0"/>
              <a:t> </a:t>
            </a:r>
            <a:r>
              <a:rPr lang="en-US" sz="2400" dirty="0" err="1"/>
              <a:t>taksiran</a:t>
            </a:r>
            <a:r>
              <a:rPr lang="en-US" sz="2400" dirty="0"/>
              <a:t> </a:t>
            </a:r>
            <a:r>
              <a:rPr lang="en-US" sz="2400" dirty="0" err="1"/>
              <a:t>untuk</a:t>
            </a:r>
            <a:r>
              <a:rPr lang="en-US" sz="2400" dirty="0"/>
              <a:t> </a:t>
            </a:r>
            <a:r>
              <a:rPr lang="en-US" sz="2400" dirty="0" err="1"/>
              <a:t>galat</a:t>
            </a:r>
            <a:r>
              <a:rPr lang="en-US" sz="2400" dirty="0"/>
              <a:t> </a:t>
            </a:r>
            <a:r>
              <a:rPr lang="en-US" sz="2400" dirty="0" err="1"/>
              <a:t>maksimum</a:t>
            </a:r>
            <a:r>
              <a:rPr lang="en-US" sz="2400" dirty="0"/>
              <a:t> yang </a:t>
            </a:r>
            <a:r>
              <a:rPr lang="en-US" sz="2400" dirty="0" err="1"/>
              <a:t>dibuat</a:t>
            </a:r>
            <a:r>
              <a:rPr lang="en-US" sz="2400" dirty="0"/>
              <a:t> ! </a:t>
            </a:r>
          </a:p>
        </p:txBody>
      </p:sp>
    </p:spTree>
    <p:extLst>
      <p:ext uri="{BB962C8B-B14F-4D97-AF65-F5344CB8AC3E}">
        <p14:creationId xmlns:p14="http://schemas.microsoft.com/office/powerpoint/2010/main" val="25105429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691025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166663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98398991"/>
      </p:ext>
    </p:extLst>
  </p:cSld>
  <p:clrMapOvr>
    <a:masterClrMapping/>
  </p:clrMapOvr>
</p:sld>
</file>

<file path=ppt/theme/theme1.xml><?xml version="1.0" encoding="utf-8"?>
<a:theme xmlns:a="http://schemas.openxmlformats.org/drawingml/2006/main" name="6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7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4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5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235</TotalTime>
  <Words>226</Words>
  <Application>Microsoft Office PowerPoint</Application>
  <PresentationFormat>Widescreen</PresentationFormat>
  <Paragraphs>26</Paragraphs>
  <Slides>12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7</vt:i4>
      </vt:variant>
      <vt:variant>
        <vt:lpstr>Slide Titles</vt:lpstr>
      </vt:variant>
      <vt:variant>
        <vt:i4>12</vt:i4>
      </vt:variant>
    </vt:vector>
  </HeadingPairs>
  <TitlesOfParts>
    <vt:vector size="22" baseType="lpstr">
      <vt:lpstr>Arial</vt:lpstr>
      <vt:lpstr>Calibri</vt:lpstr>
      <vt:lpstr>Calibri Light</vt:lpstr>
      <vt:lpstr>6_Office Theme</vt:lpstr>
      <vt:lpstr>7_Office Theme</vt:lpstr>
      <vt:lpstr>4_Office Theme</vt:lpstr>
      <vt:lpstr>3_Office Theme</vt:lpstr>
      <vt:lpstr>2_Office Theme</vt:lpstr>
      <vt:lpstr>5_Office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lisda masitoh</dc:creator>
  <cp:lastModifiedBy>wiwit kurniawan</cp:lastModifiedBy>
  <cp:revision>17</cp:revision>
  <dcterms:created xsi:type="dcterms:W3CDTF">2021-08-16T10:58:02Z</dcterms:created>
  <dcterms:modified xsi:type="dcterms:W3CDTF">2021-09-03T04:52:24Z</dcterms:modified>
</cp:coreProperties>
</file>