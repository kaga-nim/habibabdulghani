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1"/>
  </p:notesMasterIdLst>
  <p:sldIdLst>
    <p:sldId id="258" r:id="rId8"/>
    <p:sldId id="257" r:id="rId9"/>
    <p:sldId id="286" r:id="rId10"/>
    <p:sldId id="289" r:id="rId11"/>
    <p:sldId id="274" r:id="rId12"/>
    <p:sldId id="293" r:id="rId13"/>
    <p:sldId id="296" r:id="rId14"/>
    <p:sldId id="295" r:id="rId15"/>
    <p:sldId id="297" r:id="rId16"/>
    <p:sldId id="292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38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6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INTEGRASI NUMERIK DENGAN METODE TRAPEZOIDA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43840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0" i="0" u="none" strike="noStrike" baseline="0" dirty="0"/>
              <a:t>Mampu </a:t>
            </a:r>
            <a:r>
              <a:rPr lang="en-US" sz="2000" b="0" i="0" u="none" strike="noStrike" baseline="0" dirty="0" err="1"/>
              <a:t>menentukan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nilai</a:t>
            </a:r>
            <a:r>
              <a:rPr lang="en-US" sz="2000" b="0" i="0" u="none" strike="noStrike" baseline="0" dirty="0"/>
              <a:t> integral </a:t>
            </a:r>
            <a:r>
              <a:rPr lang="en-US" sz="2000" b="0" i="0" u="none" strike="noStrike" baseline="0" dirty="0" err="1"/>
              <a:t>tentu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dari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suatu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fungsi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dengan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metode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Trapezoida</a:t>
            </a:r>
            <a:r>
              <a:rPr lang="en-US" sz="2000" b="0" i="0" u="none" strike="noStrike" baseline="0" dirty="0"/>
              <a:t>.</a:t>
            </a:r>
            <a:endParaRPr lang="en-US" sz="2000" dirty="0"/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1405241" y="228372"/>
            <a:ext cx="9894133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BENTUK UMUM METODE TRAPEZOIDA SATU PIAS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607803A-4E99-444E-94F7-8785CDDF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80154" y="1884045"/>
            <a:ext cx="3275668" cy="2853308"/>
          </a:xfrm>
          <a:custGeom>
            <a:avLst/>
            <a:gdLst>
              <a:gd name="connsiteX0" fmla="*/ 3275668 w 3275668"/>
              <a:gd name="connsiteY0" fmla="*/ 2853308 h 2853308"/>
              <a:gd name="connsiteX1" fmla="*/ 655 w 3275668"/>
              <a:gd name="connsiteY1" fmla="*/ 2853308 h 2853308"/>
              <a:gd name="connsiteX2" fmla="*/ 0 w 3275668"/>
              <a:gd name="connsiteY2" fmla="*/ 2467565 h 2853308"/>
              <a:gd name="connsiteX3" fmla="*/ 2869894 w 3275668"/>
              <a:gd name="connsiteY3" fmla="*/ 2468888 h 2853308"/>
              <a:gd name="connsiteX4" fmla="*/ 2869894 w 3275668"/>
              <a:gd name="connsiteY4" fmla="*/ 0 h 2853308"/>
              <a:gd name="connsiteX5" fmla="*/ 3275668 w 3275668"/>
              <a:gd name="connsiteY5" fmla="*/ 0 h 285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5668" h="2853308">
                <a:moveTo>
                  <a:pt x="3275668" y="2853308"/>
                </a:moveTo>
                <a:lnTo>
                  <a:pt x="655" y="2853308"/>
                </a:lnTo>
                <a:cubicBezTo>
                  <a:pt x="-655" y="2720171"/>
                  <a:pt x="1310" y="2600702"/>
                  <a:pt x="0" y="2467565"/>
                </a:cubicBezTo>
                <a:lnTo>
                  <a:pt x="2869894" y="2468888"/>
                </a:lnTo>
                <a:lnTo>
                  <a:pt x="2869894" y="0"/>
                </a:lnTo>
                <a:lnTo>
                  <a:pt x="327566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989BE6A-C309-418E-8ADD-1616A980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55822" y="3222529"/>
            <a:ext cx="3242952" cy="2828156"/>
          </a:xfrm>
          <a:custGeom>
            <a:avLst/>
            <a:gdLst>
              <a:gd name="connsiteX0" fmla="*/ 2837178 w 3242952"/>
              <a:gd name="connsiteY0" fmla="*/ 0 h 2828156"/>
              <a:gd name="connsiteX1" fmla="*/ 3242952 w 3242952"/>
              <a:gd name="connsiteY1" fmla="*/ 0 h 2828156"/>
              <a:gd name="connsiteX2" fmla="*/ 3242952 w 3242952"/>
              <a:gd name="connsiteY2" fmla="*/ 2828156 h 2828156"/>
              <a:gd name="connsiteX3" fmla="*/ 0 w 3242952"/>
              <a:gd name="connsiteY3" fmla="*/ 2828156 h 2828156"/>
              <a:gd name="connsiteX4" fmla="*/ 0 w 3242952"/>
              <a:gd name="connsiteY4" fmla="*/ 2442859 h 2828156"/>
              <a:gd name="connsiteX5" fmla="*/ 2837178 w 3242952"/>
              <a:gd name="connsiteY5" fmla="*/ 2443295 h 282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952" h="2828156">
                <a:moveTo>
                  <a:pt x="2837178" y="0"/>
                </a:moveTo>
                <a:lnTo>
                  <a:pt x="3242952" y="0"/>
                </a:lnTo>
                <a:lnTo>
                  <a:pt x="3242952" y="2828156"/>
                </a:lnTo>
                <a:lnTo>
                  <a:pt x="0" y="2828156"/>
                </a:lnTo>
                <a:lnTo>
                  <a:pt x="0" y="2442859"/>
                </a:lnTo>
                <a:lnTo>
                  <a:pt x="2837178" y="2443295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00C87-36E7-4923-A9AE-A53751701FA1}"/>
              </a:ext>
            </a:extLst>
          </p:cNvPr>
          <p:cNvSpPr txBox="1"/>
          <p:nvPr/>
        </p:nvSpPr>
        <p:spPr>
          <a:xfrm>
            <a:off x="7502013" y="2279151"/>
            <a:ext cx="4267200" cy="3387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Merupakan</a:t>
            </a:r>
            <a:r>
              <a:rPr lang="en-US" sz="2400" dirty="0"/>
              <a:t> integral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f(x)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x yang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batas</a:t>
            </a:r>
            <a:r>
              <a:rPr lang="en-US" sz="2400" dirty="0"/>
              <a:t> x = a </a:t>
            </a:r>
            <a:r>
              <a:rPr lang="en-US" sz="2400" dirty="0" err="1"/>
              <a:t>sampai</a:t>
            </a:r>
            <a:r>
              <a:rPr lang="en-US" sz="2400" dirty="0"/>
              <a:t> x = b.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367917-9185-4410-A247-B18D49D8B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51" y="2572920"/>
            <a:ext cx="5149857" cy="216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7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INTEGRAL METODE TRAPEZOIDA</a:t>
            </a:r>
          </a:p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SATU PIAS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511135-275E-4C12-9061-3E8970179156}"/>
              </a:ext>
            </a:extLst>
          </p:cNvPr>
          <p:cNvSpPr txBox="1"/>
          <p:nvPr/>
        </p:nvSpPr>
        <p:spPr>
          <a:xfrm>
            <a:off x="1604562" y="4263997"/>
            <a:ext cx="8740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Penghitungan</a:t>
            </a:r>
            <a:r>
              <a:rPr lang="en-US" dirty="0"/>
              <a:t> </a:t>
            </a:r>
            <a:r>
              <a:rPr lang="en-US" dirty="0" err="1"/>
              <a:t>luasan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didekati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luasan</a:t>
            </a:r>
            <a:r>
              <a:rPr lang="en-US" dirty="0"/>
              <a:t> trapezium (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diarsir</a:t>
            </a:r>
            <a:r>
              <a:rPr lang="en-US" dirty="0"/>
              <a:t>)</a:t>
            </a:r>
          </a:p>
          <a:p>
            <a:r>
              <a:rPr lang="en-US" b="1" dirty="0"/>
              <a:t>Luas trapezium (l) = </a:t>
            </a:r>
            <a:r>
              <a:rPr lang="en-US" b="1" dirty="0" err="1"/>
              <a:t>lebar</a:t>
            </a:r>
            <a:r>
              <a:rPr lang="en-US" b="1" dirty="0"/>
              <a:t> x (</a:t>
            </a:r>
            <a:r>
              <a:rPr lang="en-US" b="1" dirty="0" err="1"/>
              <a:t>jumlah</a:t>
            </a:r>
            <a:r>
              <a:rPr lang="en-US" b="1" dirty="0"/>
              <a:t> garis </a:t>
            </a:r>
            <a:r>
              <a:rPr lang="en-US" b="1" dirty="0" err="1"/>
              <a:t>sejajar</a:t>
            </a:r>
            <a:r>
              <a:rPr lang="en-US" b="1" dirty="0"/>
              <a:t>)/2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CD9FEE-04C6-4A9E-9E5F-B2CB70CAA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985" y="1312067"/>
            <a:ext cx="4389500" cy="29110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F552D0-F529-49AA-816D-DA3DF05CD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546" y="5152997"/>
            <a:ext cx="2865857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1EE0B-C280-4CF4-82C5-AB18D6762746}"/>
              </a:ext>
            </a:extLst>
          </p:cNvPr>
          <p:cNvSpPr txBox="1"/>
          <p:nvPr/>
        </p:nvSpPr>
        <p:spPr>
          <a:xfrm>
            <a:off x="1477344" y="1357804"/>
            <a:ext cx="9346165" cy="6463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Tentukan</a:t>
            </a:r>
            <a:r>
              <a:rPr lang="en-US" dirty="0"/>
              <a:t> integral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trapesium</a:t>
            </a:r>
            <a:r>
              <a:rPr lang="en-US" dirty="0"/>
              <a:t>, dan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eksaknya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2D2FBC-BD45-4BB4-872A-5F83A26F5F46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C1E65-774D-4E17-97A4-0957DDBB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624" y="2119889"/>
            <a:ext cx="1322374" cy="84631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4E5B13-E847-4BAE-8D89-07F4A554E641}"/>
              </a:ext>
            </a:extLst>
          </p:cNvPr>
          <p:cNvSpPr txBox="1">
            <a:spLocks/>
          </p:cNvSpPr>
          <p:nvPr/>
        </p:nvSpPr>
        <p:spPr>
          <a:xfrm>
            <a:off x="123143" y="2797479"/>
            <a:ext cx="4650481" cy="5553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PENYELESAIAN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EBCA78-0EFA-42AC-93E3-1B2AEDE3A591}"/>
                  </a:ext>
                </a:extLst>
              </p:cNvPr>
              <p:cNvSpPr txBox="1"/>
              <p:nvPr/>
            </p:nvSpPr>
            <p:spPr>
              <a:xfrm>
                <a:off x="3050458" y="3251708"/>
                <a:ext cx="36209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Solusi </a:t>
                </a:r>
                <a:r>
                  <a:rPr lang="en-US" dirty="0" err="1"/>
                  <a:t>eksak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I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= 53,598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EBCA78-0EFA-42AC-93E3-1B2AEDE3A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458" y="3251708"/>
                <a:ext cx="3620930" cy="369332"/>
              </a:xfrm>
              <a:prstGeom prst="rect">
                <a:avLst/>
              </a:prstGeom>
              <a:blipFill>
                <a:blip r:embed="rId3"/>
                <a:stretch>
                  <a:fillRect l="-13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06C9661-7481-46DD-A5B8-416E4CD27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699" y="3967645"/>
            <a:ext cx="4656223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1451579" y="950397"/>
            <a:ext cx="9603274" cy="10126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BENTUK UMUM METODE TRAPEZOIDA BANYAK PIAS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5863A0-0EBC-4C9B-958B-06AD3E75B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81807" y="2056720"/>
            <a:ext cx="947304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C30759F-FFC4-45AB-93C0-140110F6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655" y="2667917"/>
            <a:ext cx="6353151" cy="261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0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INTEGRAL METODE TRAPEZOIDA</a:t>
            </a:r>
          </a:p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BANYAK PIAS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1E345-17D0-4090-AA06-D84720FD2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816" y="1367628"/>
            <a:ext cx="5223885" cy="2899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60B62-9385-429C-A9B5-36B90EFE4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8" y="2577930"/>
            <a:ext cx="3330229" cy="731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28EC4F-2BB6-4DBB-9305-79FEFF740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508" y="4575376"/>
            <a:ext cx="3985576" cy="1638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621DC1-7BD5-43C3-BE44-16938FA5A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425" y="3925037"/>
            <a:ext cx="1966130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8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3B6692-258F-46E4-96F1-18CA5D293EAB}"/>
              </a:ext>
            </a:extLst>
          </p:cNvPr>
          <p:cNvSpPr txBox="1"/>
          <p:nvPr/>
        </p:nvSpPr>
        <p:spPr>
          <a:xfrm>
            <a:off x="2043404" y="1415248"/>
            <a:ext cx="8929396" cy="6463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Tentukan</a:t>
            </a:r>
            <a:r>
              <a:rPr lang="en-US" dirty="0"/>
              <a:t> integral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trapesium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</a:t>
            </a:r>
            <a:r>
              <a:rPr lang="en-US" dirty="0" err="1"/>
              <a:t>pias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lebar</a:t>
            </a:r>
            <a:r>
              <a:rPr lang="en-US" dirty="0"/>
              <a:t> </a:t>
            </a:r>
            <a:r>
              <a:rPr lang="en-US" dirty="0" err="1"/>
              <a:t>pias</a:t>
            </a:r>
            <a:r>
              <a:rPr lang="en-US" dirty="0"/>
              <a:t> ∆x = 1, dan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penyelesaian</a:t>
            </a:r>
            <a:r>
              <a:rPr lang="en-US" dirty="0"/>
              <a:t> </a:t>
            </a:r>
            <a:r>
              <a:rPr lang="en-US" dirty="0" err="1"/>
              <a:t>eksaknya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7DEDC9-9C3C-4A3D-B0A5-2F24E87B7CC4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4B2EC-5AB8-4245-A9F6-4E6EFA3CA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897" y="2157212"/>
            <a:ext cx="1322374" cy="8463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B5CF7B-2E03-4C7E-A6B6-33A438FEF005}"/>
              </a:ext>
            </a:extLst>
          </p:cNvPr>
          <p:cNvSpPr txBox="1">
            <a:spLocks/>
          </p:cNvSpPr>
          <p:nvPr/>
        </p:nvSpPr>
        <p:spPr>
          <a:xfrm>
            <a:off x="328416" y="2745432"/>
            <a:ext cx="4650481" cy="5553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PENYELESAIAN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87709D-C2B3-4387-A851-FAE584872BE5}"/>
                  </a:ext>
                </a:extLst>
              </p:cNvPr>
              <p:cNvSpPr txBox="1"/>
              <p:nvPr/>
            </p:nvSpPr>
            <p:spPr>
              <a:xfrm>
                <a:off x="3065796" y="3244334"/>
                <a:ext cx="36209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Solusi </a:t>
                </a:r>
                <a:r>
                  <a:rPr lang="en-US" dirty="0" err="1"/>
                  <a:t>eksak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I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= 53,598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87709D-C2B3-4387-A851-FAE5848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796" y="3244334"/>
                <a:ext cx="3620930" cy="369332"/>
              </a:xfrm>
              <a:prstGeom prst="rect">
                <a:avLst/>
              </a:prstGeom>
              <a:blipFill>
                <a:blip r:embed="rId3"/>
                <a:stretch>
                  <a:fillRect l="-1515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7B2545B-8682-493A-832B-E223E14F7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689" y="3984606"/>
            <a:ext cx="5330050" cy="151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7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SOAL LATIHAN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67805-391F-4B8E-83CD-F6C743B06E8B}"/>
              </a:ext>
            </a:extLst>
          </p:cNvPr>
          <p:cNvSpPr txBox="1"/>
          <p:nvPr/>
        </p:nvSpPr>
        <p:spPr>
          <a:xfrm>
            <a:off x="2183363" y="1395126"/>
            <a:ext cx="8406882" cy="83099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err="1"/>
              <a:t>Carilah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integral </a:t>
            </a:r>
            <a:r>
              <a:rPr lang="en-US" sz="2400" dirty="0" err="1"/>
              <a:t>dari</a:t>
            </a:r>
            <a:r>
              <a:rPr lang="en-US" sz="2400" dirty="0"/>
              <a:t> x = 1.0 </a:t>
            </a:r>
            <a:r>
              <a:rPr lang="en-US" sz="2400" dirty="0" err="1"/>
              <a:t>hingga</a:t>
            </a:r>
            <a:r>
              <a:rPr lang="en-US" sz="2400" dirty="0"/>
              <a:t> x = 3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Rectangular dan </a:t>
            </a: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Trapezoida</a:t>
            </a:r>
            <a:r>
              <a:rPr lang="en-US" sz="2400" dirty="0"/>
              <a:t> dan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7BC4F3-AA7F-4DF1-BFC4-9D306C487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022" y="2511013"/>
            <a:ext cx="3651854" cy="32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194</Words>
  <Application>Microsoft Office PowerPoint</Application>
  <PresentationFormat>Widescreen</PresentationFormat>
  <Paragraphs>27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20</cp:revision>
  <dcterms:created xsi:type="dcterms:W3CDTF">2021-08-16T10:58:02Z</dcterms:created>
  <dcterms:modified xsi:type="dcterms:W3CDTF">2021-09-03T05:50:26Z</dcterms:modified>
</cp:coreProperties>
</file>