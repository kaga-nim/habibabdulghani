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Layouts/slideLayout5.xml" ContentType="application/vnd.openxmlformats-officedocument.presentationml.slideLayout+xml"/>
  <Override PartName="/ppt/theme/theme4.xml" ContentType="application/vnd.openxmlformats-officedocument.theme+xml"/>
  <Override PartName="/ppt/slideLayouts/slideLayout6.xml" ContentType="application/vnd.openxmlformats-officedocument.presentationml.slideLayout+xml"/>
  <Override PartName="/ppt/theme/theme5.xml" ContentType="application/vnd.openxmlformats-officedocument.theme+xml"/>
  <Override PartName="/ppt/slideLayouts/slideLayout7.xml" ContentType="application/vnd.openxmlformats-officedocument.presentationml.slideLayout+xml"/>
  <Override PartName="/ppt/theme/theme6.xml" ContentType="application/vnd.openxmlformats-officedocument.theme+xml"/>
  <Override PartName="/ppt/slideLayouts/slideLayout8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4" r:id="rId1"/>
    <p:sldMasterId id="2147483701" r:id="rId2"/>
    <p:sldMasterId id="2147483692" r:id="rId3"/>
    <p:sldMasterId id="2147483691" r:id="rId4"/>
    <p:sldMasterId id="2147483690" r:id="rId5"/>
    <p:sldMasterId id="2147483693" r:id="rId6"/>
    <p:sldMasterId id="2147483689" r:id="rId7"/>
  </p:sldMasterIdLst>
  <p:notesMasterIdLst>
    <p:notesMasterId r:id="rId24"/>
  </p:notesMasterIdLst>
  <p:sldIdLst>
    <p:sldId id="258" r:id="rId8"/>
    <p:sldId id="257" r:id="rId9"/>
    <p:sldId id="286" r:id="rId10"/>
    <p:sldId id="302" r:id="rId11"/>
    <p:sldId id="317" r:id="rId12"/>
    <p:sldId id="309" r:id="rId13"/>
    <p:sldId id="308" r:id="rId14"/>
    <p:sldId id="310" r:id="rId15"/>
    <p:sldId id="311" r:id="rId16"/>
    <p:sldId id="319" r:id="rId17"/>
    <p:sldId id="313" r:id="rId18"/>
    <p:sldId id="320" r:id="rId19"/>
    <p:sldId id="292" r:id="rId20"/>
    <p:sldId id="269" r:id="rId21"/>
    <p:sldId id="270" r:id="rId22"/>
    <p:sldId id="271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2" y="1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4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4.xml"/><Relationship Id="rId24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tableStyles" Target="tableStyles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9F9C41-3D6D-40DA-A817-544FF813B30C}" type="datetimeFigureOut">
              <a:rPr lang="en-ID" smtClean="0"/>
              <a:t>09/09/2021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8010C8-ABB4-48BA-AA1C-2D0B09E8735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809667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DA1FDA-4F84-4036-AEF0-0ADFB233BBC5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89228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BA360-16FD-48D7-AA37-D01665392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820432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BA360-16FD-48D7-AA37-D01665392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58865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6823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6A74D-1C8D-4400-A44B-18C61420D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61360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314F5-9B88-4A10-889F-F5ED67983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866138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F2F78-41F6-4DBD-A49B-20619A862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135821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3B74E-CCD6-46A2-96AD-028888784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139638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CF78D-0AC0-4E71-8350-3BC2A8E43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157850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6310508-6870-44FB-B67F-C3F1350DB66D}"/>
              </a:ext>
            </a:extLst>
          </p:cNvPr>
          <p:cNvSpPr/>
          <p:nvPr userDrawn="1"/>
        </p:nvSpPr>
        <p:spPr>
          <a:xfrm>
            <a:off x="0" y="1"/>
            <a:ext cx="12192000" cy="120446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2" y="38924"/>
            <a:ext cx="1119282" cy="108649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456D31B-DA89-4FCC-A0CF-973CBA8BD493}"/>
              </a:ext>
            </a:extLst>
          </p:cNvPr>
          <p:cNvSpPr txBox="1"/>
          <p:nvPr userDrawn="1"/>
        </p:nvSpPr>
        <p:spPr>
          <a:xfrm>
            <a:off x="1218924" y="166670"/>
            <a:ext cx="58861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/>
              <a:t>PROGRAM STUDI S1 TEKNIK INFORMATIKA</a:t>
            </a:r>
            <a:br>
              <a:rPr lang="en-US" sz="2400" dirty="0"/>
            </a:br>
            <a:r>
              <a:rPr lang="en-US" sz="2400" dirty="0"/>
              <a:t>UNIVERSITAS PAMULANG</a:t>
            </a:r>
            <a:endParaRPr lang="en-ID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60A43D-3921-41B8-B4DC-C239EAEA847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8352" y="0"/>
            <a:ext cx="2143648" cy="1205802"/>
          </a:xfrm>
          <a:prstGeom prst="rect">
            <a:avLst/>
          </a:prstGeom>
        </p:spPr>
      </p:pic>
      <p:sp>
        <p:nvSpPr>
          <p:cNvPr id="6" name="Title Placeholder 5">
            <a:extLst>
              <a:ext uri="{FF2B5EF4-FFF2-40B4-BE49-F238E27FC236}">
                <a16:creationId xmlns:a16="http://schemas.microsoft.com/office/drawing/2014/main" id="{36AE1D4B-E2EF-47C4-A1A7-5689711E6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446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Flowchart: Process 2">
            <a:extLst>
              <a:ext uri="{FF2B5EF4-FFF2-40B4-BE49-F238E27FC236}">
                <a16:creationId xmlns:a16="http://schemas.microsoft.com/office/drawing/2014/main" id="{59788E57-52DB-4E2B-A81F-D18E71DA02CB}"/>
              </a:ext>
            </a:extLst>
          </p:cNvPr>
          <p:cNvSpPr/>
          <p:nvPr userDrawn="1"/>
        </p:nvSpPr>
        <p:spPr>
          <a:xfrm>
            <a:off x="0" y="6360607"/>
            <a:ext cx="12192000" cy="497393"/>
          </a:xfrm>
          <a:prstGeom prst="flowChartProcess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8BF5A5-79AC-4428-A4CF-F44278AA4D6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7255" y="6422940"/>
            <a:ext cx="453018" cy="43911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F13C787-49DC-45B2-99DA-FD9DF4541EF2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2" y="6419057"/>
            <a:ext cx="380491" cy="38049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C0EC3BD-0F33-4AAF-A3A2-953764A0D99A}"/>
              </a:ext>
            </a:extLst>
          </p:cNvPr>
          <p:cNvSpPr txBox="1"/>
          <p:nvPr userDrawn="1"/>
        </p:nvSpPr>
        <p:spPr>
          <a:xfrm>
            <a:off x="480133" y="6412026"/>
            <a:ext cx="17936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InfoTI_unpam</a:t>
            </a:r>
            <a:endParaRPr lang="en-ID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0CFA357-EB7B-4C90-B08D-FF68109B966A}"/>
              </a:ext>
            </a:extLst>
          </p:cNvPr>
          <p:cNvSpPr txBox="1"/>
          <p:nvPr userDrawn="1"/>
        </p:nvSpPr>
        <p:spPr>
          <a:xfrm>
            <a:off x="2527388" y="6412026"/>
            <a:ext cx="2697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informatika.unpam.ac.id</a:t>
            </a:r>
            <a:endParaRPr lang="en-ID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10FF8DC-21DB-400A-A27F-9751868D2AFC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3996" y="6412026"/>
            <a:ext cx="648362" cy="458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1310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5">
            <a:extLst>
              <a:ext uri="{FF2B5EF4-FFF2-40B4-BE49-F238E27FC236}">
                <a16:creationId xmlns:a16="http://schemas.microsoft.com/office/drawing/2014/main" id="{36AE1D4B-E2EF-47C4-A1A7-5689711E6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446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Flowchart: Process 2">
            <a:extLst>
              <a:ext uri="{FF2B5EF4-FFF2-40B4-BE49-F238E27FC236}">
                <a16:creationId xmlns:a16="http://schemas.microsoft.com/office/drawing/2014/main" id="{59788E57-52DB-4E2B-A81F-D18E71DA02CB}"/>
              </a:ext>
            </a:extLst>
          </p:cNvPr>
          <p:cNvSpPr/>
          <p:nvPr userDrawn="1"/>
        </p:nvSpPr>
        <p:spPr>
          <a:xfrm>
            <a:off x="0" y="6360607"/>
            <a:ext cx="12192000" cy="497393"/>
          </a:xfrm>
          <a:prstGeom prst="flowChartProcess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8BF5A5-79AC-4428-A4CF-F44278AA4D6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7255" y="6422940"/>
            <a:ext cx="453018" cy="43911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F13C787-49DC-45B2-99DA-FD9DF4541EF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2" y="6419057"/>
            <a:ext cx="380491" cy="38049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C0EC3BD-0F33-4AAF-A3A2-953764A0D99A}"/>
              </a:ext>
            </a:extLst>
          </p:cNvPr>
          <p:cNvSpPr txBox="1"/>
          <p:nvPr userDrawn="1"/>
        </p:nvSpPr>
        <p:spPr>
          <a:xfrm>
            <a:off x="480133" y="6412026"/>
            <a:ext cx="17936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InfoTI_unpam</a:t>
            </a:r>
            <a:endParaRPr lang="en-ID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0CFA357-EB7B-4C90-B08D-FF68109B966A}"/>
              </a:ext>
            </a:extLst>
          </p:cNvPr>
          <p:cNvSpPr txBox="1"/>
          <p:nvPr userDrawn="1"/>
        </p:nvSpPr>
        <p:spPr>
          <a:xfrm>
            <a:off x="2527388" y="6412026"/>
            <a:ext cx="2697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informatika.unpam.ac.id</a:t>
            </a:r>
            <a:endParaRPr lang="en-ID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10FF8DC-21DB-400A-A27F-9751868D2AF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3996" y="6412026"/>
            <a:ext cx="648362" cy="45873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0E9772E-AF4F-4C17-B477-D78352308CB6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590" y="6366986"/>
            <a:ext cx="512406" cy="497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861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Triangle 8">
            <a:extLst>
              <a:ext uri="{FF2B5EF4-FFF2-40B4-BE49-F238E27FC236}">
                <a16:creationId xmlns:a16="http://schemas.microsoft.com/office/drawing/2014/main" id="{0FE1B4E5-ADBE-44E9-94B8-12353259E240}"/>
              </a:ext>
            </a:extLst>
          </p:cNvPr>
          <p:cNvSpPr/>
          <p:nvPr userDrawn="1"/>
        </p:nvSpPr>
        <p:spPr>
          <a:xfrm rot="16200000">
            <a:off x="10209964" y="4875960"/>
            <a:ext cx="1884065" cy="2080010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310508-6870-44FB-B67F-C3F1350DB66D}"/>
              </a:ext>
            </a:extLst>
          </p:cNvPr>
          <p:cNvSpPr/>
          <p:nvPr userDrawn="1"/>
        </p:nvSpPr>
        <p:spPr>
          <a:xfrm>
            <a:off x="0" y="6211614"/>
            <a:ext cx="12192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Program </a:t>
            </a:r>
            <a:r>
              <a:rPr lang="en-US" sz="2000" dirty="0" err="1">
                <a:solidFill>
                  <a:schemeClr val="tx1"/>
                </a:solidFill>
              </a:rPr>
              <a:t>Studi</a:t>
            </a:r>
            <a:r>
              <a:rPr lang="en-US" sz="2000" dirty="0">
                <a:solidFill>
                  <a:schemeClr val="tx1"/>
                </a:solidFill>
              </a:rPr>
              <a:t> Teknik </a:t>
            </a:r>
            <a:r>
              <a:rPr lang="en-US" sz="2000" dirty="0" err="1">
                <a:solidFill>
                  <a:schemeClr val="tx1"/>
                </a:solidFill>
              </a:rPr>
              <a:t>Informatika</a:t>
            </a:r>
            <a:r>
              <a:rPr lang="en-US" sz="2000" dirty="0">
                <a:solidFill>
                  <a:schemeClr val="tx1"/>
                </a:solidFill>
              </a:rPr>
              <a:t>, Universitas </a:t>
            </a:r>
            <a:r>
              <a:rPr lang="en-US" sz="2000" dirty="0" err="1">
                <a:solidFill>
                  <a:schemeClr val="tx1"/>
                </a:solidFill>
              </a:rPr>
              <a:t>Pamulang</a:t>
            </a:r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4354D356-3AB9-4317-AD64-9733710C017F}"/>
              </a:ext>
            </a:extLst>
          </p:cNvPr>
          <p:cNvSpPr/>
          <p:nvPr userDrawn="1"/>
        </p:nvSpPr>
        <p:spPr>
          <a:xfrm>
            <a:off x="0" y="5074416"/>
            <a:ext cx="1597688" cy="1783584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9172" y="5725289"/>
            <a:ext cx="1042588" cy="10120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1A5ABCE-DB0D-44E8-AF1B-A1F9AA2448C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0581" y="5864994"/>
            <a:ext cx="1403488" cy="99300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7710A05-4BC0-4640-9166-A8A038BAD88C}"/>
              </a:ext>
            </a:extLst>
          </p:cNvPr>
          <p:cNvSpPr txBox="1"/>
          <p:nvPr userDrawn="1"/>
        </p:nvSpPr>
        <p:spPr>
          <a:xfrm>
            <a:off x="3898760" y="2622619"/>
            <a:ext cx="51949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/>
              <a:t>TERIMA KASIH</a:t>
            </a:r>
            <a:endParaRPr lang="en-ID" sz="5400" dirty="0"/>
          </a:p>
        </p:txBody>
      </p:sp>
    </p:spTree>
    <p:extLst>
      <p:ext uri="{BB962C8B-B14F-4D97-AF65-F5344CB8AC3E}">
        <p14:creationId xmlns:p14="http://schemas.microsoft.com/office/powerpoint/2010/main" val="321173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Triangle 8">
            <a:extLst>
              <a:ext uri="{FF2B5EF4-FFF2-40B4-BE49-F238E27FC236}">
                <a16:creationId xmlns:a16="http://schemas.microsoft.com/office/drawing/2014/main" id="{0FE1B4E5-ADBE-44E9-94B8-12353259E240}"/>
              </a:ext>
            </a:extLst>
          </p:cNvPr>
          <p:cNvSpPr/>
          <p:nvPr userDrawn="1"/>
        </p:nvSpPr>
        <p:spPr>
          <a:xfrm rot="16200000">
            <a:off x="10209964" y="4875960"/>
            <a:ext cx="1884065" cy="2080010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310508-6870-44FB-B67F-C3F1350DB66D}"/>
              </a:ext>
            </a:extLst>
          </p:cNvPr>
          <p:cNvSpPr/>
          <p:nvPr userDrawn="1"/>
        </p:nvSpPr>
        <p:spPr>
          <a:xfrm>
            <a:off x="0" y="6211614"/>
            <a:ext cx="12192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Program </a:t>
            </a:r>
            <a:r>
              <a:rPr lang="en-US" sz="2000" dirty="0" err="1">
                <a:solidFill>
                  <a:schemeClr val="tx1"/>
                </a:solidFill>
              </a:rPr>
              <a:t>Studi</a:t>
            </a:r>
            <a:r>
              <a:rPr lang="en-US" sz="2000" dirty="0">
                <a:solidFill>
                  <a:schemeClr val="tx1"/>
                </a:solidFill>
              </a:rPr>
              <a:t> Teknik </a:t>
            </a:r>
            <a:r>
              <a:rPr lang="en-US" sz="2000" dirty="0" err="1">
                <a:solidFill>
                  <a:schemeClr val="tx1"/>
                </a:solidFill>
              </a:rPr>
              <a:t>Informatika</a:t>
            </a:r>
            <a:r>
              <a:rPr lang="en-US" sz="2000" dirty="0">
                <a:solidFill>
                  <a:schemeClr val="tx1"/>
                </a:solidFill>
              </a:rPr>
              <a:t>, Universitas </a:t>
            </a:r>
            <a:r>
              <a:rPr lang="en-US" sz="2000" dirty="0" err="1">
                <a:solidFill>
                  <a:schemeClr val="tx1"/>
                </a:solidFill>
              </a:rPr>
              <a:t>Pamulang</a:t>
            </a:r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4354D356-3AB9-4317-AD64-9733710C017F}"/>
              </a:ext>
            </a:extLst>
          </p:cNvPr>
          <p:cNvSpPr/>
          <p:nvPr userDrawn="1"/>
        </p:nvSpPr>
        <p:spPr>
          <a:xfrm>
            <a:off x="0" y="5074416"/>
            <a:ext cx="1597688" cy="1783584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9172" y="5725289"/>
            <a:ext cx="1042588" cy="10120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1A5ABCE-DB0D-44E8-AF1B-A1F9AA2448C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0581" y="5864994"/>
            <a:ext cx="1403488" cy="993004"/>
          </a:xfrm>
          <a:prstGeom prst="rect">
            <a:avLst/>
          </a:prstGeom>
        </p:spPr>
      </p:pic>
      <p:sp>
        <p:nvSpPr>
          <p:cNvPr id="6" name="Flowchart: Process 5">
            <a:extLst>
              <a:ext uri="{FF2B5EF4-FFF2-40B4-BE49-F238E27FC236}">
                <a16:creationId xmlns:a16="http://schemas.microsoft.com/office/drawing/2014/main" id="{38F377F8-55ED-4437-98B9-2D2AA5DD3B4A}"/>
              </a:ext>
            </a:extLst>
          </p:cNvPr>
          <p:cNvSpPr/>
          <p:nvPr userDrawn="1"/>
        </p:nvSpPr>
        <p:spPr>
          <a:xfrm>
            <a:off x="0" y="2582426"/>
            <a:ext cx="12192000" cy="646385"/>
          </a:xfrm>
          <a:prstGeom prst="flowChartProcess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TERIMA KASIH, MAHASISWA TEKNIK INFORMATIKA UNGGUL, ANDA SUDAH BELAJAR DENGAN LUAR BIASA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973921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65A30DD-8BE8-42A1-85CC-D069AF516FB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600" y="2057400"/>
            <a:ext cx="4876800" cy="2743200"/>
          </a:xfrm>
          <a:prstGeom prst="rect">
            <a:avLst/>
          </a:prstGeom>
        </p:spPr>
      </p:pic>
      <p:sp>
        <p:nvSpPr>
          <p:cNvPr id="9" name="Right Triangle 8">
            <a:extLst>
              <a:ext uri="{FF2B5EF4-FFF2-40B4-BE49-F238E27FC236}">
                <a16:creationId xmlns:a16="http://schemas.microsoft.com/office/drawing/2014/main" id="{0FE1B4E5-ADBE-44E9-94B8-12353259E240}"/>
              </a:ext>
            </a:extLst>
          </p:cNvPr>
          <p:cNvSpPr/>
          <p:nvPr userDrawn="1"/>
        </p:nvSpPr>
        <p:spPr>
          <a:xfrm rot="16200000">
            <a:off x="10209964" y="4875960"/>
            <a:ext cx="1884065" cy="2080010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310508-6870-44FB-B67F-C3F1350DB66D}"/>
              </a:ext>
            </a:extLst>
          </p:cNvPr>
          <p:cNvSpPr/>
          <p:nvPr userDrawn="1"/>
        </p:nvSpPr>
        <p:spPr>
          <a:xfrm>
            <a:off x="0" y="6211614"/>
            <a:ext cx="12192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Program </a:t>
            </a:r>
            <a:r>
              <a:rPr lang="en-US" sz="2000" dirty="0" err="1">
                <a:solidFill>
                  <a:schemeClr val="tx1"/>
                </a:solidFill>
              </a:rPr>
              <a:t>Studi</a:t>
            </a:r>
            <a:r>
              <a:rPr lang="en-US" sz="2000" dirty="0">
                <a:solidFill>
                  <a:schemeClr val="tx1"/>
                </a:solidFill>
              </a:rPr>
              <a:t> Teknik </a:t>
            </a:r>
            <a:r>
              <a:rPr lang="en-US" sz="2000" dirty="0" err="1">
                <a:solidFill>
                  <a:schemeClr val="tx1"/>
                </a:solidFill>
              </a:rPr>
              <a:t>Informatika</a:t>
            </a:r>
            <a:r>
              <a:rPr lang="en-US" sz="2000" dirty="0">
                <a:solidFill>
                  <a:schemeClr val="tx1"/>
                </a:solidFill>
              </a:rPr>
              <a:t>, Universitas </a:t>
            </a:r>
            <a:r>
              <a:rPr lang="en-US" sz="2000" dirty="0" err="1">
                <a:solidFill>
                  <a:schemeClr val="tx1"/>
                </a:solidFill>
              </a:rPr>
              <a:t>Pamulang</a:t>
            </a:r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4354D356-3AB9-4317-AD64-9733710C017F}"/>
              </a:ext>
            </a:extLst>
          </p:cNvPr>
          <p:cNvSpPr/>
          <p:nvPr userDrawn="1"/>
        </p:nvSpPr>
        <p:spPr>
          <a:xfrm>
            <a:off x="0" y="5074416"/>
            <a:ext cx="1597688" cy="1783584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9172" y="5725289"/>
            <a:ext cx="1042588" cy="10120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1A5ABCE-DB0D-44E8-AF1B-A1F9AA2448C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0581" y="5864994"/>
            <a:ext cx="1403488" cy="993004"/>
          </a:xfrm>
          <a:prstGeom prst="rect">
            <a:avLst/>
          </a:prstGeom>
        </p:spPr>
      </p:pic>
      <p:sp>
        <p:nvSpPr>
          <p:cNvPr id="6" name="Flowchart: Process 5">
            <a:extLst>
              <a:ext uri="{FF2B5EF4-FFF2-40B4-BE49-F238E27FC236}">
                <a16:creationId xmlns:a16="http://schemas.microsoft.com/office/drawing/2014/main" id="{38F377F8-55ED-4437-98B9-2D2AA5DD3B4A}"/>
              </a:ext>
            </a:extLst>
          </p:cNvPr>
          <p:cNvSpPr/>
          <p:nvPr userDrawn="1"/>
        </p:nvSpPr>
        <p:spPr>
          <a:xfrm>
            <a:off x="0" y="0"/>
            <a:ext cx="12192000" cy="646385"/>
          </a:xfrm>
          <a:prstGeom prst="flowChartProcess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TERIMA KASIH, MAHASISWA TEKNIK INFORMATIKA UNGGUL, ANDA SUDAH BELAJAR DENGAN LUAR BIASA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404665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6310508-6870-44FB-B67F-C3F1350DB66D}"/>
              </a:ext>
            </a:extLst>
          </p:cNvPr>
          <p:cNvSpPr/>
          <p:nvPr userDrawn="1"/>
        </p:nvSpPr>
        <p:spPr>
          <a:xfrm>
            <a:off x="0" y="1"/>
            <a:ext cx="12192000" cy="120446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2" y="38924"/>
            <a:ext cx="1119282" cy="108649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456D31B-DA89-4FCC-A0CF-973CBA8BD493}"/>
              </a:ext>
            </a:extLst>
          </p:cNvPr>
          <p:cNvSpPr txBox="1"/>
          <p:nvPr userDrawn="1"/>
        </p:nvSpPr>
        <p:spPr>
          <a:xfrm>
            <a:off x="1218924" y="166670"/>
            <a:ext cx="58861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/>
              <a:t>PROGRAM STUDI S1 TEKNIK INFORMATIKA</a:t>
            </a:r>
            <a:br>
              <a:rPr lang="en-US" sz="2400" dirty="0"/>
            </a:br>
            <a:r>
              <a:rPr lang="en-US" sz="2400" dirty="0"/>
              <a:t>UNIVERSITAS PAMULANG</a:t>
            </a:r>
            <a:endParaRPr lang="en-ID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60A43D-3921-41B8-B4DC-C239EAEA847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8352" y="0"/>
            <a:ext cx="2143648" cy="1205802"/>
          </a:xfrm>
          <a:prstGeom prst="rect">
            <a:avLst/>
          </a:prstGeom>
        </p:spPr>
      </p:pic>
      <p:sp>
        <p:nvSpPr>
          <p:cNvPr id="6" name="Title Placeholder 5">
            <a:extLst>
              <a:ext uri="{FF2B5EF4-FFF2-40B4-BE49-F238E27FC236}">
                <a16:creationId xmlns:a16="http://schemas.microsoft.com/office/drawing/2014/main" id="{36AE1D4B-E2EF-47C4-A1A7-5689711E6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446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FA5E565-A9FD-45A9-9262-E4CE87B5C4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329881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406096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67122B0-D188-4F1B-9170-48FB515F7D1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ight Triangle 8">
            <a:extLst>
              <a:ext uri="{FF2B5EF4-FFF2-40B4-BE49-F238E27FC236}">
                <a16:creationId xmlns:a16="http://schemas.microsoft.com/office/drawing/2014/main" id="{0FE1B4E5-ADBE-44E9-94B8-12353259E240}"/>
              </a:ext>
            </a:extLst>
          </p:cNvPr>
          <p:cNvSpPr/>
          <p:nvPr userDrawn="1"/>
        </p:nvSpPr>
        <p:spPr>
          <a:xfrm rot="16200000">
            <a:off x="10209964" y="4875960"/>
            <a:ext cx="1884065" cy="2080010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310508-6870-44FB-B67F-C3F1350DB66D}"/>
              </a:ext>
            </a:extLst>
          </p:cNvPr>
          <p:cNvSpPr/>
          <p:nvPr userDrawn="1"/>
        </p:nvSpPr>
        <p:spPr>
          <a:xfrm>
            <a:off x="0" y="6211614"/>
            <a:ext cx="12192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Program </a:t>
            </a:r>
            <a:r>
              <a:rPr lang="en-US" sz="2000" dirty="0" err="1">
                <a:solidFill>
                  <a:schemeClr val="tx1"/>
                </a:solidFill>
              </a:rPr>
              <a:t>Studi</a:t>
            </a:r>
            <a:r>
              <a:rPr lang="en-US" sz="2000" dirty="0">
                <a:solidFill>
                  <a:schemeClr val="tx1"/>
                </a:solidFill>
              </a:rPr>
              <a:t> Teknik </a:t>
            </a:r>
            <a:r>
              <a:rPr lang="en-US" sz="2000" dirty="0" err="1">
                <a:solidFill>
                  <a:schemeClr val="tx1"/>
                </a:solidFill>
              </a:rPr>
              <a:t>Informatika</a:t>
            </a:r>
            <a:r>
              <a:rPr lang="en-US" sz="2000" dirty="0">
                <a:solidFill>
                  <a:schemeClr val="tx1"/>
                </a:solidFill>
              </a:rPr>
              <a:t>, Universitas </a:t>
            </a:r>
            <a:r>
              <a:rPr lang="en-US" sz="2000" dirty="0" err="1">
                <a:solidFill>
                  <a:schemeClr val="tx1"/>
                </a:solidFill>
              </a:rPr>
              <a:t>Pamulang</a:t>
            </a:r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4354D356-3AB9-4317-AD64-9733710C017F}"/>
              </a:ext>
            </a:extLst>
          </p:cNvPr>
          <p:cNvSpPr/>
          <p:nvPr userDrawn="1"/>
        </p:nvSpPr>
        <p:spPr>
          <a:xfrm>
            <a:off x="0" y="5074416"/>
            <a:ext cx="1597688" cy="1783584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9172" y="5725289"/>
            <a:ext cx="1042588" cy="10120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1A5ABCE-DB0D-44E8-AF1B-A1F9AA2448C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0581" y="5864994"/>
            <a:ext cx="1403488" cy="993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6085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1ED9D48E-EC15-454D-AFD8-DFA10B4F141B}"/>
              </a:ext>
            </a:extLst>
          </p:cNvPr>
          <p:cNvSpPr txBox="1">
            <a:spLocks/>
          </p:cNvSpPr>
          <p:nvPr/>
        </p:nvSpPr>
        <p:spPr>
          <a:xfrm>
            <a:off x="1709530" y="1350435"/>
            <a:ext cx="8713993" cy="26161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METODE NUMERIK</a:t>
            </a:r>
            <a:endParaRPr lang="en-GB" sz="4800" b="1" dirty="0">
              <a:ln w="10160">
                <a:solidFill>
                  <a:schemeClr val="tx1"/>
                </a:solidFill>
                <a:prstDash val="solid"/>
              </a:ln>
              <a:solidFill>
                <a:srgbClr val="00B0F0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15FC42A2-1F0A-4C30-A0B1-C8DA61F0F7CD}"/>
              </a:ext>
            </a:extLst>
          </p:cNvPr>
          <p:cNvSpPr txBox="1">
            <a:spLocks/>
          </p:cNvSpPr>
          <p:nvPr/>
        </p:nvSpPr>
        <p:spPr>
          <a:xfrm>
            <a:off x="4192894" y="3238501"/>
            <a:ext cx="3321090" cy="728133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accent4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PERTEMUAN 14</a:t>
            </a:r>
            <a:endParaRPr lang="en-GB" sz="3600" b="1" dirty="0">
              <a:ln w="10160">
                <a:solidFill>
                  <a:schemeClr val="tx1"/>
                </a:solidFill>
                <a:prstDash val="solid"/>
              </a:ln>
              <a:solidFill>
                <a:schemeClr val="accent4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7525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1086643" y="1938435"/>
            <a:ext cx="10018713" cy="2184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 algn="ctr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1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accent4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  <a:lvl2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en-US" sz="4400" dirty="0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AKAR-AKAR PERSAMAAN KARAKTERISTIK </a:t>
            </a:r>
          </a:p>
          <a:p>
            <a:r>
              <a:rPr lang="en-US" sz="4000" dirty="0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DENGAN METODE SECANT</a:t>
            </a:r>
          </a:p>
        </p:txBody>
      </p:sp>
    </p:spTree>
    <p:extLst>
      <p:ext uri="{BB962C8B-B14F-4D97-AF65-F5344CB8AC3E}">
        <p14:creationId xmlns:p14="http://schemas.microsoft.com/office/powerpoint/2010/main" val="16785728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911CC-BFB2-4ECE-92D3-5E6530B52EC3}"/>
              </a:ext>
            </a:extLst>
          </p:cNvPr>
          <p:cNvSpPr txBox="1">
            <a:spLocks/>
          </p:cNvSpPr>
          <p:nvPr/>
        </p:nvSpPr>
        <p:spPr>
          <a:xfrm>
            <a:off x="4965430" y="629268"/>
            <a:ext cx="6586491" cy="12861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indent="0" algn="ctr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1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accent4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  <a:lvl2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pPr algn="l">
              <a:spcBef>
                <a:spcPct val="0"/>
              </a:spcBef>
              <a:spcAft>
                <a:spcPts val="600"/>
              </a:spcAft>
            </a:pPr>
            <a:r>
              <a:rPr lang="en-US" sz="44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TUJUAN PEMBELAJARAN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86636F-1EA6-4076-8B2A-236A0A53817B}"/>
              </a:ext>
            </a:extLst>
          </p:cNvPr>
          <p:cNvSpPr txBox="1"/>
          <p:nvPr/>
        </p:nvSpPr>
        <p:spPr>
          <a:xfrm>
            <a:off x="4965432" y="2685440"/>
            <a:ext cx="6586489" cy="99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0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Mampu </a:t>
            </a:r>
            <a:r>
              <a:rPr lang="en-US" sz="2000" b="0" i="0" u="none" strike="noStrike" baseline="0" dirty="0" err="1">
                <a:latin typeface="Arial" panose="020B0604020202020204" pitchFamily="34" charset="0"/>
                <a:cs typeface="Arial" panose="020B0604020202020204" pitchFamily="34" charset="0"/>
              </a:rPr>
              <a:t>menentukan</a:t>
            </a:r>
            <a:r>
              <a:rPr lang="en-US" sz="20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0" i="0" u="none" strike="noStrike" baseline="0" dirty="0" err="1">
                <a:latin typeface="Arial" panose="020B0604020202020204" pitchFamily="34" charset="0"/>
                <a:cs typeface="Arial" panose="020B0604020202020204" pitchFamily="34" charset="0"/>
              </a:rPr>
              <a:t>akar-akar</a:t>
            </a:r>
            <a:r>
              <a:rPr lang="en-US" sz="20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0" i="0" u="none" strike="noStrike" baseline="0" dirty="0" err="1">
                <a:latin typeface="Arial" panose="020B0604020202020204" pitchFamily="34" charset="0"/>
                <a:cs typeface="Arial" panose="020B0604020202020204" pitchFamily="34" charset="0"/>
              </a:rPr>
              <a:t>persamaan</a:t>
            </a:r>
            <a:r>
              <a:rPr lang="en-US" sz="20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0" i="0" u="none" strike="noStrike" baseline="0" dirty="0" err="1">
                <a:latin typeface="Arial" panose="020B0604020202020204" pitchFamily="34" charset="0"/>
                <a:cs typeface="Arial" panose="020B0604020202020204" pitchFamily="34" charset="0"/>
              </a:rPr>
              <a:t>karakteristik</a:t>
            </a:r>
            <a:r>
              <a:rPr lang="en-US" sz="20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0" i="0" u="none" strike="noStrike" baseline="0" dirty="0" err="1">
                <a:latin typeface="Arial" panose="020B0604020202020204" pitchFamily="34" charset="0"/>
                <a:cs typeface="Arial" panose="020B0604020202020204" pitchFamily="34" charset="0"/>
              </a:rPr>
              <a:t>dengan</a:t>
            </a:r>
            <a:r>
              <a:rPr lang="en-US" sz="20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0" i="0" u="none" strike="noStrike" baseline="0" dirty="0" err="1">
                <a:latin typeface="Arial" panose="020B0604020202020204" pitchFamily="34" charset="0"/>
                <a:cs typeface="Arial" panose="020B0604020202020204" pitchFamily="34" charset="0"/>
              </a:rPr>
              <a:t>metode</a:t>
            </a:r>
            <a:r>
              <a:rPr lang="en-US" sz="20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 Newton Secant.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Picture 12" descr="Bohlam putih dan satu bohlam warna kuning yang menonjol">
            <a:extLst>
              <a:ext uri="{FF2B5EF4-FFF2-40B4-BE49-F238E27FC236}">
                <a16:creationId xmlns:a16="http://schemas.microsoft.com/office/drawing/2014/main" id="{AEA41C7D-DF0B-4838-91EF-2842904722B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9505" r="35375" b="-1"/>
          <a:stretch/>
        </p:blipFill>
        <p:spPr>
          <a:xfrm>
            <a:off x="20" y="10"/>
            <a:ext cx="4635571" cy="6361461"/>
          </a:xfrm>
          <a:prstGeom prst="rect">
            <a:avLst/>
          </a:prstGeom>
          <a:effectLst/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7F400EE-A8A5-48AF-B4D6-291B52C6F0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080934" y="2115117"/>
            <a:ext cx="6309360" cy="0"/>
          </a:xfrm>
          <a:prstGeom prst="line">
            <a:avLst/>
          </a:prstGeom>
          <a:ln w="19050">
            <a:solidFill>
              <a:srgbClr val="BAB92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09090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565D17CA-7650-4E3C-B43C-2FEE0B10FC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22604" y="2195608"/>
            <a:ext cx="13610827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96DEA3C-1F7E-4108-AF1C-A25806F1BB8E}"/>
              </a:ext>
            </a:extLst>
          </p:cNvPr>
          <p:cNvSpPr txBox="1">
            <a:spLocks/>
          </p:cNvSpPr>
          <p:nvPr/>
        </p:nvSpPr>
        <p:spPr>
          <a:xfrm>
            <a:off x="1086643" y="423067"/>
            <a:ext cx="10018713" cy="889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indent="0" algn="ctr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1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accent4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  <a:lvl2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en-US" sz="5400" dirty="0">
                <a:latin typeface="Arial" panose="020B0604020202020204" pitchFamily="34" charset="0"/>
                <a:cs typeface="Arial" panose="020B0604020202020204" pitchFamily="34" charset="0"/>
              </a:rPr>
              <a:t>METODE SECANT</a:t>
            </a:r>
            <a:endParaRPr lang="en-GB" sz="5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4E1772A-D4F6-4F09-BDC9-36938B841839}"/>
              </a:ext>
            </a:extLst>
          </p:cNvPr>
          <p:cNvSpPr/>
          <p:nvPr/>
        </p:nvSpPr>
        <p:spPr>
          <a:xfrm>
            <a:off x="10314039" y="3588774"/>
            <a:ext cx="639096" cy="3539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C1044C36-9D17-4951-81B8-80BB0A240A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606" y="1870279"/>
            <a:ext cx="10191750" cy="189547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AA8D56B-9C37-4116-BFCA-8356A4D2EF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9281" y="4134945"/>
            <a:ext cx="3200400" cy="102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0161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2DC332BF-44B2-4785-8A26-173AA682B7C1}"/>
              </a:ext>
            </a:extLst>
          </p:cNvPr>
          <p:cNvSpPr txBox="1">
            <a:spLocks/>
          </p:cNvSpPr>
          <p:nvPr/>
        </p:nvSpPr>
        <p:spPr>
          <a:xfrm>
            <a:off x="816055" y="619009"/>
            <a:ext cx="10018713" cy="889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indent="0" algn="ctr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1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accent4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  <a:lvl2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en-US" sz="5400" dirty="0">
                <a:latin typeface="Arial" panose="020B0604020202020204" pitchFamily="34" charset="0"/>
                <a:cs typeface="Arial" panose="020B0604020202020204" pitchFamily="34" charset="0"/>
              </a:rPr>
              <a:t>METODE SECANT</a:t>
            </a:r>
            <a:endParaRPr lang="en-GB" sz="5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03F94F0-E130-4B7A-9200-7E113EFE24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737" y="2400300"/>
            <a:ext cx="10296525" cy="205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5006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lowchart: Document 12">
            <a:extLst>
              <a:ext uri="{FF2B5EF4-FFF2-40B4-BE49-F238E27FC236}">
                <a16:creationId xmlns:a16="http://schemas.microsoft.com/office/drawing/2014/main" id="{D12DDE76-C203-4047-9998-63900085B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175" y="0"/>
            <a:ext cx="3248025" cy="3400426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B7A4653-F038-4CA3-992A-B6544C2AFB9C}"/>
              </a:ext>
            </a:extLst>
          </p:cNvPr>
          <p:cNvSpPr txBox="1">
            <a:spLocks/>
          </p:cNvSpPr>
          <p:nvPr/>
        </p:nvSpPr>
        <p:spPr>
          <a:xfrm>
            <a:off x="838200" y="171162"/>
            <a:ext cx="2840182" cy="23711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indent="0" algn="ctr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1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accent4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  <a:lvl2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pPr algn="l">
              <a:spcBef>
                <a:spcPct val="0"/>
              </a:spcBef>
              <a:spcAft>
                <a:spcPts val="600"/>
              </a:spcAft>
            </a:pPr>
            <a:r>
              <a:rPr lang="en-US" sz="3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PENCARIAN AKAR DENGAN METODE SECANT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DB580C5-A7AA-4D09-8975-EC8591402D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683" y="452899"/>
            <a:ext cx="7622142" cy="4846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45205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ctangle 59">
            <a:extLst>
              <a:ext uri="{FF2B5EF4-FFF2-40B4-BE49-F238E27FC236}">
                <a16:creationId xmlns:a16="http://schemas.microsoft.com/office/drawing/2014/main" id="{823AC064-BC96-4F32-8AE1-B2FD387548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96882" y="280374"/>
            <a:ext cx="11438793" cy="1844256"/>
          </a:xfrm>
          <a:prstGeom prst="rect">
            <a:avLst/>
          </a:prstGeom>
          <a:solidFill>
            <a:srgbClr val="404040"/>
          </a:solidFill>
          <a:ln w="127000" cap="sq" cmpd="thinThick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96F08E1-BF58-4320-A391-DC271A91C2E0}"/>
              </a:ext>
            </a:extLst>
          </p:cNvPr>
          <p:cNvSpPr txBox="1">
            <a:spLocks/>
          </p:cNvSpPr>
          <p:nvPr/>
        </p:nvSpPr>
        <p:spPr>
          <a:xfrm>
            <a:off x="546351" y="433545"/>
            <a:ext cx="11139854" cy="93044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indent="0" algn="ctr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1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accent4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  <a:lvl2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54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ALGORITMA SECANT</a:t>
            </a:r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7E7C77BC-7138-40B1-A15B-20F57A4946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230078" y="1522292"/>
            <a:ext cx="7772400" cy="0"/>
          </a:xfrm>
          <a:prstGeom prst="line">
            <a:avLst/>
          </a:prstGeom>
          <a:ln w="2222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9" name="Picture 38">
            <a:extLst>
              <a:ext uri="{FF2B5EF4-FFF2-40B4-BE49-F238E27FC236}">
                <a16:creationId xmlns:a16="http://schemas.microsoft.com/office/drawing/2014/main" id="{C26494AF-9647-4482-B616-1C951996BBC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6638" b="38239"/>
          <a:stretch/>
        </p:blipFill>
        <p:spPr>
          <a:xfrm>
            <a:off x="331567" y="3421853"/>
            <a:ext cx="5455917" cy="2007567"/>
          </a:xfrm>
          <a:prstGeom prst="rect">
            <a:avLst/>
          </a:prstGeom>
        </p:spPr>
      </p:pic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DB146403-F3D6-484B-B2ED-97F9565D03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116278" y="2596836"/>
            <a:ext cx="0" cy="3657600"/>
          </a:xfrm>
          <a:prstGeom prst="line">
            <a:avLst/>
          </a:prstGeom>
          <a:ln w="101600" cmpd="dbl">
            <a:solidFill>
              <a:srgbClr val="5959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5" name="Picture 44">
            <a:extLst>
              <a:ext uri="{FF2B5EF4-FFF2-40B4-BE49-F238E27FC236}">
                <a16:creationId xmlns:a16="http://schemas.microsoft.com/office/drawing/2014/main" id="{0942A99B-7954-448C-A629-D8D44DD9082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4143"/>
          <a:stretch/>
        </p:blipFill>
        <p:spPr>
          <a:xfrm>
            <a:off x="6445073" y="4056379"/>
            <a:ext cx="5455917" cy="738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4072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: Top Corners Rounded 17">
            <a:extLst>
              <a:ext uri="{FF2B5EF4-FFF2-40B4-BE49-F238E27FC236}">
                <a16:creationId xmlns:a16="http://schemas.microsoft.com/office/drawing/2014/main" id="{76E6212F-EB21-4328-8386-832840CB43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529466" y="996722"/>
            <a:ext cx="5923488" cy="4864556"/>
          </a:xfrm>
          <a:prstGeom prst="round2SameRect">
            <a:avLst>
              <a:gd name="adj1" fmla="val 3762"/>
              <a:gd name="adj2" fmla="val 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582346A-2FD9-400B-B54B-410F07E17AEE}"/>
              </a:ext>
            </a:extLst>
          </p:cNvPr>
          <p:cNvSpPr txBox="1">
            <a:spLocks/>
          </p:cNvSpPr>
          <p:nvPr/>
        </p:nvSpPr>
        <p:spPr>
          <a:xfrm>
            <a:off x="332315" y="1122363"/>
            <a:ext cx="3971220" cy="32493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indent="0" algn="ctr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1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accent4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  <a:lvl2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pPr algn="l">
              <a:spcBef>
                <a:spcPct val="0"/>
              </a:spcBef>
              <a:spcAft>
                <a:spcPts val="600"/>
              </a:spcAft>
            </a:pPr>
            <a:r>
              <a:rPr lang="en-US" sz="54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FLOWCHART METODE </a:t>
            </a:r>
            <a:r>
              <a:rPr lang="en-US" sz="54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SECANT</a:t>
            </a:r>
            <a:endParaRPr lang="en-US" sz="54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0" name="Rectangle: Top Corners Rounded 19">
            <a:extLst>
              <a:ext uri="{FF2B5EF4-FFF2-40B4-BE49-F238E27FC236}">
                <a16:creationId xmlns:a16="http://schemas.microsoft.com/office/drawing/2014/main" id="{9E74304E-CF2D-41E1-92CF-7FC508311B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57200" y="1050468"/>
            <a:ext cx="5609397" cy="4757058"/>
          </a:xfrm>
          <a:prstGeom prst="round2SameRect">
            <a:avLst>
              <a:gd name="adj1" fmla="val 2061"/>
              <a:gd name="adj2" fmla="val 0"/>
            </a:avLst>
          </a:prstGeom>
          <a:noFill/>
          <a:ln w="508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717401F-8127-4697-8085-3D6C69B5D2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4071" y="4559531"/>
            <a:ext cx="1597456" cy="0"/>
          </a:xfrm>
          <a:prstGeom prst="line">
            <a:avLst/>
          </a:prstGeom>
          <a:ln w="508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46FFF0DC-6A37-48A1-8EBB-A4D1CC67A0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8397" y="467256"/>
            <a:ext cx="3632856" cy="5766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0215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6213F54-A4CB-405E-A095-713688CC81C7}"/>
              </a:ext>
            </a:extLst>
          </p:cNvPr>
          <p:cNvSpPr txBox="1">
            <a:spLocks/>
          </p:cNvSpPr>
          <p:nvPr/>
        </p:nvSpPr>
        <p:spPr>
          <a:xfrm>
            <a:off x="1086643" y="407848"/>
            <a:ext cx="10018713" cy="889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indent="0" algn="ctr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1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accent4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  <a:lvl2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en-US" sz="5400" dirty="0">
                <a:latin typeface="Arial" panose="020B0604020202020204" pitchFamily="34" charset="0"/>
                <a:cs typeface="Arial" panose="020B0604020202020204" pitchFamily="34" charset="0"/>
              </a:rPr>
              <a:t>CONTOH SOAL</a:t>
            </a:r>
            <a:endParaRPr lang="en-GB" sz="5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C43FBD7-31AF-43DE-8958-DA8E7201E8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2820" y="2154032"/>
            <a:ext cx="6543675" cy="1724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92920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823AC064-BC96-4F32-8AE1-B2FD387548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96882" y="280374"/>
            <a:ext cx="11438793" cy="1844256"/>
          </a:xfrm>
          <a:prstGeom prst="rect">
            <a:avLst/>
          </a:prstGeom>
          <a:solidFill>
            <a:srgbClr val="404040"/>
          </a:solidFill>
          <a:ln w="127000" cap="sq" cmpd="thinThick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61E8F8ED-66E0-4B58-947C-5CF9DDFDC4DB}"/>
              </a:ext>
            </a:extLst>
          </p:cNvPr>
          <p:cNvSpPr txBox="1">
            <a:spLocks/>
          </p:cNvSpPr>
          <p:nvPr/>
        </p:nvSpPr>
        <p:spPr>
          <a:xfrm>
            <a:off x="546351" y="433545"/>
            <a:ext cx="11139854" cy="93044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indent="0" algn="ctr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1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accent4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  <a:lvl2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54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PENYELESAIAN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E7C77BC-7138-40B1-A15B-20F57A4946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230078" y="1522292"/>
            <a:ext cx="7772400" cy="0"/>
          </a:xfrm>
          <a:prstGeom prst="line">
            <a:avLst/>
          </a:prstGeom>
          <a:ln w="2222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B146403-F3D6-484B-B2ED-97F9565D03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116278" y="2596836"/>
            <a:ext cx="0" cy="3657600"/>
          </a:xfrm>
          <a:prstGeom prst="line">
            <a:avLst/>
          </a:prstGeom>
          <a:ln w="101600" cmpd="dbl">
            <a:solidFill>
              <a:srgbClr val="5959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B03A7C34-6A1D-47B9-9991-47FC09E757F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1133" b="60965"/>
          <a:stretch/>
        </p:blipFill>
        <p:spPr>
          <a:xfrm>
            <a:off x="741011" y="2791593"/>
            <a:ext cx="4627402" cy="230151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518C634-5E0C-45BC-9E26-C4C31CC4A75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1537"/>
          <a:stretch/>
        </p:blipFill>
        <p:spPr>
          <a:xfrm>
            <a:off x="6204769" y="2370694"/>
            <a:ext cx="5867400" cy="3446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58910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17">
            <a:extLst>
              <a:ext uri="{FF2B5EF4-FFF2-40B4-BE49-F238E27FC236}">
                <a16:creationId xmlns:a16="http://schemas.microsoft.com/office/drawing/2014/main" id="{664E23E2-7440-4E36-A67B-0F88C5F7E1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50000"/>
              <a:lumOff val="5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19">
            <a:extLst>
              <a:ext uri="{FF2B5EF4-FFF2-40B4-BE49-F238E27FC236}">
                <a16:creationId xmlns:a16="http://schemas.microsoft.com/office/drawing/2014/main" id="{B06949AE-010D-4C18-8AED-7872085AD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7090"/>
            <a:ext cx="5458121" cy="5897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9BC6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2ACFF28-8637-465B-AEA2-B434CB0DAAA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150" r="10783" b="59965"/>
          <a:stretch/>
        </p:blipFill>
        <p:spPr>
          <a:xfrm>
            <a:off x="641180" y="2350196"/>
            <a:ext cx="5129784" cy="2171668"/>
          </a:xfrm>
          <a:prstGeom prst="rect">
            <a:avLst/>
          </a:prstGeom>
        </p:spPr>
      </p:pic>
      <p:sp>
        <p:nvSpPr>
          <p:cNvPr id="28" name="Rectangle 21">
            <a:extLst>
              <a:ext uri="{FF2B5EF4-FFF2-40B4-BE49-F238E27FC236}">
                <a16:creationId xmlns:a16="http://schemas.microsoft.com/office/drawing/2014/main" id="{FE54AADB-50C7-4293-94C0-27361A32B8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56866" y="480060"/>
            <a:ext cx="5458121" cy="5897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9BC6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427CCEF-3597-480D-8E9E-83F8BD76BB8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1110" b="-1"/>
          <a:stretch/>
        </p:blipFill>
        <p:spPr>
          <a:xfrm>
            <a:off x="6421034" y="2001586"/>
            <a:ext cx="5129784" cy="2854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2009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A9F529C3-C941-49FD-8C67-82F134F64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50000"/>
              <a:lumOff val="5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0586029-32A0-47E5-9AEC-AE3ABA6B9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93376E5-A066-4C41-849C-6CA8D472D5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2661265"/>
            <a:ext cx="5294716" cy="1535467"/>
          </a:xfrm>
          <a:prstGeom prst="rect">
            <a:avLst/>
          </a:prstGeom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C730EAB-A532-4295-A302-FB4B90DB9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79958" y="1143000"/>
            <a:ext cx="0" cy="4572000"/>
          </a:xfrm>
          <a:prstGeom prst="line">
            <a:avLst/>
          </a:prstGeom>
          <a:ln>
            <a:solidFill>
              <a:srgbClr val="4E4E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7133BE7B-08EA-441F-A16E-2269A56422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3817" y="2383294"/>
            <a:ext cx="5294715" cy="2091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84869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CFD26EC-8AE4-4110-B8BA-30154D1F40D9}"/>
              </a:ext>
            </a:extLst>
          </p:cNvPr>
          <p:cNvSpPr txBox="1">
            <a:spLocks/>
          </p:cNvSpPr>
          <p:nvPr/>
        </p:nvSpPr>
        <p:spPr>
          <a:xfrm>
            <a:off x="1086642" y="221236"/>
            <a:ext cx="10018713" cy="889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indent="0" algn="ctr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1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accent4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  <a:lvl2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en-US" sz="5400" dirty="0">
                <a:latin typeface="Arial" panose="020B0604020202020204" pitchFamily="34" charset="0"/>
                <a:cs typeface="Arial" panose="020B0604020202020204" pitchFamily="34" charset="0"/>
              </a:rPr>
              <a:t>SOAL LATIHAN</a:t>
            </a:r>
            <a:endParaRPr lang="en-GB" sz="5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A3D60F-513B-4F40-B537-DA96182829C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1934"/>
          <a:stretch/>
        </p:blipFill>
        <p:spPr>
          <a:xfrm>
            <a:off x="1086642" y="1513936"/>
            <a:ext cx="10223397" cy="54599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29552CF-D596-4E41-8F2C-FE7CF00206C4}"/>
              </a:ext>
            </a:extLst>
          </p:cNvPr>
          <p:cNvSpPr txBox="1"/>
          <p:nvPr/>
        </p:nvSpPr>
        <p:spPr>
          <a:xfrm>
            <a:off x="1086642" y="2059935"/>
            <a:ext cx="6586489" cy="99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2000" b="1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etode</a:t>
            </a:r>
            <a:r>
              <a:rPr lang="en-US" sz="20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Secant.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29229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91025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66663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8398991"/>
      </p:ext>
    </p:extLst>
  </p:cSld>
  <p:clrMapOvr>
    <a:masterClrMapping/>
  </p:clrMapOvr>
</p:sld>
</file>

<file path=ppt/theme/theme1.xml><?xml version="1.0" encoding="utf-8"?>
<a:theme xmlns:a="http://schemas.openxmlformats.org/drawingml/2006/main" name="6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7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5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818</TotalTime>
  <Words>45</Words>
  <Application>Microsoft Office PowerPoint</Application>
  <PresentationFormat>Widescreen</PresentationFormat>
  <Paragraphs>16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7</vt:i4>
      </vt:variant>
      <vt:variant>
        <vt:lpstr>Slide Titles</vt:lpstr>
      </vt:variant>
      <vt:variant>
        <vt:i4>16</vt:i4>
      </vt:variant>
    </vt:vector>
  </HeadingPairs>
  <TitlesOfParts>
    <vt:vector size="27" baseType="lpstr">
      <vt:lpstr>Arial</vt:lpstr>
      <vt:lpstr>Calibri</vt:lpstr>
      <vt:lpstr>Calibri Light</vt:lpstr>
      <vt:lpstr>Times New Roman</vt:lpstr>
      <vt:lpstr>6_Office Theme</vt:lpstr>
      <vt:lpstr>7_Office Theme</vt:lpstr>
      <vt:lpstr>4_Office Theme</vt:lpstr>
      <vt:lpstr>3_Office Theme</vt:lpstr>
      <vt:lpstr>2_Office Theme</vt:lpstr>
      <vt:lpstr>5_Office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lisda masitoh</dc:creator>
  <cp:lastModifiedBy>wiwit kurniawan</cp:lastModifiedBy>
  <cp:revision>31</cp:revision>
  <dcterms:created xsi:type="dcterms:W3CDTF">2021-08-16T10:58:02Z</dcterms:created>
  <dcterms:modified xsi:type="dcterms:W3CDTF">2021-09-09T06:45:26Z</dcterms:modified>
</cp:coreProperties>
</file>