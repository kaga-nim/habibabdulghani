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2"/>
  </p:sldMasterIdLst>
  <p:notesMasterIdLst>
    <p:notesMasterId r:id="rId26"/>
  </p:notesMasterIdLst>
  <p:handoutMasterIdLst>
    <p:handoutMasterId r:id="rId27"/>
  </p:handoutMasterIdLst>
  <p:sldIdLst>
    <p:sldId id="257" r:id="rId3"/>
    <p:sldId id="318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0" r:id="rId15"/>
    <p:sldId id="319" r:id="rId16"/>
    <p:sldId id="331" r:id="rId17"/>
    <p:sldId id="332" r:id="rId18"/>
    <p:sldId id="333" r:id="rId19"/>
    <p:sldId id="334" r:id="rId20"/>
    <p:sldId id="335" r:id="rId21"/>
    <p:sldId id="336" r:id="rId22"/>
    <p:sldId id="337" r:id="rId23"/>
    <p:sldId id="338" r:id="rId24"/>
    <p:sldId id="313" r:id="rId25"/>
  </p:sldIdLst>
  <p:sldSz cx="12192000" cy="6858000"/>
  <p:notesSz cx="6858000" cy="9144000"/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53" autoAdjust="0"/>
    <p:restoredTop sz="82124" autoAdjust="0"/>
  </p:normalViewPr>
  <p:slideViewPr>
    <p:cSldViewPr snapToGrid="0">
      <p:cViewPr varScale="1">
        <p:scale>
          <a:sx n="61" d="100"/>
          <a:sy n="61" d="100"/>
        </p:scale>
        <p:origin x="1044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280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bib Abdul Ghani" userId="5eb70394735b742f" providerId="LiveId" clId="{CAC192A1-B987-4DC5-8AC7-7378C05846E1}"/>
    <pc:docChg chg="mod">
      <pc:chgData name="Habib Abdul Ghani" userId="5eb70394735b742f" providerId="LiveId" clId="{CAC192A1-B987-4DC5-8AC7-7378C05846E1}" dt="2025-05-22T12:05:49.244" v="0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8C66D5-35F2-4B2B-B66A-28018F61912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073D5-63C2-4933-B970-D96552757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4818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B7E8A-1102-47A1-B1C3-36AE88809383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A11EAB-687D-4AE4-B775-678A923E9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03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33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59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 userDrawn="1"/>
        </p:nvGrpSpPr>
        <p:grpSpPr>
          <a:xfrm>
            <a:off x="1524000" y="6152219"/>
            <a:ext cx="9144001" cy="196717"/>
            <a:chOff x="996683" y="7236484"/>
            <a:chExt cx="9144001" cy="196717"/>
          </a:xfrm>
        </p:grpSpPr>
        <p:sp>
          <p:nvSpPr>
            <p:cNvPr id="19" name="Rectangle 18" descr="Gold bar"/>
            <p:cNvSpPr>
              <a:spLocks noChangeArrowheads="1"/>
            </p:cNvSpPr>
            <p:nvPr/>
          </p:nvSpPr>
          <p:spPr bwMode="auto">
            <a:xfrm rot="16200000" flipH="1">
              <a:off x="2422556" y="5810611"/>
              <a:ext cx="196717" cy="3048463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>
              <a:reflection blurRad="6350" stA="50000" endA="300" endPos="38500" dist="50800" dir="5400000" sy="-100000" algn="bl" rotWithShape="0"/>
            </a:effec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" name="Rectangle 19" descr="Orange bar"/>
            <p:cNvSpPr>
              <a:spLocks noChangeArrowheads="1"/>
            </p:cNvSpPr>
            <p:nvPr/>
          </p:nvSpPr>
          <p:spPr bwMode="auto">
            <a:xfrm rot="16200000" flipH="1">
              <a:off x="5471019" y="5810611"/>
              <a:ext cx="196717" cy="3048463"/>
            </a:xfrm>
            <a:prstGeom prst="rect">
              <a:avLst/>
            </a:prstGeom>
            <a:solidFill>
              <a:schemeClr val="accent4"/>
            </a:solidFill>
            <a:ln w="9525">
              <a:noFill/>
              <a:miter lim="800000"/>
              <a:headEnd/>
              <a:tailEnd/>
            </a:ln>
            <a:effectLst>
              <a:reflection blurRad="6350" stA="50000" endA="300" endPos="38500" dist="50800" dir="5400000" sy="-100000" algn="bl" rotWithShape="0"/>
            </a:effec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20" descr="Slate bar"/>
            <p:cNvSpPr>
              <a:spLocks noChangeArrowheads="1"/>
            </p:cNvSpPr>
            <p:nvPr/>
          </p:nvSpPr>
          <p:spPr bwMode="auto">
            <a:xfrm rot="16200000" flipH="1">
              <a:off x="8518094" y="5810611"/>
              <a:ext cx="196717" cy="3048463"/>
            </a:xfrm>
            <a:prstGeom prst="rect">
              <a:avLst/>
            </a:prstGeom>
            <a:solidFill>
              <a:schemeClr val="accent6"/>
            </a:solidFill>
            <a:ln w="9525">
              <a:noFill/>
              <a:miter lim="800000"/>
              <a:headEnd/>
              <a:tailEnd/>
            </a:ln>
            <a:effectLst>
              <a:reflection blurRad="6350" stA="50000" endA="300" endPos="38500" dist="50800" dir="5400000" sy="-100000" algn="bl" rotWithShape="0"/>
            </a:effec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84800" y="2811515"/>
            <a:ext cx="5283200" cy="69368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12610"/>
            <a:ext cx="9144000" cy="1789767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0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7141" y="914400"/>
            <a:ext cx="10515600" cy="57911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634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4844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7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62262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45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09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3" y="2193925"/>
            <a:ext cx="5157787" cy="3978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3" y="1489075"/>
            <a:ext cx="5157787" cy="6413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0" y="2193925"/>
            <a:ext cx="5156200" cy="3978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489075"/>
            <a:ext cx="5156200" cy="6413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638"/>
            <a:ext cx="10515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2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41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92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01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9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2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6"/>
            <a:ext cx="12188952" cy="6858006"/>
            <a:chOff x="-2728" y="-5"/>
            <a:chExt cx="12188952" cy="6858006"/>
          </a:xfrm>
        </p:grpSpPr>
        <p:sp>
          <p:nvSpPr>
            <p:cNvPr id="26" name="Rectangle 25"/>
            <p:cNvSpPr/>
            <p:nvPr/>
          </p:nvSpPr>
          <p:spPr>
            <a:xfrm>
              <a:off x="-2728" y="1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-2727" y="-5"/>
              <a:ext cx="716424" cy="6858000"/>
              <a:chOff x="-2727" y="-5"/>
              <a:chExt cx="716424" cy="6858000"/>
            </a:xfrm>
          </p:grpSpPr>
          <p:grpSp>
            <p:nvGrpSpPr>
              <p:cNvPr id="40" name="Group 39"/>
              <p:cNvGrpSpPr/>
              <p:nvPr/>
            </p:nvGrpSpPr>
            <p:grpSpPr>
              <a:xfrm>
                <a:off x="-2727" y="-5"/>
                <a:ext cx="571473" cy="6858000"/>
                <a:chOff x="6048440" y="-936481"/>
                <a:chExt cx="196717" cy="9144001"/>
              </a:xfrm>
            </p:grpSpPr>
            <p:sp>
              <p:nvSpPr>
                <p:cNvPr id="46" name="Rectangle 45" descr="Gold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5159057"/>
                  <a:ext cx="196717" cy="3048463"/>
                </a:xfrm>
                <a:prstGeom prst="rect">
                  <a:avLst/>
                </a:prstGeom>
                <a:solidFill>
                  <a:schemeClr val="accent6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" name="Rectangle 46" descr="Orang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2110594"/>
                  <a:ext cx="196717" cy="3048463"/>
                </a:xfrm>
                <a:prstGeom prst="rect">
                  <a:avLst/>
                </a:prstGeom>
                <a:solidFill>
                  <a:schemeClr val="accent4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" name="Rectangle 47" descr="Slat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-936481"/>
                  <a:ext cx="196717" cy="3048463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" name="Group 40"/>
              <p:cNvGrpSpPr/>
              <p:nvPr/>
            </p:nvGrpSpPr>
            <p:grpSpPr>
              <a:xfrm>
                <a:off x="566005" y="-5"/>
                <a:ext cx="147692" cy="6858000"/>
                <a:chOff x="6048440" y="-936481"/>
                <a:chExt cx="196717" cy="9144001"/>
              </a:xfrm>
            </p:grpSpPr>
            <p:sp>
              <p:nvSpPr>
                <p:cNvPr id="43" name="Rectangle 42" descr="Gold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5159057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6">
                        <a:lumMod val="40000"/>
                        <a:lumOff val="60000"/>
                      </a:schemeClr>
                    </a:gs>
                    <a:gs pos="100000">
                      <a:prstClr val="white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lvl="0" algn="ctr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" name="Rectangle 43" descr="Orang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2110594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4">
                        <a:lumMod val="40000"/>
                        <a:lumOff val="60000"/>
                      </a:schemeClr>
                    </a:gs>
                    <a:gs pos="100000">
                      <a:prstClr val="white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" name="Rectangle 44" descr="Slat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-936481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2" name="Rectangle 41"/>
              <p:cNvSpPr/>
              <p:nvPr/>
            </p:nvSpPr>
            <p:spPr>
              <a:xfrm>
                <a:off x="646782" y="-5"/>
                <a:ext cx="45719" cy="685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01302" y="637086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idx="1"/>
          </p:nvPr>
        </p:nvSpPr>
        <p:spPr>
          <a:xfrm>
            <a:off x="838200" y="839243"/>
            <a:ext cx="10515600" cy="5880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8" name="Title Placeholder 1"/>
          <p:cNvSpPr>
            <a:spLocks noGrp="1"/>
          </p:cNvSpPr>
          <p:nvPr>
            <p:ph type="title"/>
          </p:nvPr>
        </p:nvSpPr>
        <p:spPr>
          <a:xfrm>
            <a:off x="836676" y="0"/>
            <a:ext cx="10515600" cy="588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1908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0" y="1818981"/>
            <a:ext cx="5718144" cy="519483"/>
          </a:xfrm>
        </p:spPr>
        <p:txBody>
          <a:bodyPr>
            <a:normAutofit/>
          </a:bodyPr>
          <a:lstStyle/>
          <a:p>
            <a:pPr algn="r"/>
            <a:r>
              <a:rPr lang="en-ID" sz="2800" b="1" dirty="0">
                <a:solidFill>
                  <a:srgbClr val="FF0000"/>
                </a:solidFill>
              </a:rPr>
              <a:t>UML – Use Case Diagram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9300" y="557509"/>
            <a:ext cx="11099800" cy="939800"/>
          </a:xfrm>
        </p:spPr>
        <p:txBody>
          <a:bodyPr>
            <a:noAutofit/>
          </a:bodyPr>
          <a:lstStyle/>
          <a:p>
            <a:r>
              <a:rPr lang="en-US" sz="4400" dirty="0"/>
              <a:t>ANALISA DAN PERANCANGAN SISTEM</a:t>
            </a:r>
            <a:endParaRPr lang="en-US" sz="4400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/>
          <a:lstStyle/>
          <a:p>
            <a:fld id="{10E4A4DB-036F-4816-A98C-42C4167E83C5}" type="slidenum">
              <a:rPr lang="en-US" sz="1600">
                <a:solidFill>
                  <a:schemeClr val="bg1">
                    <a:lumMod val="75000"/>
                  </a:schemeClr>
                </a:solidFill>
              </a:rPr>
              <a:pPr/>
              <a:t>1</a:t>
            </a:fld>
            <a:endParaRPr lang="en-US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8257847" y="2338464"/>
            <a:ext cx="3149600" cy="374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id-ID" sz="1600" b="1" i="1" dirty="0">
                <a:solidFill>
                  <a:schemeClr val="accent1">
                    <a:lumMod val="50000"/>
                  </a:schemeClr>
                </a:solidFill>
              </a:rPr>
              <a:t>Dola Irwanto S.Kom., </a:t>
            </a:r>
            <a:r>
              <a:rPr lang="en-US" sz="1600" b="1" i="1" dirty="0">
                <a:solidFill>
                  <a:schemeClr val="accent1">
                    <a:lumMod val="50000"/>
                  </a:schemeClr>
                </a:solidFill>
              </a:rPr>
              <a:t>M</a:t>
            </a:r>
            <a:r>
              <a:rPr lang="id-ID" sz="1600" b="1" i="1" dirty="0">
                <a:solidFill>
                  <a:schemeClr val="accent1">
                    <a:lumMod val="50000"/>
                  </a:schemeClr>
                </a:solidFill>
              </a:rPr>
              <a:t>.MSI</a:t>
            </a: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0" y="6463367"/>
            <a:ext cx="561975" cy="3747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i="1" dirty="0">
                <a:solidFill>
                  <a:schemeClr val="accent1">
                    <a:lumMod val="50000"/>
                  </a:schemeClr>
                </a:solidFill>
              </a:rPr>
              <a:t>V1.0</a:t>
            </a:r>
            <a:endParaRPr lang="id-ID" sz="1600" b="1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26" name="Picture 2" descr="UML Use Case Diagram: Actors and relationship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975" y="2859164"/>
            <a:ext cx="5393132" cy="303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198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2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dirty="0" err="1"/>
              <a:t>Pengertian</a:t>
            </a:r>
            <a:r>
              <a:rPr lang="en-US" dirty="0"/>
              <a:t> Use Case Diagram</a:t>
            </a:r>
          </a:p>
          <a:p>
            <a:pPr>
              <a:spcAft>
                <a:spcPts val="1200"/>
              </a:spcAft>
            </a:pPr>
            <a:r>
              <a:rPr lang="sv-SE" dirty="0"/>
              <a:t>Komponen Diagram Use Case</a:t>
            </a:r>
          </a:p>
          <a:p>
            <a:pPr>
              <a:spcAft>
                <a:spcPts val="1200"/>
              </a:spcAft>
            </a:pPr>
            <a:r>
              <a:rPr lang="sv-SE" dirty="0"/>
              <a:t>Memodelkan Kebutuhan Use Case</a:t>
            </a:r>
          </a:p>
          <a:p>
            <a:pPr>
              <a:spcAft>
                <a:spcPts val="1200"/>
              </a:spcAft>
            </a:pPr>
            <a:r>
              <a:rPr lang="sv-SE" dirty="0"/>
              <a:t>Use Case Skenario</a:t>
            </a:r>
          </a:p>
          <a:p>
            <a:pPr>
              <a:spcAft>
                <a:spcPts val="1200"/>
              </a:spcAft>
            </a:pPr>
            <a:r>
              <a:rPr lang="en-US" dirty="0" err="1"/>
              <a:t>Kesalahan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memodelkan</a:t>
            </a:r>
            <a:r>
              <a:rPr lang="en-US" dirty="0"/>
              <a:t> use case</a:t>
            </a: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sz="3600" b="1" dirty="0" err="1"/>
              <a:t>Objektif</a:t>
            </a:r>
            <a:endParaRPr lang="id-ID" sz="3600" b="1" dirty="0"/>
          </a:p>
        </p:txBody>
      </p:sp>
    </p:spTree>
    <p:extLst>
      <p:ext uri="{BB962C8B-B14F-4D97-AF65-F5344CB8AC3E}">
        <p14:creationId xmlns:p14="http://schemas.microsoft.com/office/powerpoint/2010/main" val="153093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3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Diagram Use Case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alat</a:t>
            </a:r>
            <a:r>
              <a:rPr lang="en-US" dirty="0"/>
              <a:t> bantu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b="1" dirty="0" err="1"/>
              <a:t>memodelkan</a:t>
            </a:r>
            <a:r>
              <a:rPr lang="en-US" dirty="0"/>
              <a:t> </a:t>
            </a:r>
            <a:r>
              <a:rPr lang="en-US" b="1" dirty="0" err="1"/>
              <a:t>interaksi</a:t>
            </a:r>
            <a:r>
              <a:rPr lang="en-US" b="1" dirty="0"/>
              <a:t> </a:t>
            </a:r>
            <a:r>
              <a:rPr lang="en-US" b="1" dirty="0" err="1"/>
              <a:t>antar</a:t>
            </a:r>
            <a:r>
              <a:rPr lang="en-US" b="1" dirty="0"/>
              <a:t> </a:t>
            </a:r>
            <a:r>
              <a:rPr lang="en-US" b="1" dirty="0" err="1"/>
              <a:t>sistem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</a:t>
            </a:r>
            <a:r>
              <a:rPr lang="en-US" b="1" dirty="0" err="1"/>
              <a:t>pihak</a:t>
            </a:r>
            <a:r>
              <a:rPr lang="en-US" b="1" dirty="0"/>
              <a:t> </a:t>
            </a:r>
            <a:r>
              <a:rPr lang="en-US" b="1" dirty="0" err="1"/>
              <a:t>luar</a:t>
            </a:r>
            <a:r>
              <a:rPr lang="en-US" dirty="0"/>
              <a:t>. </a:t>
            </a:r>
          </a:p>
          <a:p>
            <a:pPr>
              <a:spcAft>
                <a:spcPts val="1200"/>
              </a:spcAft>
            </a:pPr>
            <a:r>
              <a:rPr lang="en-US" dirty="0" err="1"/>
              <a:t>Pada</a:t>
            </a:r>
            <a:r>
              <a:rPr lang="en-US" dirty="0"/>
              <a:t> diagram use case,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peran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yang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pihak</a:t>
            </a:r>
            <a:r>
              <a:rPr lang="en-US" dirty="0"/>
              <a:t> </a:t>
            </a:r>
            <a:r>
              <a:rPr lang="en-US" dirty="0" err="1"/>
              <a:t>luar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system,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mencapai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.</a:t>
            </a: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sz="3600" b="1" dirty="0" err="1"/>
              <a:t>Pengertian</a:t>
            </a:r>
            <a:endParaRPr lang="id-ID" sz="3600" b="1" dirty="0"/>
          </a:p>
        </p:txBody>
      </p:sp>
    </p:spTree>
    <p:extLst>
      <p:ext uri="{BB962C8B-B14F-4D97-AF65-F5344CB8AC3E}">
        <p14:creationId xmlns:p14="http://schemas.microsoft.com/office/powerpoint/2010/main" val="355331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4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/>
              <a:t>Diagram Use Case 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 :</a:t>
            </a:r>
          </a:p>
          <a:p>
            <a:pPr>
              <a:spcAft>
                <a:spcPts val="1200"/>
              </a:spcAft>
            </a:pPr>
            <a:r>
              <a:rPr lang="en-US" dirty="0"/>
              <a:t>Actor</a:t>
            </a:r>
          </a:p>
          <a:p>
            <a:pPr>
              <a:spcAft>
                <a:spcPts val="1200"/>
              </a:spcAft>
            </a:pPr>
            <a:r>
              <a:rPr lang="en-US" dirty="0"/>
              <a:t>Use case </a:t>
            </a:r>
          </a:p>
          <a:p>
            <a:pPr>
              <a:spcAft>
                <a:spcPts val="1200"/>
              </a:spcAft>
            </a:pPr>
            <a:r>
              <a:rPr lang="en-US" dirty="0" err="1"/>
              <a:t>Relasi</a:t>
            </a:r>
            <a:r>
              <a:rPr lang="en-US" dirty="0"/>
              <a:t> / </a:t>
            </a:r>
            <a:r>
              <a:rPr lang="en-US" dirty="0" err="1"/>
              <a:t>Asosiasi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lang="en-US" dirty="0"/>
              <a:t>System boundary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sz="3600" b="1" dirty="0" err="1"/>
              <a:t>Komponen</a:t>
            </a:r>
            <a:r>
              <a:rPr lang="en-US" sz="3600" b="1" dirty="0"/>
              <a:t> </a:t>
            </a:r>
            <a:r>
              <a:rPr lang="en-US" sz="3600" b="1" dirty="0" err="1"/>
              <a:t>dalam</a:t>
            </a:r>
            <a:r>
              <a:rPr lang="en-US" sz="3600" b="1" dirty="0"/>
              <a:t> Use Case Diagram</a:t>
            </a:r>
            <a:endParaRPr lang="id-ID" sz="3600" b="1" dirty="0"/>
          </a:p>
        </p:txBody>
      </p:sp>
    </p:spTree>
    <p:extLst>
      <p:ext uri="{BB962C8B-B14F-4D97-AF65-F5344CB8AC3E}">
        <p14:creationId xmlns:p14="http://schemas.microsoft.com/office/powerpoint/2010/main" val="355331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5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492369"/>
            <a:ext cx="10515600" cy="6010031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menampilkan</a:t>
            </a:r>
            <a:r>
              <a:rPr lang="en-US" dirty="0"/>
              <a:t> komponen2 </a:t>
            </a:r>
            <a:r>
              <a:rPr lang="en-US" dirty="0" err="1"/>
              <a:t>pada</a:t>
            </a:r>
            <a:r>
              <a:rPr lang="en-US" dirty="0"/>
              <a:t> diagram use case. Subject </a:t>
            </a:r>
            <a:r>
              <a:rPr lang="en-US" dirty="0" err="1"/>
              <a:t>menyatakan</a:t>
            </a:r>
            <a:r>
              <a:rPr lang="en-US" dirty="0"/>
              <a:t> “</a:t>
            </a:r>
            <a:r>
              <a:rPr lang="en-US" dirty="0" err="1"/>
              <a:t>judul</a:t>
            </a:r>
            <a:r>
              <a:rPr lang="en-US" dirty="0"/>
              <a:t>”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tema</a:t>
            </a:r>
            <a:r>
              <a:rPr lang="en-US" dirty="0"/>
              <a:t> use case </a:t>
            </a:r>
            <a:r>
              <a:rPr lang="en-US" dirty="0" err="1"/>
              <a:t>tersebut</a:t>
            </a:r>
            <a:r>
              <a:rPr lang="en-US" dirty="0"/>
              <a:t>. </a:t>
            </a:r>
          </a:p>
          <a:p>
            <a:pPr marL="0" indent="0">
              <a:spcAft>
                <a:spcPts val="1200"/>
              </a:spcAft>
              <a:buNone/>
            </a:pPr>
            <a:endParaRPr lang="sv-SE" dirty="0"/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2977661" y="2250830"/>
            <a:ext cx="6291943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31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6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r>
              <a:rPr lang="en-US" dirty="0" err="1"/>
              <a:t>Aktor</a:t>
            </a:r>
            <a:r>
              <a:rPr lang="en-US" dirty="0"/>
              <a:t> </a:t>
            </a:r>
            <a:r>
              <a:rPr lang="en-US" dirty="0" err="1"/>
              <a:t>mewakili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role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peranan</a:t>
            </a:r>
            <a:r>
              <a:rPr lang="en-US" dirty="0"/>
              <a:t> yang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pihak</a:t>
            </a:r>
            <a:r>
              <a:rPr lang="en-US" dirty="0"/>
              <a:t> </a:t>
            </a:r>
            <a:r>
              <a:rPr lang="en-US" dirty="0" err="1"/>
              <a:t>luar</a:t>
            </a:r>
            <a:r>
              <a:rPr lang="en-US" dirty="0"/>
              <a:t>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berinteraksi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system. </a:t>
            </a:r>
          </a:p>
          <a:p>
            <a:r>
              <a:rPr lang="en-US" dirty="0" err="1"/>
              <a:t>Aktor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orang (customer, supplier, students, lecturer),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lembaga</a:t>
            </a:r>
            <a:r>
              <a:rPr lang="en-US" dirty="0"/>
              <a:t> (bank, </a:t>
            </a:r>
            <a:r>
              <a:rPr lang="en-US" dirty="0" err="1"/>
              <a:t>sekolah</a:t>
            </a:r>
            <a:r>
              <a:rPr lang="en-US" dirty="0"/>
              <a:t>, </a:t>
            </a:r>
            <a:r>
              <a:rPr lang="en-US" dirty="0" err="1"/>
              <a:t>dep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), </a:t>
            </a:r>
            <a:r>
              <a:rPr lang="en-US" dirty="0" err="1"/>
              <a:t>atau</a:t>
            </a:r>
            <a:r>
              <a:rPr lang="en-US" dirty="0"/>
              <a:t> system lain. 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/>
              <a:t>Aktor</a:t>
            </a:r>
            <a:endParaRPr lang="id-ID" sz="3600" b="1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557" y="3892061"/>
            <a:ext cx="990600" cy="1300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331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7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r>
              <a:rPr lang="en-US" dirty="0"/>
              <a:t>Use case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actor </a:t>
            </a:r>
            <a:r>
              <a:rPr lang="en-US" dirty="0" err="1"/>
              <a:t>dengan</a:t>
            </a:r>
            <a:r>
              <a:rPr lang="en-US" dirty="0"/>
              <a:t> system yang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mewakili</a:t>
            </a:r>
            <a:r>
              <a:rPr lang="en-US" dirty="0"/>
              <a:t> </a:t>
            </a:r>
            <a:r>
              <a:rPr lang="en-US" dirty="0" err="1"/>
              <a:t>fungsionalitas</a:t>
            </a:r>
            <a:r>
              <a:rPr lang="en-US" dirty="0"/>
              <a:t> system. </a:t>
            </a:r>
          </a:p>
          <a:p>
            <a:r>
              <a:rPr lang="en-US" dirty="0"/>
              <a:t>Use case </a:t>
            </a:r>
            <a:r>
              <a:rPr lang="en-US" dirty="0" err="1"/>
              <a:t>digambarkan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lingkaran</a:t>
            </a:r>
            <a:r>
              <a:rPr lang="en-US" dirty="0"/>
              <a:t> </a:t>
            </a:r>
            <a:r>
              <a:rPr lang="en-US" dirty="0" err="1"/>
              <a:t>elips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di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dalamnya</a:t>
            </a:r>
            <a:r>
              <a:rPr lang="en-US" dirty="0"/>
              <a:t>. </a:t>
            </a:r>
          </a:p>
          <a:p>
            <a:r>
              <a:rPr lang="en-US" dirty="0" err="1"/>
              <a:t>Nama</a:t>
            </a:r>
            <a:r>
              <a:rPr lang="en-US" dirty="0"/>
              <a:t> use case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b="1" dirty="0"/>
              <a:t>kata </a:t>
            </a:r>
            <a:r>
              <a:rPr lang="en-US" b="1" dirty="0" err="1"/>
              <a:t>kerja</a:t>
            </a:r>
            <a:r>
              <a:rPr lang="en-US" dirty="0"/>
              <a:t>.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/>
              <a:t>Use Case</a:t>
            </a:r>
            <a:endParaRPr lang="id-ID" sz="3600" b="1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9107" y="4079630"/>
            <a:ext cx="2514600" cy="1240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331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8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sv-SE" dirty="0"/>
              <a:t>Relationship adalah hubungan antar elemen yg dapat berupa hubungan antar use case ataupun antar actor. </a:t>
            </a:r>
          </a:p>
          <a:p>
            <a:pPr>
              <a:spcAft>
                <a:spcPts val="1200"/>
              </a:spcAft>
            </a:pPr>
            <a:r>
              <a:rPr lang="sv-SE" dirty="0"/>
              <a:t>Hubungan ini dapat berupa:</a:t>
            </a:r>
          </a:p>
          <a:p>
            <a:pPr>
              <a:spcAft>
                <a:spcPts val="1200"/>
              </a:spcAft>
            </a:pPr>
            <a:r>
              <a:rPr lang="sv-SE" dirty="0"/>
              <a:t>Asosiasi khusus yang berupa include dan extend</a:t>
            </a:r>
          </a:p>
          <a:p>
            <a:pPr>
              <a:spcAft>
                <a:spcPts val="1200"/>
              </a:spcAft>
            </a:pPr>
            <a:r>
              <a:rPr lang="sv-SE" dirty="0"/>
              <a:t>Generalisasi antar actor atau antar use case</a:t>
            </a:r>
          </a:p>
          <a:p>
            <a:pPr>
              <a:spcAft>
                <a:spcPts val="1200"/>
              </a:spcAft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/>
              <a:t>Relationship</a:t>
            </a:r>
            <a:endParaRPr lang="id-ID" sz="3600" b="1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538" y="4043664"/>
            <a:ext cx="1914525" cy="84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538" y="4043664"/>
            <a:ext cx="1952625" cy="1095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7113" y="5408431"/>
            <a:ext cx="19240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7938" y="4043664"/>
            <a:ext cx="2541687" cy="259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331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9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r>
              <a:rPr lang="en-US" dirty="0"/>
              <a:t>Include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asosiasi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use case yang </a:t>
            </a:r>
            <a:r>
              <a:rPr lang="en-US" dirty="0" err="1"/>
              <a:t>menyatakan</a:t>
            </a:r>
            <a:r>
              <a:rPr lang="en-US" dirty="0"/>
              <a:t> </a:t>
            </a:r>
            <a:r>
              <a:rPr lang="en-US" dirty="0" err="1"/>
              <a:t>keharusan</a:t>
            </a:r>
            <a:r>
              <a:rPr lang="en-US" dirty="0"/>
              <a:t> </a:t>
            </a:r>
            <a:r>
              <a:rPr lang="en-US" dirty="0" err="1"/>
              <a:t>menyertakan</a:t>
            </a:r>
            <a:r>
              <a:rPr lang="en-US" dirty="0"/>
              <a:t> </a:t>
            </a:r>
            <a:r>
              <a:rPr lang="en-US" dirty="0" err="1"/>
              <a:t>perilaku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fungsionalitas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use case lain.</a:t>
            </a:r>
          </a:p>
          <a:p>
            <a:r>
              <a:rPr lang="en-US" dirty="0"/>
              <a:t>Include </a:t>
            </a:r>
            <a:r>
              <a:rPr lang="en-US" dirty="0" err="1"/>
              <a:t>digambarkan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panah</a:t>
            </a:r>
            <a:r>
              <a:rPr lang="en-US" dirty="0"/>
              <a:t> </a:t>
            </a:r>
            <a:r>
              <a:rPr lang="en-US" dirty="0" err="1"/>
              <a:t>terputus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ujung</a:t>
            </a:r>
            <a:r>
              <a:rPr lang="en-US" dirty="0"/>
              <a:t> </a:t>
            </a:r>
            <a:r>
              <a:rPr lang="en-US" dirty="0" err="1"/>
              <a:t>anak</a:t>
            </a:r>
            <a:r>
              <a:rPr lang="en-US" dirty="0"/>
              <a:t> </a:t>
            </a:r>
            <a:r>
              <a:rPr lang="en-US" dirty="0" err="1"/>
              <a:t>panah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bagan</a:t>
            </a:r>
            <a:r>
              <a:rPr lang="en-US" dirty="0"/>
              <a:t> yang </a:t>
            </a:r>
            <a:r>
              <a:rPr lang="en-US" dirty="0" err="1"/>
              <a:t>memanggil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yang </a:t>
            </a:r>
            <a:r>
              <a:rPr lang="en-US" dirty="0" err="1"/>
              <a:t>menyertakan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yang </a:t>
            </a:r>
            <a:r>
              <a:rPr lang="en-US" dirty="0" err="1"/>
              <a:t>dipanggil</a:t>
            </a:r>
            <a:r>
              <a:rPr lang="en-US" dirty="0"/>
              <a:t> (</a:t>
            </a:r>
            <a:r>
              <a:rPr lang="en-US" dirty="0" err="1"/>
              <a:t>disertakan</a:t>
            </a:r>
            <a:r>
              <a:rPr lang="en-US" dirty="0"/>
              <a:t>).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garis</a:t>
            </a:r>
            <a:r>
              <a:rPr lang="en-US" dirty="0"/>
              <a:t> </a:t>
            </a:r>
            <a:r>
              <a:rPr lang="en-US" dirty="0" err="1"/>
              <a:t>panah</a:t>
            </a:r>
            <a:r>
              <a:rPr lang="en-US" dirty="0"/>
              <a:t> </a:t>
            </a:r>
            <a:r>
              <a:rPr lang="en-US" dirty="0" err="1"/>
              <a:t>diberi</a:t>
            </a:r>
            <a:r>
              <a:rPr lang="en-US" dirty="0"/>
              <a:t> </a:t>
            </a:r>
            <a:r>
              <a:rPr lang="en-US" dirty="0" err="1"/>
              <a:t>keterangan</a:t>
            </a:r>
            <a:r>
              <a:rPr lang="en-US" dirty="0"/>
              <a:t> &lt;&lt;include&gt;&gt;.</a:t>
            </a:r>
          </a:p>
          <a:p>
            <a:endParaRPr lang="en-US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/>
              <a:t>Relationship (include)</a:t>
            </a:r>
            <a:endParaRPr lang="id-ID" sz="36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332" y="4413006"/>
            <a:ext cx="4951442" cy="2146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7926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10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sv-SE" sz="2400" dirty="0"/>
              <a:t>Relasi extend menyatakan bahwa satu fitur atau perilaku tambahan dapat ditambahkan (optional) ke satu perilaku pada satu use case. </a:t>
            </a:r>
          </a:p>
          <a:p>
            <a:pPr>
              <a:spcAft>
                <a:spcPts val="1200"/>
              </a:spcAft>
            </a:pPr>
            <a:r>
              <a:rPr lang="sv-SE" sz="2400" dirty="0"/>
              <a:t>Use case yang dikembangkan (extended) bersifat independent terhadap usecase tambahan (extending).</a:t>
            </a:r>
          </a:p>
          <a:p>
            <a:pPr>
              <a:spcAft>
                <a:spcPts val="1200"/>
              </a:spcAft>
            </a:pPr>
            <a:r>
              <a:rPr lang="sv-SE" sz="2400" dirty="0"/>
              <a:t>Relasi extend dinyatakan dengan garis putus dengan panah terbuka dengan arah dari extending use case (use case opsional) ke extended use case (use case yang dikembangkan). Garis ini diberi nama &lt;&lt;extend&gt;&gt;.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/>
              <a:t>Relationship (Extend)</a:t>
            </a:r>
            <a:endParaRPr lang="id-ID" sz="3600" b="1" dirty="0"/>
          </a:p>
        </p:txBody>
      </p:sp>
      <p:pic>
        <p:nvPicPr>
          <p:cNvPr id="7" name="Picture 6" descr="IMG_20250222_17384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599" y="4440116"/>
            <a:ext cx="4917832" cy="21863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7926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11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dirty="0" err="1"/>
              <a:t>Kebutuhan</a:t>
            </a:r>
            <a:r>
              <a:rPr lang="en-US" dirty="0"/>
              <a:t> system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rancangan</a:t>
            </a:r>
            <a:r>
              <a:rPr lang="en-US" dirty="0"/>
              <a:t> </a:t>
            </a:r>
            <a:r>
              <a:rPr lang="en-US" dirty="0" err="1"/>
              <a:t>fitur</a:t>
            </a:r>
            <a:r>
              <a:rPr lang="en-US" dirty="0"/>
              <a:t>, property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perilaku</a:t>
            </a:r>
            <a:r>
              <a:rPr lang="en-US" dirty="0"/>
              <a:t> system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pengguna</a:t>
            </a:r>
            <a:r>
              <a:rPr lang="en-US" dirty="0"/>
              <a:t>. </a:t>
            </a:r>
          </a:p>
          <a:p>
            <a:pPr>
              <a:spcAft>
                <a:spcPts val="1200"/>
              </a:spcAft>
            </a:pP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membangun</a:t>
            </a:r>
            <a:r>
              <a:rPr lang="en-US" dirty="0"/>
              <a:t> system,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menyetujui</a:t>
            </a:r>
            <a:r>
              <a:rPr lang="en-US" dirty="0"/>
              <a:t> </a:t>
            </a:r>
            <a:r>
              <a:rPr lang="en-US" dirty="0" err="1"/>
              <a:t>sekumpulan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disediakan</a:t>
            </a:r>
            <a:r>
              <a:rPr lang="en-US" dirty="0"/>
              <a:t> system. </a:t>
            </a:r>
          </a:p>
          <a:p>
            <a:pPr>
              <a:spcAft>
                <a:spcPts val="1200"/>
              </a:spcAft>
            </a:pPr>
            <a:r>
              <a:rPr lang="en-US" dirty="0" err="1"/>
              <a:t>Demikian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halnya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mengelola</a:t>
            </a:r>
            <a:r>
              <a:rPr lang="en-US" dirty="0"/>
              <a:t> system,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perilaku</a:t>
            </a:r>
            <a:r>
              <a:rPr lang="en-US" dirty="0"/>
              <a:t> system agar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menggunakannya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.</a:t>
            </a:r>
          </a:p>
          <a:p>
            <a:pPr>
              <a:spcAft>
                <a:spcPts val="1200"/>
              </a:spcAft>
            </a:pPr>
            <a:r>
              <a:rPr lang="en-US" dirty="0"/>
              <a:t>Requirement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system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dituliskan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,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ekspresi</a:t>
            </a:r>
            <a:r>
              <a:rPr lang="en-US" dirty="0"/>
              <a:t> </a:t>
            </a:r>
            <a:r>
              <a:rPr lang="en-US" dirty="0" err="1"/>
              <a:t>teks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terstruktur</a:t>
            </a:r>
            <a:r>
              <a:rPr lang="en-US" dirty="0"/>
              <a:t> </a:t>
            </a:r>
            <a:r>
              <a:rPr lang="en-US" dirty="0" err="1"/>
              <a:t>sampai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formal. </a:t>
            </a:r>
            <a:r>
              <a:rPr lang="en-US" dirty="0" err="1"/>
              <a:t>Kebutuhan</a:t>
            </a:r>
            <a:r>
              <a:rPr lang="en-US" dirty="0"/>
              <a:t> system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dinyatakan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use case.</a:t>
            </a:r>
          </a:p>
          <a:p>
            <a:pPr>
              <a:spcAft>
                <a:spcPts val="1200"/>
              </a:spcAft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/>
              <a:t>Memodelkan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Sistem</a:t>
            </a:r>
            <a:endParaRPr lang="id-ID" sz="3600" b="1" dirty="0"/>
          </a:p>
        </p:txBody>
      </p:sp>
    </p:spTree>
    <p:extLst>
      <p:ext uri="{BB962C8B-B14F-4D97-AF65-F5344CB8AC3E}">
        <p14:creationId xmlns:p14="http://schemas.microsoft.com/office/powerpoint/2010/main" val="4087926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12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 lnSpcReduction="10000"/>
          </a:bodyPr>
          <a:lstStyle/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sv-SE" dirty="0"/>
              <a:t>Menentukan konteks system dengan cara mengidentifikasi actor yang terlibat pada system.</a:t>
            </a:r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sv-SE" dirty="0"/>
              <a:t>Untuk setiap actor, tentukan perilaku yg diharapkan atau dibutuhkan dari system.</a:t>
            </a:r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sv-SE" dirty="0"/>
              <a:t>Beri nama setiap perilaku tersebut sebagai use case</a:t>
            </a:r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sv-SE" dirty="0"/>
              <a:t>Kelompokkan use case yg umum menjadi satu use case baru yang digunakan oleh use case lain, kelompokkan perilaku alternative menjadi use caser baru yg akan menjadi ekstensi dari perilaku utama.</a:t>
            </a:r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sv-SE" dirty="0"/>
              <a:t>Modelkan use case, actor dan relasinya dalam bentuk diagram.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 fontScale="90000"/>
          </a:bodyPr>
          <a:lstStyle/>
          <a:p>
            <a:r>
              <a:rPr lang="en-US" dirty="0"/>
              <a:t>Langkah2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memodelkan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system:</a:t>
            </a:r>
            <a:endParaRPr lang="id-ID" sz="3600" b="1" dirty="0"/>
          </a:p>
        </p:txBody>
      </p:sp>
    </p:spTree>
    <p:extLst>
      <p:ext uri="{BB962C8B-B14F-4D97-AF65-F5344CB8AC3E}">
        <p14:creationId xmlns:p14="http://schemas.microsoft.com/office/powerpoint/2010/main" val="4087926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13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sv-SE" dirty="0"/>
              <a:t>Siapa pengguna use case utama?</a:t>
            </a:r>
          </a:p>
          <a:p>
            <a:pPr>
              <a:spcAft>
                <a:spcPts val="1200"/>
              </a:spcAft>
            </a:pPr>
            <a:r>
              <a:rPr lang="sv-SE" dirty="0"/>
              <a:t>Siapa yang membutuhkan dukungan untuk pekerjaan sehari-hari mereka?</a:t>
            </a:r>
          </a:p>
          <a:p>
            <a:pPr>
              <a:spcAft>
                <a:spcPts val="1200"/>
              </a:spcAft>
            </a:pPr>
            <a:r>
              <a:rPr lang="sv-SE" dirty="0"/>
              <a:t>Siapa yang bertanggung jawab dalam administrasi sistem?</a:t>
            </a:r>
          </a:p>
          <a:p>
            <a:pPr>
              <a:spcAft>
                <a:spcPts val="1200"/>
              </a:spcAft>
            </a:pPr>
            <a:r>
              <a:rPr lang="sv-SE" dirty="0"/>
              <a:t>Apa sistem perangkat eksternal/(perangkat lunak) yang harus dikomunikasikan oleh sistem?</a:t>
            </a:r>
          </a:p>
          <a:p>
            <a:pPr>
              <a:spcAft>
                <a:spcPts val="1200"/>
              </a:spcAft>
            </a:pPr>
            <a:r>
              <a:rPr lang="sv-SE" dirty="0"/>
              <a:t>Siapa yang memiliki minat pada hasil sistem?</a:t>
            </a:r>
          </a:p>
          <a:p>
            <a:pPr>
              <a:spcAft>
                <a:spcPts val="1200"/>
              </a:spcAft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pPr marL="0" indent="0"/>
            <a:r>
              <a:rPr lang="en-US" dirty="0" err="1"/>
              <a:t>Pertanyaan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mengidentifikasi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aktor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087926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14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 yang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seorang</a:t>
            </a:r>
            <a:r>
              <a:rPr lang="en-US" dirty="0"/>
              <a:t> </a:t>
            </a:r>
            <a:r>
              <a:rPr lang="en-US" dirty="0" err="1"/>
              <a:t>aktor</a:t>
            </a:r>
            <a:r>
              <a:rPr lang="en-US" dirty="0"/>
              <a:t>?</a:t>
            </a:r>
          </a:p>
          <a:p>
            <a:pPr>
              <a:spcAft>
                <a:spcPts val="1200"/>
              </a:spcAft>
            </a:pPr>
            <a:r>
              <a:rPr lang="en-US" dirty="0" err="1"/>
              <a:t>Adakah</a:t>
            </a:r>
            <a:r>
              <a:rPr lang="en-US" dirty="0"/>
              <a:t> </a:t>
            </a:r>
            <a:r>
              <a:rPr lang="en-US" dirty="0" err="1"/>
              <a:t>keinginan</a:t>
            </a:r>
            <a:r>
              <a:rPr lang="en-US" dirty="0"/>
              <a:t> </a:t>
            </a:r>
            <a:r>
              <a:rPr lang="en-US" dirty="0" err="1"/>
              <a:t>seorang</a:t>
            </a:r>
            <a:r>
              <a:rPr lang="en-US" dirty="0"/>
              <a:t> </a:t>
            </a:r>
            <a:r>
              <a:rPr lang="en-US" dirty="0" err="1"/>
              <a:t>aktor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meminta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memodifikasi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yang </a:t>
            </a:r>
            <a:r>
              <a:rPr lang="en-US" dirty="0" err="1"/>
              <a:t>terkandung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?</a:t>
            </a:r>
          </a:p>
          <a:p>
            <a:pPr>
              <a:spcAft>
                <a:spcPts val="1200"/>
              </a:spcAft>
            </a:pPr>
            <a:r>
              <a:rPr lang="en-US" dirty="0" err="1"/>
              <a:t>Adakah</a:t>
            </a:r>
            <a:r>
              <a:rPr lang="en-US" dirty="0"/>
              <a:t> </a:t>
            </a:r>
            <a:r>
              <a:rPr lang="en-US" dirty="0" err="1"/>
              <a:t>keinginan</a:t>
            </a:r>
            <a:r>
              <a:rPr lang="en-US" dirty="0"/>
              <a:t> </a:t>
            </a:r>
            <a:r>
              <a:rPr lang="en-US" dirty="0" err="1"/>
              <a:t>seorang</a:t>
            </a:r>
            <a:r>
              <a:rPr lang="en-US" dirty="0"/>
              <a:t> </a:t>
            </a:r>
            <a:r>
              <a:rPr lang="en-US" dirty="0" err="1"/>
              <a:t>aktor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menginformasikan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perubahan-perubahan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lain?</a:t>
            </a:r>
          </a:p>
          <a:p>
            <a:pPr>
              <a:spcAft>
                <a:spcPts val="1200"/>
              </a:spcAft>
            </a:pPr>
            <a:r>
              <a:rPr lang="en-US" dirty="0" err="1"/>
              <a:t>Haruskah</a:t>
            </a:r>
            <a:r>
              <a:rPr lang="en-US" dirty="0"/>
              <a:t> </a:t>
            </a:r>
            <a:r>
              <a:rPr lang="en-US" dirty="0" err="1"/>
              <a:t>seorang</a:t>
            </a:r>
            <a:r>
              <a:rPr lang="en-US" dirty="0"/>
              <a:t> </a:t>
            </a:r>
            <a:r>
              <a:rPr lang="en-US" dirty="0" err="1"/>
              <a:t>aktor</a:t>
            </a:r>
            <a:r>
              <a:rPr lang="en-US" dirty="0"/>
              <a:t> </a:t>
            </a:r>
            <a:r>
              <a:rPr lang="en-US" dirty="0" err="1"/>
              <a:t>diberitahu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kejadian</a:t>
            </a:r>
            <a:r>
              <a:rPr lang="en-US" dirty="0"/>
              <a:t> </a:t>
            </a:r>
            <a:r>
              <a:rPr lang="en-US" dirty="0" err="1"/>
              <a:t>tak</a:t>
            </a:r>
            <a:r>
              <a:rPr lang="en-US" dirty="0"/>
              <a:t> </a:t>
            </a:r>
            <a:r>
              <a:rPr lang="en-US" dirty="0" err="1"/>
              <a:t>terduga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?</a:t>
            </a:r>
          </a:p>
          <a:p>
            <a:pPr>
              <a:spcAft>
                <a:spcPts val="1200"/>
              </a:spcAft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/>
              <a:t>Pertanyaan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mengidentifikasi</a:t>
            </a:r>
            <a:r>
              <a:rPr lang="en-US" dirty="0"/>
              <a:t> use case:</a:t>
            </a:r>
            <a:endParaRPr lang="id-ID" sz="3600" b="1" dirty="0"/>
          </a:p>
        </p:txBody>
      </p:sp>
    </p:spTree>
    <p:extLst>
      <p:ext uri="{BB962C8B-B14F-4D97-AF65-F5344CB8AC3E}">
        <p14:creationId xmlns:p14="http://schemas.microsoft.com/office/powerpoint/2010/main" val="2184678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15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err="1"/>
              <a:t>Berikan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mencerminakn</a:t>
            </a:r>
            <a:r>
              <a:rPr lang="en-US" dirty="0"/>
              <a:t> </a:t>
            </a:r>
            <a:r>
              <a:rPr lang="en-US" dirty="0" err="1"/>
              <a:t>maksud</a:t>
            </a:r>
            <a:r>
              <a:rPr lang="en-US" dirty="0"/>
              <a:t> use case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Atur</a:t>
            </a:r>
            <a:r>
              <a:rPr lang="en-US" dirty="0"/>
              <a:t> </a:t>
            </a:r>
            <a:r>
              <a:rPr lang="en-US" dirty="0" err="1"/>
              <a:t>tata</a:t>
            </a:r>
            <a:r>
              <a:rPr lang="en-US" dirty="0"/>
              <a:t> </a:t>
            </a:r>
            <a:r>
              <a:rPr lang="en-US" dirty="0" err="1"/>
              <a:t>letak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meminimalisasi</a:t>
            </a:r>
            <a:r>
              <a:rPr lang="en-US" dirty="0"/>
              <a:t> </a:t>
            </a:r>
            <a:r>
              <a:rPr lang="en-US" dirty="0" err="1"/>
              <a:t>garis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bersilangan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Atur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spasial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perilaku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peran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semantic </a:t>
            </a:r>
            <a:r>
              <a:rPr lang="en-US" dirty="0" err="1"/>
              <a:t>berdekatan</a:t>
            </a:r>
            <a:r>
              <a:rPr lang="en-US" dirty="0"/>
              <a:t>,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fisik</a:t>
            </a:r>
            <a:r>
              <a:rPr lang="en-US" dirty="0"/>
              <a:t> </a:t>
            </a:r>
            <a:r>
              <a:rPr lang="en-US" dirty="0" err="1"/>
              <a:t>diletakkan</a:t>
            </a:r>
            <a:r>
              <a:rPr lang="en-US" dirty="0"/>
              <a:t> </a:t>
            </a:r>
            <a:r>
              <a:rPr lang="en-US" dirty="0" err="1"/>
              <a:t>berdekatan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Gunakan</a:t>
            </a:r>
            <a:r>
              <a:rPr lang="en-US" dirty="0"/>
              <a:t> notes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memperjelas</a:t>
            </a:r>
            <a:r>
              <a:rPr lang="en-US" dirty="0"/>
              <a:t> diagram.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Usahakan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terlalu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relasi</a:t>
            </a:r>
            <a:r>
              <a:rPr lang="en-US" dirty="0"/>
              <a:t>.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terlalu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relasi</a:t>
            </a:r>
            <a:r>
              <a:rPr lang="en-US" dirty="0"/>
              <a:t> include </a:t>
            </a:r>
            <a:r>
              <a:rPr lang="en-US" dirty="0" err="1"/>
              <a:t>dan</a:t>
            </a:r>
            <a:r>
              <a:rPr lang="en-US" dirty="0"/>
              <a:t> extend, </a:t>
            </a:r>
            <a:r>
              <a:rPr lang="en-US" dirty="0" err="1"/>
              <a:t>sebaiknya</a:t>
            </a:r>
            <a:r>
              <a:rPr lang="en-US" dirty="0"/>
              <a:t> </a:t>
            </a:r>
            <a:r>
              <a:rPr lang="en-US" dirty="0" err="1"/>
              <a:t>kembangkan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diagram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berbeda</a:t>
            </a:r>
            <a:r>
              <a:rPr lang="en-US" dirty="0"/>
              <a:t>.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Pertimbangan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menggambarkan</a:t>
            </a:r>
            <a:r>
              <a:rPr lang="en-US" dirty="0"/>
              <a:t> use case:</a:t>
            </a:r>
            <a:endParaRPr lang="id-ID" sz="3600" b="1" dirty="0"/>
          </a:p>
        </p:txBody>
      </p:sp>
    </p:spTree>
    <p:extLst>
      <p:ext uri="{BB962C8B-B14F-4D97-AF65-F5344CB8AC3E}">
        <p14:creationId xmlns:p14="http://schemas.microsoft.com/office/powerpoint/2010/main" val="3787515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16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1200"/>
              </a:spcAft>
            </a:pPr>
            <a:r>
              <a:rPr lang="en-US" dirty="0" err="1"/>
              <a:t>Setiap</a:t>
            </a:r>
            <a:r>
              <a:rPr lang="en-US" dirty="0"/>
              <a:t> business use case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dilengkapi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scenario, yang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bagaimana</a:t>
            </a:r>
            <a:r>
              <a:rPr lang="en-US" dirty="0"/>
              <a:t> proses di </a:t>
            </a:r>
            <a:r>
              <a:rPr lang="en-US" dirty="0" err="1"/>
              <a:t>dalam</a:t>
            </a:r>
            <a:r>
              <a:rPr lang="en-US" dirty="0"/>
              <a:t> use case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.</a:t>
            </a:r>
          </a:p>
          <a:p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format template scenario,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atas</a:t>
            </a:r>
            <a:r>
              <a:rPr lang="en-US" dirty="0"/>
              <a:t>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err="1"/>
              <a:t>Nama</a:t>
            </a: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 err="1"/>
              <a:t>Deskripsi</a:t>
            </a:r>
            <a:r>
              <a:rPr lang="en-US" dirty="0"/>
              <a:t> </a:t>
            </a:r>
            <a:r>
              <a:rPr lang="en-US" dirty="0" err="1"/>
              <a:t>singkat</a:t>
            </a:r>
            <a:r>
              <a:rPr lang="en-US" dirty="0"/>
              <a:t>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err="1"/>
              <a:t>Prakondisi</a:t>
            </a:r>
            <a:r>
              <a:rPr lang="en-US" dirty="0"/>
              <a:t>: </a:t>
            </a:r>
            <a:r>
              <a:rPr lang="en-US" dirty="0" err="1"/>
              <a:t>prasyarat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keberhasilan</a:t>
            </a:r>
            <a:r>
              <a:rPr lang="en-US" dirty="0"/>
              <a:t> </a:t>
            </a:r>
            <a:r>
              <a:rPr lang="en-US" dirty="0" err="1"/>
              <a:t>eksekusi</a:t>
            </a:r>
            <a:r>
              <a:rPr lang="en-US" dirty="0"/>
              <a:t>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err="1"/>
              <a:t>Pascakondisi</a:t>
            </a:r>
            <a:r>
              <a:rPr lang="en-US" dirty="0"/>
              <a:t>: status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eksekusi</a:t>
            </a:r>
            <a:r>
              <a:rPr lang="en-US" dirty="0"/>
              <a:t> </a:t>
            </a:r>
            <a:r>
              <a:rPr lang="en-US" dirty="0" err="1"/>
              <a:t>berhasil</a:t>
            </a:r>
            <a:r>
              <a:rPr lang="en-US" dirty="0"/>
              <a:t>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err="1"/>
              <a:t>Situasi</a:t>
            </a:r>
            <a:r>
              <a:rPr lang="en-US" dirty="0"/>
              <a:t> </a:t>
            </a:r>
            <a:r>
              <a:rPr lang="en-US" dirty="0" err="1"/>
              <a:t>kesalahan</a:t>
            </a:r>
            <a:r>
              <a:rPr lang="en-US" dirty="0"/>
              <a:t>: </a:t>
            </a:r>
            <a:r>
              <a:rPr lang="en-US" dirty="0" err="1"/>
              <a:t>kesalahan</a:t>
            </a:r>
            <a:r>
              <a:rPr lang="en-US" dirty="0"/>
              <a:t> yang </a:t>
            </a:r>
            <a:r>
              <a:rPr lang="en-US" dirty="0" err="1"/>
              <a:t>relevan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domain </a:t>
            </a:r>
            <a:r>
              <a:rPr lang="en-US" dirty="0" err="1"/>
              <a:t>masalah</a:t>
            </a:r>
            <a:r>
              <a:rPr lang="en-US" dirty="0"/>
              <a:t>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Status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terjadinya</a:t>
            </a:r>
            <a:r>
              <a:rPr lang="en-US" dirty="0"/>
              <a:t> </a:t>
            </a:r>
            <a:r>
              <a:rPr lang="en-US" dirty="0" err="1"/>
              <a:t>kesalahan</a:t>
            </a:r>
            <a:r>
              <a:rPr lang="en-US" dirty="0"/>
              <a:t>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err="1"/>
              <a:t>Aktor</a:t>
            </a:r>
            <a:r>
              <a:rPr lang="en-US" dirty="0"/>
              <a:t> yang </a:t>
            </a:r>
            <a:r>
              <a:rPr lang="en-US" dirty="0" err="1"/>
              <a:t>berkomunikasi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use case.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err="1"/>
              <a:t>Pemicu</a:t>
            </a:r>
            <a:r>
              <a:rPr lang="en-US" dirty="0"/>
              <a:t>: </a:t>
            </a:r>
            <a:r>
              <a:rPr lang="en-US" dirty="0" err="1"/>
              <a:t>peristiwa</a:t>
            </a:r>
            <a:r>
              <a:rPr lang="en-US" dirty="0"/>
              <a:t> yang </a:t>
            </a:r>
            <a:r>
              <a:rPr lang="en-US" dirty="0" err="1"/>
              <a:t>memulai</a:t>
            </a:r>
            <a:r>
              <a:rPr lang="en-US" dirty="0"/>
              <a:t> / </a:t>
            </a:r>
            <a:r>
              <a:rPr lang="en-US" dirty="0" err="1"/>
              <a:t>memulai</a:t>
            </a:r>
            <a:r>
              <a:rPr lang="en-US" dirty="0"/>
              <a:t> use case.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Proses </a:t>
            </a:r>
            <a:r>
              <a:rPr lang="en-US" dirty="0" err="1"/>
              <a:t>standar</a:t>
            </a:r>
            <a:r>
              <a:rPr lang="en-US" dirty="0"/>
              <a:t>: </a:t>
            </a:r>
            <a:r>
              <a:rPr lang="en-US" dirty="0" err="1"/>
              <a:t>langkah</a:t>
            </a:r>
            <a:r>
              <a:rPr lang="en-US" dirty="0"/>
              <a:t> </a:t>
            </a:r>
            <a:r>
              <a:rPr lang="en-US" dirty="0" err="1"/>
              <a:t>individu</a:t>
            </a:r>
            <a:r>
              <a:rPr lang="en-US" dirty="0"/>
              <a:t> yang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diambil</a:t>
            </a: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Proses </a:t>
            </a:r>
            <a:r>
              <a:rPr lang="en-US" dirty="0" err="1"/>
              <a:t>alternatif</a:t>
            </a:r>
            <a:r>
              <a:rPr lang="en-US" dirty="0"/>
              <a:t>: </a:t>
            </a:r>
            <a:r>
              <a:rPr lang="en-US" dirty="0" err="1"/>
              <a:t>penyimpanan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proses </a:t>
            </a:r>
            <a:r>
              <a:rPr lang="en-US" dirty="0" err="1"/>
              <a:t>standar</a:t>
            </a:r>
            <a:r>
              <a:rPr lang="en-US" dirty="0"/>
              <a:t>.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/>
              <a:t>USE CASE SCENARIO</a:t>
            </a:r>
            <a:endParaRPr lang="id-ID" sz="3600" b="1" dirty="0"/>
          </a:p>
        </p:txBody>
      </p:sp>
    </p:spTree>
    <p:extLst>
      <p:ext uri="{BB962C8B-B14F-4D97-AF65-F5344CB8AC3E}">
        <p14:creationId xmlns:p14="http://schemas.microsoft.com/office/powerpoint/2010/main" val="3787515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17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Deskripsi</a:t>
            </a:r>
            <a:r>
              <a:rPr lang="en-US" dirty="0"/>
              <a:t> Use Case</a:t>
            </a:r>
            <a:endParaRPr lang="id-ID" sz="3600" b="1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133" y="793504"/>
            <a:ext cx="5024867" cy="570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553" y="951769"/>
            <a:ext cx="4775625" cy="5619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7515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18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Kesalahan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memodelkan</a:t>
            </a:r>
            <a:r>
              <a:rPr lang="en-US" dirty="0"/>
              <a:t> use case:</a:t>
            </a:r>
            <a:br>
              <a:rPr lang="en-US" dirty="0"/>
            </a:br>
            <a:r>
              <a:rPr lang="en-US" dirty="0"/>
              <a:t>Proses </a:t>
            </a:r>
            <a:r>
              <a:rPr lang="en-US" dirty="0" err="1"/>
              <a:t>Pemodelan</a:t>
            </a:r>
            <a:endParaRPr lang="id-ID" sz="3600" b="1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954" y="1049216"/>
            <a:ext cx="7331229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1918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19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Kesalahan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memodelkan</a:t>
            </a:r>
            <a:r>
              <a:rPr lang="en-US" dirty="0"/>
              <a:t> use case: </a:t>
            </a:r>
            <a:r>
              <a:rPr lang="en-US" dirty="0" err="1"/>
              <a:t>Menentukan</a:t>
            </a:r>
            <a:r>
              <a:rPr lang="en-US" dirty="0"/>
              <a:t> Batas </a:t>
            </a:r>
            <a:r>
              <a:rPr lang="en-US" dirty="0" err="1"/>
              <a:t>Sistem</a:t>
            </a:r>
            <a:endParaRPr lang="id-ID" sz="3600" b="1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847" y="1020783"/>
            <a:ext cx="7924800" cy="3427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859" y="4144983"/>
            <a:ext cx="3257550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7995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20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Kesalahan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memodelkan</a:t>
            </a:r>
            <a:r>
              <a:rPr lang="en-US" dirty="0"/>
              <a:t> use case: </a:t>
            </a:r>
            <a:r>
              <a:rPr lang="en-US" dirty="0" err="1"/>
              <a:t>Mencampur</a:t>
            </a:r>
            <a:r>
              <a:rPr lang="en-US" dirty="0"/>
              <a:t> Tingkat </a:t>
            </a:r>
            <a:r>
              <a:rPr lang="en-US" dirty="0" err="1"/>
              <a:t>Abstraksi</a:t>
            </a:r>
            <a:r>
              <a:rPr lang="en-US" dirty="0"/>
              <a:t> yang </a:t>
            </a:r>
            <a:r>
              <a:rPr lang="en-US" dirty="0" err="1"/>
              <a:t>Berbeda</a:t>
            </a:r>
            <a:endParaRPr lang="id-ID" sz="3600" b="1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262" y="1073761"/>
            <a:ext cx="8458200" cy="2475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5862" y="3440722"/>
            <a:ext cx="4978686" cy="277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7995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21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Kesalahan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memodelkan</a:t>
            </a:r>
            <a:r>
              <a:rPr lang="en-US" dirty="0"/>
              <a:t> use case: </a:t>
            </a:r>
            <a:r>
              <a:rPr lang="en-US" dirty="0" err="1"/>
              <a:t>Dekomposisi</a:t>
            </a:r>
            <a:r>
              <a:rPr lang="en-US" dirty="0"/>
              <a:t> </a:t>
            </a:r>
            <a:r>
              <a:rPr lang="en-US" dirty="0" err="1"/>
              <a:t>Fungsional</a:t>
            </a:r>
            <a:endParaRPr lang="id-ID" sz="3600" b="1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477" y="1019175"/>
            <a:ext cx="7138146" cy="4273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4623" y="1019175"/>
            <a:ext cx="4233516" cy="37669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7995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22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Kesalahan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memodelkan</a:t>
            </a:r>
            <a:r>
              <a:rPr lang="en-US" dirty="0"/>
              <a:t> use case: </a:t>
            </a:r>
            <a:r>
              <a:rPr lang="en-US" dirty="0" err="1"/>
              <a:t>Pemodelan</a:t>
            </a:r>
            <a:r>
              <a:rPr lang="en-US" dirty="0"/>
              <a:t> Use Case </a:t>
            </a:r>
            <a:r>
              <a:rPr lang="en-US" dirty="0" err="1"/>
              <a:t>Berlebihan</a:t>
            </a:r>
            <a:endParaRPr lang="id-ID" sz="3600" b="1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90" y="914398"/>
            <a:ext cx="7816063" cy="3011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512" y="3867443"/>
            <a:ext cx="4654394" cy="2990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7995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6610" y="3228704"/>
            <a:ext cx="11585389" cy="634563"/>
          </a:xfrm>
        </p:spPr>
        <p:txBody>
          <a:bodyPr>
            <a:noAutofit/>
          </a:bodyPr>
          <a:lstStyle/>
          <a:p>
            <a:pPr algn="ctr"/>
            <a:r>
              <a:rPr lang="en-ID" sz="5400" b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Terimakasih</a:t>
            </a:r>
            <a:r>
              <a:rPr lang="en-ID" sz="5400" b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.</a:t>
            </a:r>
            <a:endParaRPr lang="id-ID" sz="5400" b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/>
          <a:lstStyle/>
          <a:p>
            <a:fld id="{10E4A4DB-036F-4816-A98C-42C4167E83C5}" type="slidenum">
              <a:rPr lang="en-US" sz="1600">
                <a:solidFill>
                  <a:schemeClr val="bg1">
                    <a:lumMod val="75000"/>
                  </a:schemeClr>
                </a:solidFill>
              </a:rPr>
              <a:pPr/>
              <a:t>23</a:t>
            </a:fld>
            <a:endParaRPr lang="en-US" sz="160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20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8e8cb4bfcc71408835458d81e4acd2756fca537"/>
</p:tagLst>
</file>

<file path=ppt/theme/theme1.xml><?xml version="1.0" encoding="utf-8"?>
<a:theme xmlns:a="http://schemas.openxmlformats.org/drawingml/2006/main" name="Presentation level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tx2">
              <a:lumMod val="20000"/>
              <a:lumOff val="80000"/>
            </a:schemeClr>
          </a:solidFill>
        </a:ln>
      </a:spPr>
      <a:bodyPr wrap="none" rtlCol="0">
        <a:spAutoFit/>
      </a:bodyPr>
      <a:lstStyle>
        <a:defPPr>
          <a:defRPr dirty="0" err="1" smtClean="0">
            <a:ln>
              <a:solidFill>
                <a:schemeClr val="accent1">
                  <a:lumMod val="20000"/>
                  <a:lumOff val="80000"/>
                </a:schemeClr>
              </a:solidFill>
            </a:ln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 level design" id="{00E2FDB5-77A3-416C-8232-A2B8AB0B9A01}" vid="{6E3E8A63-E899-4F92-AFE5-C80B3CCFC0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163AA760-FEA7-44E2-BB85-0893DB8CD7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 design slides (Level design)</Template>
  <TotalTime>0</TotalTime>
  <Words>926</Words>
  <Application>Microsoft Office PowerPoint</Application>
  <PresentationFormat>Layar Lebar</PresentationFormat>
  <Paragraphs>133</Paragraphs>
  <Slides>23</Slides>
  <Notes>23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23</vt:i4>
      </vt:variant>
    </vt:vector>
  </HeadingPairs>
  <TitlesOfParts>
    <vt:vector size="27" baseType="lpstr">
      <vt:lpstr>Century Gothic</vt:lpstr>
      <vt:lpstr>Times New Roman</vt:lpstr>
      <vt:lpstr>Wingdings</vt:lpstr>
      <vt:lpstr>Presentation level design</vt:lpstr>
      <vt:lpstr>ANALISA DAN PERANCANGAN SISTEM</vt:lpstr>
      <vt:lpstr>Objektif</vt:lpstr>
      <vt:lpstr>Pengertian</vt:lpstr>
      <vt:lpstr>Komponen dalam Use Case Diagram</vt:lpstr>
      <vt:lpstr>Presentasi PowerPoint</vt:lpstr>
      <vt:lpstr>Aktor</vt:lpstr>
      <vt:lpstr>Use Case</vt:lpstr>
      <vt:lpstr>Relationship</vt:lpstr>
      <vt:lpstr>Relationship (include)</vt:lpstr>
      <vt:lpstr>Relationship (Extend)</vt:lpstr>
      <vt:lpstr>Memodelkan Kebutuhan Sistem</vt:lpstr>
      <vt:lpstr>Langkah2 untuk memodelkan kebutuhan system:</vt:lpstr>
      <vt:lpstr>Pertanyaan untuk mengidentifikasi para aktor:</vt:lpstr>
      <vt:lpstr>Pertanyaan untuk mengidentifikasi use case:</vt:lpstr>
      <vt:lpstr>Pertimbangan yg harus dilakukan ketika menggambarkan use case:</vt:lpstr>
      <vt:lpstr>USE CASE SCENARIO</vt:lpstr>
      <vt:lpstr>Contoh Deskripsi Use Case</vt:lpstr>
      <vt:lpstr>Kesalahan dalam memodelkan use case: Proses Pemodelan</vt:lpstr>
      <vt:lpstr>Kesalahan dalam memodelkan use case: Menentukan Batas Sistem</vt:lpstr>
      <vt:lpstr>Kesalahan dalam memodelkan use case: Mencampur Tingkat Abstraksi yang Berbeda</vt:lpstr>
      <vt:lpstr>Kesalahan dalam memodelkan use case: Dekomposisi Fungsional</vt:lpstr>
      <vt:lpstr>Kesalahan dalam memodelkan use case: Pemodelan Use Case Berlebihan</vt:lpstr>
      <vt:lpstr>Terimakasih.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Rekayasa Perangkat Lunak</dc:title>
  <dc:creator/>
  <cp:keywords/>
  <cp:lastModifiedBy>Habib Abdul Ghani</cp:lastModifiedBy>
  <cp:revision>2</cp:revision>
  <dcterms:created xsi:type="dcterms:W3CDTF">2015-04-13T14:54:49Z</dcterms:created>
  <dcterms:modified xsi:type="dcterms:W3CDTF">2025-05-22T12:05:54Z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TC034605409991</vt:lpwstr>
  </property>
</Properties>
</file>