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2"/>
  </p:sldMasterIdLst>
  <p:notesMasterIdLst>
    <p:notesMasterId r:id="rId13"/>
  </p:notesMasterIdLst>
  <p:handoutMasterIdLst>
    <p:handoutMasterId r:id="rId14"/>
  </p:handoutMasterIdLst>
  <p:sldIdLst>
    <p:sldId id="257" r:id="rId3"/>
    <p:sldId id="316" r:id="rId4"/>
    <p:sldId id="320" r:id="rId5"/>
    <p:sldId id="321" r:id="rId6"/>
    <p:sldId id="322" r:id="rId7"/>
    <p:sldId id="323" r:id="rId8"/>
    <p:sldId id="329" r:id="rId9"/>
    <p:sldId id="326" r:id="rId10"/>
    <p:sldId id="328" r:id="rId11"/>
    <p:sldId id="313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4" autoAdjust="0"/>
    <p:restoredTop sz="86775" autoAdjust="0"/>
  </p:normalViewPr>
  <p:slideViewPr>
    <p:cSldViewPr snapToGrid="0">
      <p:cViewPr varScale="1">
        <p:scale>
          <a:sx n="64" d="100"/>
          <a:sy n="64" d="100"/>
        </p:scale>
        <p:origin x="91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ib Abdul Ghani" userId="5eb70394735b742f" providerId="LiveId" clId="{85BE1D4F-9170-4302-8B63-90D245A890BC}"/>
    <pc:docChg chg="mod">
      <pc:chgData name="Habib Abdul Ghani" userId="5eb70394735b742f" providerId="LiveId" clId="{85BE1D4F-9170-4302-8B63-90D245A890BC}" dt="2025-06-12T12:04:47.548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66D5-35F2-4B2B-B66A-28018F61912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073D5-63C2-4933-B970-D96552757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81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7E8A-1102-47A1-B1C3-36AE88809383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11EAB-687D-4AE4-B775-678A923E9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9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1524000" y="6152219"/>
            <a:ext cx="9144001" cy="196717"/>
            <a:chOff x="996683" y="7236484"/>
            <a:chExt cx="9144001" cy="196717"/>
          </a:xfrm>
        </p:grpSpPr>
        <p:sp>
          <p:nvSpPr>
            <p:cNvPr id="19" name="Rectangle 18" descr="Gold bar"/>
            <p:cNvSpPr>
              <a:spLocks noChangeArrowheads="1"/>
            </p:cNvSpPr>
            <p:nvPr/>
          </p:nvSpPr>
          <p:spPr bwMode="auto">
            <a:xfrm rot="16200000" flipH="1">
              <a:off x="2422556" y="5810611"/>
              <a:ext cx="196717" cy="30484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 descr="Orange bar"/>
            <p:cNvSpPr>
              <a:spLocks noChangeArrowheads="1"/>
            </p:cNvSpPr>
            <p:nvPr/>
          </p:nvSpPr>
          <p:spPr bwMode="auto">
            <a:xfrm rot="16200000" flipH="1">
              <a:off x="5471019" y="5810611"/>
              <a:ext cx="196717" cy="3048463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0" descr="Slate bar"/>
            <p:cNvSpPr>
              <a:spLocks noChangeArrowheads="1"/>
            </p:cNvSpPr>
            <p:nvPr/>
          </p:nvSpPr>
          <p:spPr bwMode="auto">
            <a:xfrm rot="16200000" flipH="1">
              <a:off x="8518094" y="5810611"/>
              <a:ext cx="196717" cy="3048463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4800" y="2811515"/>
            <a:ext cx="5283200" cy="6936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12610"/>
            <a:ext cx="9144000" cy="1789767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141" y="914400"/>
            <a:ext cx="10515600" cy="57911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634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4844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C686ADCF-B5CA-436A-A5C1-A300F9569D58}" type="datetime1">
              <a:rPr lang="id-ID" smtClean="0"/>
              <a:t>12/06/2025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95C5969-347A-46F1-AD1E-276317F31C55}" type="datetime1">
              <a:rPr lang="id-ID" smtClean="0"/>
              <a:t>12/06/2025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C03CB6C5-E1DC-491F-9494-1720AF378D04}" type="datetime1">
              <a:rPr lang="id-ID" smtClean="0"/>
              <a:t>12/06/2025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95AE64A-A972-4E53-9661-A19B4181F189}" type="datetime1">
              <a:rPr lang="id-ID" smtClean="0"/>
              <a:t>12/06/2025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5A8A27A6-753A-474E-BFD2-5186AC234248}" type="datetime1">
              <a:rPr lang="id-ID" smtClean="0"/>
              <a:t>12/06/2025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4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566679B-CB9C-4A5F-BC54-B13C157E58EB}" type="datetime1">
              <a:rPr lang="id-ID" smtClean="0"/>
              <a:t>12/06/2025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8BEF66A8-5194-4801-99D6-C7AE4320DF7B}" type="datetime1">
              <a:rPr lang="id-ID" smtClean="0"/>
              <a:t>12/06/2025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D34CFA0-0A11-4C78-A48A-4847410C7A05}" type="datetime1">
              <a:rPr lang="id-ID" smtClean="0"/>
              <a:t>12/06/2025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177E54FA-B509-469F-AE99-235A352EF97A}" type="datetime1">
              <a:rPr lang="id-ID" smtClean="0"/>
              <a:t>12/06/2025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6"/>
            <a:ext cx="12188952" cy="6858006"/>
            <a:chOff x="-2728" y="-5"/>
            <a:chExt cx="12188952" cy="6858006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27" y="-5"/>
              <a:ext cx="716424" cy="6858000"/>
              <a:chOff x="-2727" y="-5"/>
              <a:chExt cx="716424" cy="6858000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27" y="-5"/>
                <a:ext cx="571473" cy="6858000"/>
                <a:chOff x="6048440" y="-936481"/>
                <a:chExt cx="196717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566005" y="-5"/>
                <a:ext cx="147692" cy="6858000"/>
                <a:chOff x="6048440" y="-936481"/>
                <a:chExt cx="196717" cy="9144001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01302" y="637086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839243"/>
            <a:ext cx="10515600" cy="588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6676" y="0"/>
            <a:ext cx="10515600" cy="588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9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9944" y="1818981"/>
            <a:ext cx="5283200" cy="519483"/>
          </a:xfrm>
        </p:spPr>
        <p:txBody>
          <a:bodyPr>
            <a:normAutofit/>
          </a:bodyPr>
          <a:lstStyle/>
          <a:p>
            <a:pPr algn="r"/>
            <a:r>
              <a:rPr lang="en-ID" sz="2800" b="1" dirty="0">
                <a:solidFill>
                  <a:srgbClr val="FF0000"/>
                </a:solidFill>
              </a:rPr>
              <a:t>Class Diagram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300" y="557509"/>
            <a:ext cx="11099800" cy="939800"/>
          </a:xfrm>
        </p:spPr>
        <p:txBody>
          <a:bodyPr>
            <a:noAutofit/>
          </a:bodyPr>
          <a:lstStyle/>
          <a:p>
            <a:r>
              <a:rPr lang="en-US" sz="4800" b="1" dirty="0"/>
              <a:t>Analisa dan </a:t>
            </a:r>
            <a:r>
              <a:rPr lang="en-US" sz="4800" b="1" dirty="0" err="1"/>
              <a:t>Perancangan</a:t>
            </a:r>
            <a:r>
              <a:rPr lang="en-US" sz="4800" b="1" dirty="0"/>
              <a:t> </a:t>
            </a:r>
            <a:r>
              <a:rPr lang="en-US" sz="4800" b="1" dirty="0" err="1"/>
              <a:t>Sistem</a:t>
            </a:r>
            <a:endParaRPr lang="en-US" sz="48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1</a:t>
            </a:fld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257847" y="2338464"/>
            <a:ext cx="3149600" cy="374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Dola Irwanto S.Kom.,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.MSI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720F04-1A66-5C6C-0378-DA8AE6FAF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209" y="2338464"/>
            <a:ext cx="3161791" cy="3161791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0" y="6463367"/>
            <a:ext cx="561975" cy="374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V1.0</a:t>
            </a:r>
            <a:endParaRPr lang="id-ID" sz="16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9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2</a:t>
            </a:fld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885372"/>
            <a:ext cx="10515600" cy="5617027"/>
          </a:xfrm>
        </p:spPr>
        <p:txBody>
          <a:bodyPr>
            <a:normAutofit fontScale="85000" lnSpcReduction="20000"/>
          </a:bodyPr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SzPct val="60000"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en-US" dirty="0" err="1"/>
              <a:t>Sebuah</a:t>
            </a:r>
            <a:r>
              <a:rPr lang="en-US" altLang="en-US" dirty="0"/>
              <a:t> </a:t>
            </a:r>
            <a:r>
              <a:rPr lang="en-US" altLang="en-US" dirty="0" err="1"/>
              <a:t>kelas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blueprint (</a:t>
            </a:r>
            <a:r>
              <a:rPr lang="en-US" altLang="en-US" dirty="0" err="1"/>
              <a:t>gagasan</a:t>
            </a:r>
            <a:r>
              <a:rPr lang="en-US" altLang="en-US" dirty="0"/>
              <a:t>)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sebuah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.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hal</a:t>
            </a:r>
            <a:r>
              <a:rPr lang="en-US" altLang="en-US" dirty="0"/>
              <a:t> </a:t>
            </a:r>
            <a:r>
              <a:rPr lang="en-US" altLang="en-US" dirty="0" err="1"/>
              <a:t>ini</a:t>
            </a:r>
            <a:r>
              <a:rPr lang="en-US" altLang="en-US" dirty="0"/>
              <a:t>, </a:t>
            </a:r>
            <a:r>
              <a:rPr lang="en-US" altLang="en-US" dirty="0" err="1"/>
              <a:t>kelas</a:t>
            </a:r>
            <a:r>
              <a:rPr lang="en-US" altLang="en-US" dirty="0"/>
              <a:t> </a:t>
            </a:r>
            <a:r>
              <a:rPr lang="en-US" altLang="en-US" dirty="0" err="1"/>
              <a:t>menggambarkan</a:t>
            </a:r>
            <a:r>
              <a:rPr lang="en-US" altLang="en-US" dirty="0"/>
              <a:t> </a:t>
            </a:r>
            <a:r>
              <a:rPr lang="en-US" altLang="en-US" dirty="0" err="1"/>
              <a:t>tipe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, </a:t>
            </a:r>
            <a:r>
              <a:rPr lang="en-US" altLang="en-US" dirty="0" err="1"/>
              <a:t>sedangkan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instansi</a:t>
            </a:r>
            <a:r>
              <a:rPr lang="en-US" altLang="en-US" dirty="0"/>
              <a:t> yang </a:t>
            </a:r>
            <a:r>
              <a:rPr lang="en-US" altLang="en-US" dirty="0" err="1"/>
              <a:t>dapat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</a:t>
            </a:r>
            <a:r>
              <a:rPr lang="en-US" altLang="en-US" dirty="0" err="1"/>
              <a:t>kelas</a:t>
            </a:r>
            <a:r>
              <a:rPr lang="en-US" altLang="en-US" dirty="0"/>
              <a:t> </a:t>
            </a:r>
            <a:r>
              <a:rPr lang="en-US" altLang="en-US" dirty="0" err="1"/>
              <a:t>tersebut</a:t>
            </a:r>
            <a:r>
              <a:rPr lang="en-US" altLang="en-US" dirty="0"/>
              <a:t>.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SzPct val="60000"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endParaRPr lang="en-US" altLang="en-US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SzPct val="60000"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en-US" dirty="0" err="1"/>
              <a:t>Tujuan</a:t>
            </a:r>
            <a:r>
              <a:rPr lang="en-US" altLang="en-US" dirty="0"/>
              <a:t> </a:t>
            </a:r>
            <a:r>
              <a:rPr lang="en-US" altLang="en-US" dirty="0" err="1"/>
              <a:t>utama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Desain </a:t>
            </a:r>
            <a:r>
              <a:rPr lang="en-US" altLang="en-US" dirty="0" err="1"/>
              <a:t>Berorientasi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</a:t>
            </a:r>
            <a:r>
              <a:rPr lang="en-US" altLang="en-US" dirty="0" err="1"/>
              <a:t>bukanlah</a:t>
            </a:r>
            <a:r>
              <a:rPr lang="en-US" altLang="en-US" dirty="0"/>
              <a:t> </a:t>
            </a:r>
            <a:r>
              <a:rPr lang="en-US" altLang="en-US" dirty="0" err="1"/>
              <a:t>tentang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 </a:t>
            </a:r>
            <a:r>
              <a:rPr lang="en-US" altLang="en-US" dirty="0" err="1"/>
              <a:t>itu</a:t>
            </a:r>
            <a:r>
              <a:rPr lang="en-US" altLang="en-US" dirty="0"/>
              <a:t> </a:t>
            </a:r>
            <a:r>
              <a:rPr lang="en-US" altLang="en-US" dirty="0" err="1"/>
              <a:t>sendiri</a:t>
            </a:r>
            <a:r>
              <a:rPr lang="en-US" altLang="en-US" dirty="0"/>
              <a:t>, </a:t>
            </a:r>
            <a:r>
              <a:rPr lang="en-US" altLang="en-US" dirty="0" err="1"/>
              <a:t>melainkan</a:t>
            </a:r>
            <a:r>
              <a:rPr lang="en-US" altLang="en-US" dirty="0"/>
              <a:t> </a:t>
            </a:r>
            <a:r>
              <a:rPr lang="en-US" altLang="en-US" dirty="0" err="1"/>
              <a:t>tentang</a:t>
            </a:r>
            <a:r>
              <a:rPr lang="en-US" altLang="en-US" dirty="0"/>
              <a:t> </a:t>
            </a:r>
            <a:r>
              <a:rPr lang="en-US" altLang="en-US" dirty="0" err="1"/>
              <a:t>kelas-kelas</a:t>
            </a:r>
            <a:r>
              <a:rPr lang="en-US" altLang="en-US" dirty="0"/>
              <a:t> yang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</a:t>
            </a:r>
            <a:r>
              <a:rPr lang="en-US" altLang="en-US" dirty="0" err="1"/>
              <a:t>objek</a:t>
            </a:r>
            <a:r>
              <a:rPr lang="en-US" altLang="en-US" dirty="0"/>
              <a:t>.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SzPct val="60000"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endParaRPr lang="en-US" altLang="en-US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SzPct val="60000"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en-US" dirty="0"/>
              <a:t>Class </a:t>
            </a:r>
            <a:r>
              <a:rPr lang="en-US" altLang="en-US" dirty="0" err="1"/>
              <a:t>menggambarkan</a:t>
            </a:r>
            <a:r>
              <a:rPr lang="en-US" altLang="en-US" dirty="0"/>
              <a:t> </a:t>
            </a:r>
            <a:r>
              <a:rPr lang="en-US" altLang="en-US" dirty="0" err="1"/>
              <a:t>keadaan</a:t>
            </a:r>
            <a:r>
              <a:rPr lang="en-US" altLang="en-US" dirty="0"/>
              <a:t> (</a:t>
            </a:r>
            <a:r>
              <a:rPr lang="en-US" altLang="en-US" dirty="0" err="1"/>
              <a:t>atribut</a:t>
            </a:r>
            <a:r>
              <a:rPr lang="en-US" altLang="en-US" dirty="0"/>
              <a:t> / </a:t>
            </a:r>
            <a:r>
              <a:rPr lang="en-US" altLang="en-US" dirty="0" err="1"/>
              <a:t>properti</a:t>
            </a:r>
            <a:r>
              <a:rPr lang="en-US" altLang="en-US" dirty="0"/>
              <a:t>) </a:t>
            </a:r>
            <a:r>
              <a:rPr lang="en-US" altLang="en-US" dirty="0" err="1"/>
              <a:t>suatu</a:t>
            </a:r>
            <a:r>
              <a:rPr lang="en-US" altLang="en-US" dirty="0"/>
              <a:t> </a:t>
            </a:r>
            <a:r>
              <a:rPr lang="en-US" altLang="en-US" dirty="0" err="1"/>
              <a:t>sistem</a:t>
            </a:r>
            <a:r>
              <a:rPr lang="en-US" altLang="en-US" dirty="0"/>
              <a:t>, </a:t>
            </a:r>
            <a:r>
              <a:rPr lang="en-US" altLang="en-US" dirty="0" err="1"/>
              <a:t>sekaligus</a:t>
            </a:r>
            <a:r>
              <a:rPr lang="en-US" altLang="en-US" dirty="0"/>
              <a:t> </a:t>
            </a:r>
            <a:r>
              <a:rPr lang="en-US" altLang="en-US" dirty="0" err="1"/>
              <a:t>menawarkan</a:t>
            </a:r>
            <a:r>
              <a:rPr lang="en-US" altLang="en-US" dirty="0"/>
              <a:t> </a:t>
            </a:r>
            <a:r>
              <a:rPr lang="en-US" altLang="en-US" dirty="0" err="1"/>
              <a:t>layanan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memanipulasi</a:t>
            </a:r>
            <a:r>
              <a:rPr lang="en-US" altLang="en-US" dirty="0"/>
              <a:t> </a:t>
            </a:r>
            <a:r>
              <a:rPr lang="en-US" altLang="en-US" dirty="0" err="1"/>
              <a:t>keadaan</a:t>
            </a:r>
            <a:r>
              <a:rPr lang="en-US" altLang="en-US" dirty="0"/>
              <a:t> </a:t>
            </a:r>
            <a:r>
              <a:rPr lang="en-US" altLang="en-US" dirty="0" err="1"/>
              <a:t>tersebut</a:t>
            </a:r>
            <a:r>
              <a:rPr lang="en-US" altLang="en-US" dirty="0"/>
              <a:t> (</a:t>
            </a:r>
            <a:r>
              <a:rPr lang="en-US" altLang="en-US" dirty="0" err="1"/>
              <a:t>metode</a:t>
            </a:r>
            <a:r>
              <a:rPr lang="en-US" altLang="en-US" dirty="0"/>
              <a:t> / </a:t>
            </a:r>
            <a:r>
              <a:rPr lang="en-US" altLang="en-US" dirty="0" err="1"/>
              <a:t>fungsi</a:t>
            </a:r>
            <a:r>
              <a:rPr lang="en-US" altLang="en-US" dirty="0"/>
              <a:t>).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3333CC"/>
              </a:buClr>
              <a:buSzPct val="60000"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endParaRPr lang="en-US" alt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Pengertian</a:t>
            </a:r>
            <a:r>
              <a:rPr lang="en-US" sz="3600" b="1" dirty="0"/>
              <a:t> Class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304424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3</a:t>
            </a:fld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349828"/>
            <a:ext cx="10515600" cy="515257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sv-SE"/>
              <a:t>Class Diagram adalah </a:t>
            </a:r>
            <a:r>
              <a:rPr lang="sv-SE" dirty="0"/>
              <a:t>notasi grafis yang digunakan untuk membangun dan memvisualisasikan sistem berorientasi objek.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  <a:p>
            <a:pPr marL="0" indent="0">
              <a:spcAft>
                <a:spcPts val="1200"/>
              </a:spcAft>
              <a:buNone/>
            </a:pPr>
            <a:r>
              <a:rPr lang="sv-SE" dirty="0"/>
              <a:t>Class memiliki tiga area pokok, yaitu 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sv-SE" dirty="0"/>
              <a:t>	-  Nama (dan stereotype)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sv-SE" dirty="0"/>
              <a:t>      	-  Atribut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sv-SE" dirty="0"/>
              <a:t>         -  Metode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id-ID" sz="3600" b="1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260883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diagram of a class&#10;&#10;Description automatically generated">
            <a:extLst>
              <a:ext uri="{FF2B5EF4-FFF2-40B4-BE49-F238E27FC236}">
                <a16:creationId xmlns:a16="http://schemas.microsoft.com/office/drawing/2014/main" id="{5606E4ED-5E74-4F36-8B97-4F59C79D26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7141" y="651353"/>
            <a:ext cx="10515600" cy="53088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16C810E-8678-3ACF-C588-6F5EDDA3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6345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D" dirty="0"/>
              <a:t>CLASS DIAGRAM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B2C30-3AAE-6DF4-0F16-971F541B0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4844" y="6356350"/>
            <a:ext cx="3276600" cy="365125"/>
          </a:xfrm>
        </p:spPr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4</a:t>
            </a:fld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06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EC2EFF-8986-6217-E6E3-3207EDA9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ATRIBUT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data yang </a:t>
            </a:r>
            <a:r>
              <a:rPr lang="en-ID" dirty="0" err="1"/>
              <a:t>dimiliki</a:t>
            </a:r>
            <a:r>
              <a:rPr lang="en-ID" dirty="0"/>
              <a:t> oleh </a:t>
            </a:r>
            <a:r>
              <a:rPr lang="en-ID" dirty="0" err="1"/>
              <a:t>obyek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. Nama, </a:t>
            </a:r>
            <a:r>
              <a:rPr lang="en-ID" dirty="0" err="1"/>
              <a:t>umur</a:t>
            </a:r>
            <a:r>
              <a:rPr lang="en-ID" dirty="0"/>
              <a:t>, </a:t>
            </a:r>
            <a:r>
              <a:rPr lang="en-ID" dirty="0" err="1"/>
              <a:t>berat</a:t>
            </a:r>
            <a:r>
              <a:rPr lang="en-ID" dirty="0"/>
              <a:t> badan,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obyek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orang.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obyek</a:t>
            </a:r>
            <a:r>
              <a:rPr lang="en-ID" dirty="0"/>
              <a:t> instance.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,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umur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“24” pada </a:t>
            </a:r>
            <a:r>
              <a:rPr lang="en-ID" dirty="0" err="1"/>
              <a:t>obyek</a:t>
            </a:r>
            <a:r>
              <a:rPr lang="en-ID" dirty="0"/>
              <a:t> John Smith.</a:t>
            </a:r>
          </a:p>
          <a:p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7B268-1904-0B42-7572-F40F32FF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 DIAGRAM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43637-F8DA-823C-9C5F-442C05D35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5</a:t>
            </a:fld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96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0C6A3-59E9-D722-1E0E-10A5619E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METODE</a:t>
            </a:r>
          </a:p>
          <a:p>
            <a:pPr marL="0" indent="0">
              <a:buNone/>
            </a:pP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.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,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“file”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print.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 err="1"/>
              <a:t>Atribut</a:t>
            </a:r>
            <a:r>
              <a:rPr lang="en-ID" dirty="0"/>
              <a:t> dan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sifat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:</a:t>
            </a:r>
          </a:p>
          <a:p>
            <a:r>
              <a:rPr lang="en-ID" b="1" dirty="0"/>
              <a:t>Public</a:t>
            </a:r>
            <a:r>
              <a:rPr lang="en-ID" dirty="0"/>
              <a:t>, (+)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dipanggil</a:t>
            </a:r>
            <a:r>
              <a:rPr lang="en-ID" dirty="0"/>
              <a:t> oleh 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.</a:t>
            </a:r>
          </a:p>
          <a:p>
            <a:r>
              <a:rPr lang="en-ID" b="1" dirty="0"/>
              <a:t>Private</a:t>
            </a:r>
            <a:r>
              <a:rPr lang="en-ID" dirty="0"/>
              <a:t>, (-)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dipanggil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luar</a:t>
            </a:r>
            <a:r>
              <a:rPr lang="en-ID" dirty="0"/>
              <a:t> class yang        </a:t>
            </a:r>
            <a:r>
              <a:rPr lang="en-ID" dirty="0" err="1"/>
              <a:t>bersangkutan</a:t>
            </a:r>
            <a:r>
              <a:rPr lang="en-ID" dirty="0"/>
              <a:t>.</a:t>
            </a:r>
          </a:p>
          <a:p>
            <a:r>
              <a:rPr lang="en-ID" b="1" dirty="0"/>
              <a:t>Protected</a:t>
            </a:r>
            <a:r>
              <a:rPr lang="en-ID" dirty="0"/>
              <a:t>, (#)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dipanggil</a:t>
            </a:r>
            <a:r>
              <a:rPr lang="en-ID" dirty="0"/>
              <a:t> oleh class yang       </a:t>
            </a:r>
            <a:r>
              <a:rPr lang="en-ID" dirty="0" err="1"/>
              <a:t>bersangkutan</a:t>
            </a:r>
            <a:r>
              <a:rPr lang="en-ID" dirty="0"/>
              <a:t> dan </a:t>
            </a:r>
            <a:r>
              <a:rPr lang="en-ID" dirty="0" err="1"/>
              <a:t>anak-anak</a:t>
            </a:r>
            <a:r>
              <a:rPr lang="en-ID" dirty="0"/>
              <a:t> yang </a:t>
            </a:r>
            <a:r>
              <a:rPr lang="en-ID" dirty="0" err="1"/>
              <a:t>mewarisinya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3AFE60-7101-36B6-B730-9DE7938A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CLASS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31D21-8CEB-5450-E4DD-9D1566062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6</a:t>
            </a:fld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65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520D05-722E-FC15-1725-8F222A263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dirty="0" err="1"/>
              <a:t>Multiplisitas</a:t>
            </a:r>
            <a:r>
              <a:rPr lang="en-ID" dirty="0"/>
              <a:t> (multiplicity) </a:t>
            </a:r>
            <a:r>
              <a:rPr lang="en-ID" dirty="0" err="1"/>
              <a:t>mengacu</a:t>
            </a:r>
            <a:r>
              <a:rPr lang="en-ID" dirty="0"/>
              <a:t> pada </a:t>
            </a:r>
            <a:r>
              <a:rPr lang="en-ID" dirty="0" err="1"/>
              <a:t>jumlah</a:t>
            </a:r>
            <a:r>
              <a:rPr lang="en-ID" dirty="0"/>
              <a:t> instance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terhubung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instance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lain.</a:t>
            </a:r>
          </a:p>
          <a:p>
            <a:pPr marL="0" indent="0">
              <a:buNone/>
            </a:pPr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multiplisitas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berapa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instance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terhubung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instance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lain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asosiasi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ditunjukkan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angka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yang </a:t>
            </a:r>
            <a:r>
              <a:rPr lang="en-ID" dirty="0" err="1"/>
              <a:t>ditempatkan</a:t>
            </a:r>
            <a:r>
              <a:rPr lang="en-ID" dirty="0"/>
              <a:t> </a:t>
            </a:r>
            <a:r>
              <a:rPr lang="en-ID" dirty="0" err="1"/>
              <a:t>dekat</a:t>
            </a:r>
            <a:r>
              <a:rPr lang="en-ID" dirty="0"/>
              <a:t> garis </a:t>
            </a:r>
            <a:r>
              <a:rPr lang="en-ID" dirty="0" err="1"/>
              <a:t>asosiasi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notasi</a:t>
            </a:r>
            <a:r>
              <a:rPr lang="en-ID" dirty="0"/>
              <a:t> </a:t>
            </a:r>
            <a:r>
              <a:rPr lang="en-ID" dirty="0" err="1"/>
              <a:t>multiplisitas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b="1" dirty="0"/>
              <a:t>0..1</a:t>
            </a:r>
            <a:r>
              <a:rPr lang="en-ID" dirty="0"/>
              <a:t>: Nol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instance.</a:t>
            </a:r>
          </a:p>
          <a:p>
            <a:pPr marL="0" indent="0">
              <a:buNone/>
            </a:pPr>
            <a:r>
              <a:rPr lang="en-ID" b="1" dirty="0"/>
              <a:t>0..*</a:t>
            </a:r>
            <a:r>
              <a:rPr lang="en-ID" dirty="0"/>
              <a:t>: Nol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instance.</a:t>
            </a:r>
          </a:p>
          <a:p>
            <a:pPr marL="0" indent="0">
              <a:buNone/>
            </a:pPr>
            <a:r>
              <a:rPr lang="en-ID" b="1" dirty="0"/>
              <a:t>1..1</a:t>
            </a:r>
            <a:r>
              <a:rPr lang="en-ID" dirty="0"/>
              <a:t>: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instance.</a:t>
            </a:r>
          </a:p>
          <a:p>
            <a:pPr marL="0" indent="0">
              <a:buNone/>
            </a:pPr>
            <a:r>
              <a:rPr lang="en-ID" b="1" dirty="0"/>
              <a:t>1..*</a:t>
            </a:r>
            <a:r>
              <a:rPr lang="en-ID" dirty="0"/>
              <a:t>: </a:t>
            </a:r>
            <a:r>
              <a:rPr lang="en-ID" dirty="0" err="1"/>
              <a:t>Setidaknya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instance.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6AE70E-A97B-0E54-DD7F-89535931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Multiplicity (</a:t>
            </a:r>
            <a:r>
              <a:rPr lang="en-US" dirty="0" err="1"/>
              <a:t>Multiplisitas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BD91-9297-18CE-AAB8-8DBEA052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7</a:t>
            </a:fld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07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C63F6E-C54E-5E96-C0FB-BCED7682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Sekolah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CAF96-8E86-169D-1F3F-D00385EE5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8</a:t>
            </a:fld>
            <a:endParaRPr lang="en-US" sz="1600" b="1">
              <a:solidFill>
                <a:srgbClr val="FF0000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45CC8E-5A29-4B1D-797D-1AC2672DC9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117991"/>
            <a:ext cx="10515600" cy="538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3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A57CE6-C428-7EA0-5536-383425A19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class diagram </a:t>
            </a:r>
            <a:r>
              <a:rPr lang="en-US" dirty="0" err="1"/>
              <a:t>dari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system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ID" dirty="0"/>
              <a:t>SISTEM PERPUSTAKAAN</a:t>
            </a:r>
          </a:p>
          <a:p>
            <a:r>
              <a:rPr lang="en-ID" dirty="0"/>
              <a:t>SISTEM KOPERASI SIMPAN PINJAM</a:t>
            </a:r>
          </a:p>
          <a:p>
            <a:r>
              <a:rPr lang="en-ID" dirty="0"/>
              <a:t>SISTEM JASA SERVICE KENDARAAN</a:t>
            </a:r>
          </a:p>
          <a:p>
            <a:r>
              <a:rPr lang="en-ID" dirty="0"/>
              <a:t>SISTEM APOTIK</a:t>
            </a:r>
          </a:p>
          <a:p>
            <a:r>
              <a:rPr lang="en-ID" dirty="0"/>
              <a:t>...........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87969D-FB1E-F708-182A-BC4BEC1E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3FFE4-BC8B-3F00-848C-C47C4099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 b="1" smtClean="0">
                <a:solidFill>
                  <a:srgbClr val="FF0000"/>
                </a:solidFill>
              </a:rPr>
              <a:pPr/>
              <a:t>9</a:t>
            </a:fld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6610" y="3228704"/>
            <a:ext cx="11585389" cy="634563"/>
          </a:xfrm>
        </p:spPr>
        <p:txBody>
          <a:bodyPr>
            <a:noAutofit/>
          </a:bodyPr>
          <a:lstStyle/>
          <a:p>
            <a:pPr algn="ctr"/>
            <a:r>
              <a:rPr lang="en-ID" sz="5400" b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Terimakasih</a:t>
            </a:r>
            <a:r>
              <a:rPr lang="en-ID" sz="5400" b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  <a:endParaRPr lang="id-ID" sz="5400" b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10</a:t>
            </a:fld>
            <a:endParaRPr lang="en-US" sz="16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2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8cb4bfcc71408835458d81e4acd2756fca537"/>
</p:tagLst>
</file>

<file path=ppt/theme/theme1.xml><?xml version="1.0" encoding="utf-8"?>
<a:theme xmlns:a="http://schemas.openxmlformats.org/drawingml/2006/main" name="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63AA760-FEA7-44E2-BB85-0893DB8C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design slides (Level design)</Template>
  <TotalTime>2</TotalTime>
  <Words>397</Words>
  <Application>Microsoft Office PowerPoint</Application>
  <PresentationFormat>Layar Lebar</PresentationFormat>
  <Paragraphs>65</Paragraphs>
  <Slides>10</Slides>
  <Notes>2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10</vt:i4>
      </vt:variant>
    </vt:vector>
  </HeadingPairs>
  <TitlesOfParts>
    <vt:vector size="14" baseType="lpstr">
      <vt:lpstr>Century Gothic</vt:lpstr>
      <vt:lpstr>Times New Roman</vt:lpstr>
      <vt:lpstr>Wingdings</vt:lpstr>
      <vt:lpstr>Presentation level design</vt:lpstr>
      <vt:lpstr>Analisa dan Perancangan Sistem</vt:lpstr>
      <vt:lpstr>Pengertian Class</vt:lpstr>
      <vt:lpstr>CLASS DIAGRAM</vt:lpstr>
      <vt:lpstr>CLASS DIAGRAM</vt:lpstr>
      <vt:lpstr>CLASS DIAGRAM</vt:lpstr>
      <vt:lpstr>CLASS DIAGRAM</vt:lpstr>
      <vt:lpstr>Multiplicity (Multiplisitas)</vt:lpstr>
      <vt:lpstr>Sistem Manajemen Sekolah</vt:lpstr>
      <vt:lpstr>Latihan</vt:lpstr>
      <vt:lpstr>Terimakasih.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Habib Abdul Ghani</cp:lastModifiedBy>
  <cp:revision>1</cp:revision>
  <dcterms:created xsi:type="dcterms:W3CDTF">2015-04-13T14:54:49Z</dcterms:created>
  <dcterms:modified xsi:type="dcterms:W3CDTF">2025-06-12T12:04:51Z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</Properties>
</file>