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2"/>
  </p:sldMasterIdLst>
  <p:notesMasterIdLst>
    <p:notesMasterId r:id="rId15"/>
  </p:notesMasterIdLst>
  <p:handoutMasterIdLst>
    <p:handoutMasterId r:id="rId16"/>
  </p:handoutMasterIdLst>
  <p:sldIdLst>
    <p:sldId id="257" r:id="rId3"/>
    <p:sldId id="318" r:id="rId4"/>
    <p:sldId id="324" r:id="rId5"/>
    <p:sldId id="321" r:id="rId6"/>
    <p:sldId id="327" r:id="rId7"/>
    <p:sldId id="322" r:id="rId8"/>
    <p:sldId id="323" r:id="rId9"/>
    <p:sldId id="326" r:id="rId10"/>
    <p:sldId id="328" r:id="rId11"/>
    <p:sldId id="325" r:id="rId12"/>
    <p:sldId id="320" r:id="rId13"/>
    <p:sldId id="313" r:id="rId14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53" autoAdjust="0"/>
    <p:restoredTop sz="82124" autoAdjust="0"/>
  </p:normalViewPr>
  <p:slideViewPr>
    <p:cSldViewPr snapToGrid="0">
      <p:cViewPr varScale="1">
        <p:scale>
          <a:sx n="61" d="100"/>
          <a:sy n="61" d="100"/>
        </p:scale>
        <p:origin x="1044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280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gs" Target="tags/tag1.xml"/><Relationship Id="rId2" Type="http://schemas.openxmlformats.org/officeDocument/2006/relationships/slideMaster" Target="slideMasters/slideMaster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8C66D5-35F2-4B2B-B66A-28018F61912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073D5-63C2-4933-B970-D96552757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4818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4B7E8A-1102-47A1-B1C3-36AE88809383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A11EAB-687D-4AE4-B775-678A923E9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103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33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959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 userDrawn="1"/>
        </p:nvGrpSpPr>
        <p:grpSpPr>
          <a:xfrm>
            <a:off x="1524000" y="6152219"/>
            <a:ext cx="9144001" cy="196717"/>
            <a:chOff x="996683" y="7236484"/>
            <a:chExt cx="9144001" cy="196717"/>
          </a:xfrm>
        </p:grpSpPr>
        <p:sp>
          <p:nvSpPr>
            <p:cNvPr id="19" name="Rectangle 18" descr="Gold bar"/>
            <p:cNvSpPr>
              <a:spLocks noChangeArrowheads="1"/>
            </p:cNvSpPr>
            <p:nvPr/>
          </p:nvSpPr>
          <p:spPr bwMode="auto">
            <a:xfrm rot="16200000" flipH="1">
              <a:off x="2422556" y="5810611"/>
              <a:ext cx="196717" cy="3048463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>
              <a:reflection blurRad="6350" stA="50000" endA="300" endPos="38500" dist="50800" dir="5400000" sy="-100000" algn="bl" rotWithShape="0"/>
            </a:effectLst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0" name="Rectangle 19" descr="Orange bar"/>
            <p:cNvSpPr>
              <a:spLocks noChangeArrowheads="1"/>
            </p:cNvSpPr>
            <p:nvPr/>
          </p:nvSpPr>
          <p:spPr bwMode="auto">
            <a:xfrm rot="16200000" flipH="1">
              <a:off x="5471019" y="5810611"/>
              <a:ext cx="196717" cy="3048463"/>
            </a:xfrm>
            <a:prstGeom prst="rect">
              <a:avLst/>
            </a:prstGeom>
            <a:solidFill>
              <a:schemeClr val="accent4"/>
            </a:solidFill>
            <a:ln w="9525">
              <a:noFill/>
              <a:miter lim="800000"/>
              <a:headEnd/>
              <a:tailEnd/>
            </a:ln>
            <a:effectLst>
              <a:reflection blurRad="6350" stA="50000" endA="300" endPos="38500" dist="50800" dir="5400000" sy="-100000" algn="bl" rotWithShape="0"/>
            </a:effectLst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1" name="Rectangle 20" descr="Slate bar"/>
            <p:cNvSpPr>
              <a:spLocks noChangeArrowheads="1"/>
            </p:cNvSpPr>
            <p:nvPr/>
          </p:nvSpPr>
          <p:spPr bwMode="auto">
            <a:xfrm rot="16200000" flipH="1">
              <a:off x="8518094" y="5810611"/>
              <a:ext cx="196717" cy="3048463"/>
            </a:xfrm>
            <a:prstGeom prst="rect">
              <a:avLst/>
            </a:prstGeom>
            <a:solidFill>
              <a:schemeClr val="accent6"/>
            </a:solidFill>
            <a:ln w="9525">
              <a:noFill/>
              <a:miter lim="800000"/>
              <a:headEnd/>
              <a:tailEnd/>
            </a:ln>
            <a:effectLst>
              <a:reflection blurRad="6350" stA="50000" endA="300" endPos="38500" dist="50800" dir="5400000" sy="-100000" algn="bl" rotWithShape="0"/>
            </a:effectLst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84800" y="2811515"/>
            <a:ext cx="5283200" cy="69368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12610"/>
            <a:ext cx="9144000" cy="1789767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0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7141" y="914400"/>
            <a:ext cx="10515600" cy="57911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6345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4844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076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62262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145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809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3" y="2193925"/>
            <a:ext cx="5157787" cy="3978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3" y="1489075"/>
            <a:ext cx="5157787" cy="6413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0" y="2193925"/>
            <a:ext cx="5156200" cy="3978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489075"/>
            <a:ext cx="5156200" cy="6413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74638"/>
            <a:ext cx="10515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24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28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41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592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01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93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126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6"/>
            <a:ext cx="12188952" cy="6858006"/>
            <a:chOff x="-2728" y="-5"/>
            <a:chExt cx="12188952" cy="6858006"/>
          </a:xfrm>
        </p:grpSpPr>
        <p:sp>
          <p:nvSpPr>
            <p:cNvPr id="26" name="Rectangle 25"/>
            <p:cNvSpPr/>
            <p:nvPr/>
          </p:nvSpPr>
          <p:spPr>
            <a:xfrm>
              <a:off x="-2728" y="1"/>
              <a:ext cx="121889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9" name="Group 38"/>
            <p:cNvGrpSpPr/>
            <p:nvPr/>
          </p:nvGrpSpPr>
          <p:grpSpPr>
            <a:xfrm>
              <a:off x="-2727" y="-5"/>
              <a:ext cx="716424" cy="6858000"/>
              <a:chOff x="-2727" y="-5"/>
              <a:chExt cx="716424" cy="6858000"/>
            </a:xfrm>
          </p:grpSpPr>
          <p:grpSp>
            <p:nvGrpSpPr>
              <p:cNvPr id="40" name="Group 39"/>
              <p:cNvGrpSpPr/>
              <p:nvPr/>
            </p:nvGrpSpPr>
            <p:grpSpPr>
              <a:xfrm>
                <a:off x="-2727" y="-5"/>
                <a:ext cx="571473" cy="6858000"/>
                <a:chOff x="6048440" y="-936481"/>
                <a:chExt cx="196717" cy="9144001"/>
              </a:xfrm>
            </p:grpSpPr>
            <p:sp>
              <p:nvSpPr>
                <p:cNvPr id="46" name="Rectangle 45" descr="Gold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5159057"/>
                  <a:ext cx="196717" cy="3048463"/>
                </a:xfrm>
                <a:prstGeom prst="rect">
                  <a:avLst/>
                </a:prstGeom>
                <a:solidFill>
                  <a:schemeClr val="accent6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" name="Rectangle 46" descr="Orange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2110594"/>
                  <a:ext cx="196717" cy="3048463"/>
                </a:xfrm>
                <a:prstGeom prst="rect">
                  <a:avLst/>
                </a:prstGeom>
                <a:solidFill>
                  <a:schemeClr val="accent4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8" name="Rectangle 47" descr="Slate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-936481"/>
                  <a:ext cx="196717" cy="3048463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1" name="Group 40"/>
              <p:cNvGrpSpPr/>
              <p:nvPr/>
            </p:nvGrpSpPr>
            <p:grpSpPr>
              <a:xfrm>
                <a:off x="566005" y="-5"/>
                <a:ext cx="147692" cy="6858000"/>
                <a:chOff x="6048440" y="-936481"/>
                <a:chExt cx="196717" cy="9144001"/>
              </a:xfrm>
            </p:grpSpPr>
            <p:sp>
              <p:nvSpPr>
                <p:cNvPr id="43" name="Rectangle 42" descr="Gold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5159057"/>
                  <a:ext cx="196717" cy="304846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6">
                        <a:lumMod val="40000"/>
                        <a:lumOff val="60000"/>
                      </a:schemeClr>
                    </a:gs>
                    <a:gs pos="100000">
                      <a:prstClr val="white"/>
                    </a:gs>
                  </a:gsLst>
                  <a:lin ang="0" scaled="1"/>
                  <a:tileRect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lvl="0" algn="ctr"/>
                  <a:endParaRPr 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4" name="Rectangle 43" descr="Orange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2110594"/>
                  <a:ext cx="196717" cy="304846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4">
                        <a:lumMod val="40000"/>
                        <a:lumOff val="60000"/>
                      </a:schemeClr>
                    </a:gs>
                    <a:gs pos="100000">
                      <a:prstClr val="white"/>
                    </a:gs>
                  </a:gsLst>
                  <a:lin ang="0" scaled="1"/>
                  <a:tileRect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" name="Rectangle 44" descr="Slate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-936481"/>
                  <a:ext cx="196717" cy="304846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0" scaled="1"/>
                  <a:tileRect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2" name="Rectangle 41"/>
              <p:cNvSpPr/>
              <p:nvPr/>
            </p:nvSpPr>
            <p:spPr>
              <a:xfrm>
                <a:off x="646782" y="-5"/>
                <a:ext cx="45719" cy="6858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01302" y="637086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7" name="Text Placeholder 2"/>
          <p:cNvSpPr>
            <a:spLocks noGrp="1"/>
          </p:cNvSpPr>
          <p:nvPr>
            <p:ph type="body" idx="1"/>
          </p:nvPr>
        </p:nvSpPr>
        <p:spPr>
          <a:xfrm>
            <a:off x="838200" y="839243"/>
            <a:ext cx="10515600" cy="58808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8" name="Title Placeholder 1"/>
          <p:cNvSpPr>
            <a:spLocks noGrp="1"/>
          </p:cNvSpPr>
          <p:nvPr>
            <p:ph type="title"/>
          </p:nvPr>
        </p:nvSpPr>
        <p:spPr>
          <a:xfrm>
            <a:off x="836676" y="0"/>
            <a:ext cx="10515600" cy="588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71908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0" y="1818981"/>
            <a:ext cx="5718144" cy="519483"/>
          </a:xfrm>
        </p:spPr>
        <p:txBody>
          <a:bodyPr>
            <a:normAutofit/>
          </a:bodyPr>
          <a:lstStyle/>
          <a:p>
            <a:pPr algn="r"/>
            <a:r>
              <a:rPr lang="en-ID" sz="2800" b="1" dirty="0" err="1">
                <a:solidFill>
                  <a:srgbClr val="FF0000"/>
                </a:solidFill>
              </a:rPr>
              <a:t>Mengenal</a:t>
            </a:r>
            <a:r>
              <a:rPr lang="en-ID" sz="2800" b="1" dirty="0">
                <a:solidFill>
                  <a:srgbClr val="FF0000"/>
                </a:solidFill>
              </a:rPr>
              <a:t> UML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9300" y="557509"/>
            <a:ext cx="11099800" cy="939800"/>
          </a:xfrm>
        </p:spPr>
        <p:txBody>
          <a:bodyPr>
            <a:noAutofit/>
          </a:bodyPr>
          <a:lstStyle/>
          <a:p>
            <a:r>
              <a:rPr lang="en-US" sz="4400" dirty="0"/>
              <a:t>ANALISA DAN PERANCANGAN SISTEM</a:t>
            </a:r>
            <a:endParaRPr lang="en-US" sz="4400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 vert="horz" lIns="91440" tIns="45720" rIns="91440" bIns="45720" rtlCol="0" anchor="ctr"/>
          <a:lstStyle/>
          <a:p>
            <a:fld id="{10E4A4DB-036F-4816-A98C-42C4167E83C5}" type="slidenum">
              <a:rPr lang="en-US" sz="1600">
                <a:solidFill>
                  <a:schemeClr val="bg1">
                    <a:lumMod val="75000"/>
                  </a:schemeClr>
                </a:solidFill>
              </a:rPr>
              <a:pPr/>
              <a:t>1</a:t>
            </a:fld>
            <a:endParaRPr lang="en-US" sz="1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8257847" y="2338464"/>
            <a:ext cx="3149600" cy="374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id-ID" sz="1600" b="1" i="1" dirty="0">
                <a:solidFill>
                  <a:schemeClr val="accent1">
                    <a:lumMod val="50000"/>
                  </a:schemeClr>
                </a:solidFill>
              </a:rPr>
              <a:t>Dola Irwanto S.Kom., </a:t>
            </a:r>
            <a:r>
              <a:rPr lang="en-US" sz="1600" b="1" i="1" dirty="0">
                <a:solidFill>
                  <a:schemeClr val="accent1">
                    <a:lumMod val="50000"/>
                  </a:schemeClr>
                </a:solidFill>
              </a:rPr>
              <a:t>M</a:t>
            </a:r>
            <a:r>
              <a:rPr lang="id-ID" sz="1600" b="1" i="1" dirty="0">
                <a:solidFill>
                  <a:schemeClr val="accent1">
                    <a:lumMod val="50000"/>
                  </a:schemeClr>
                </a:solidFill>
              </a:rPr>
              <a:t>.MSI</a:t>
            </a: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0" y="6463367"/>
            <a:ext cx="561975" cy="3747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i="1" dirty="0">
                <a:solidFill>
                  <a:schemeClr val="accent1">
                    <a:lumMod val="50000"/>
                  </a:schemeClr>
                </a:solidFill>
              </a:rPr>
              <a:t>V1.0</a:t>
            </a:r>
            <a:endParaRPr lang="id-ID" sz="1600" b="1" i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33" name="Picture 9" descr="Unified Modelling Language (UML) SVG and transparent PNG icons | TechIc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514" y="2338463"/>
            <a:ext cx="3435523" cy="3435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198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2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dirty="0" err="1"/>
              <a:t>Pengertian</a:t>
            </a:r>
            <a:r>
              <a:rPr lang="en-US" dirty="0"/>
              <a:t> UML</a:t>
            </a:r>
          </a:p>
          <a:p>
            <a:pPr>
              <a:spcAft>
                <a:spcPts val="1200"/>
              </a:spcAft>
            </a:pPr>
            <a:r>
              <a:rPr lang="en-US" dirty="0" err="1"/>
              <a:t>Sejarah</a:t>
            </a:r>
            <a:r>
              <a:rPr lang="en-US" dirty="0"/>
              <a:t> UML</a:t>
            </a:r>
          </a:p>
          <a:p>
            <a:pPr>
              <a:spcAft>
                <a:spcPts val="1200"/>
              </a:spcAft>
            </a:pPr>
            <a:r>
              <a:rPr lang="sv-SE" dirty="0"/>
              <a:t>Building Blocks</a:t>
            </a:r>
          </a:p>
          <a:p>
            <a:pPr>
              <a:spcAft>
                <a:spcPts val="1200"/>
              </a:spcAft>
            </a:pPr>
            <a:r>
              <a:rPr lang="sv-SE" dirty="0"/>
              <a:t>Diagram UML</a:t>
            </a: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sz="3600" b="1" dirty="0" err="1"/>
              <a:t>Objektif</a:t>
            </a:r>
            <a:endParaRPr lang="id-ID" sz="3600" b="1" dirty="0"/>
          </a:p>
        </p:txBody>
      </p:sp>
    </p:spTree>
    <p:extLst>
      <p:ext uri="{BB962C8B-B14F-4D97-AF65-F5344CB8AC3E}">
        <p14:creationId xmlns:p14="http://schemas.microsoft.com/office/powerpoint/2010/main" val="1530932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3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dirty="0"/>
              <a:t>Unified Modeling Language (UML)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</a:t>
            </a:r>
            <a:r>
              <a:rPr lang="en-US" dirty="0" err="1"/>
              <a:t>pemodelan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software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menjelaskan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menggambarkan</a:t>
            </a:r>
            <a:r>
              <a:rPr lang="en-US" dirty="0"/>
              <a:t> proses </a:t>
            </a:r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serta</a:t>
            </a:r>
            <a:r>
              <a:rPr lang="en-US" dirty="0"/>
              <a:t> design </a:t>
            </a:r>
            <a:r>
              <a:rPr lang="en-US" dirty="0" err="1"/>
              <a:t>berorientasi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.</a:t>
            </a:r>
          </a:p>
          <a:p>
            <a:pPr>
              <a:spcAft>
                <a:spcPts val="1200"/>
              </a:spcAft>
            </a:pPr>
            <a:endParaRPr lang="en-US" dirty="0"/>
          </a:p>
          <a:p>
            <a:pPr>
              <a:spcAft>
                <a:spcPts val="1200"/>
              </a:spcAft>
            </a:pPr>
            <a:r>
              <a:rPr lang="pt-BR" dirty="0"/>
              <a:t>UML memudahkan kita dalam menggambarkan atau merancang model orientasi objek kedalam berbagai level, mulai dari level abstrak hingga pada level implementasi. </a:t>
            </a:r>
            <a:endParaRPr lang="sv-SE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sz="3600" b="1" dirty="0" err="1"/>
              <a:t>Pengertian</a:t>
            </a:r>
            <a:r>
              <a:rPr lang="en-US" sz="3600" b="1" dirty="0"/>
              <a:t> UML</a:t>
            </a:r>
            <a:endParaRPr lang="id-ID" sz="3600" b="1" dirty="0"/>
          </a:p>
        </p:txBody>
      </p:sp>
    </p:spTree>
    <p:extLst>
      <p:ext uri="{BB962C8B-B14F-4D97-AF65-F5344CB8AC3E}">
        <p14:creationId xmlns:p14="http://schemas.microsoft.com/office/powerpoint/2010/main" val="180797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4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 fontScale="77500" lnSpcReduction="20000"/>
          </a:bodyPr>
          <a:lstStyle/>
          <a:p>
            <a:pPr>
              <a:spcAft>
                <a:spcPts val="1200"/>
              </a:spcAft>
            </a:pPr>
            <a:r>
              <a:rPr lang="en-US" dirty="0"/>
              <a:t>1967, </a:t>
            </a:r>
            <a:r>
              <a:rPr lang="en-US" dirty="0" err="1"/>
              <a:t>Bahasa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</a:t>
            </a:r>
            <a:r>
              <a:rPr lang="en-US" dirty="0" err="1"/>
              <a:t>berorientasi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yang </a:t>
            </a:r>
            <a:r>
              <a:rPr lang="en-US" dirty="0" err="1"/>
              <a:t>pertama</a:t>
            </a:r>
            <a:r>
              <a:rPr lang="en-US" dirty="0"/>
              <a:t> Simula-67.</a:t>
            </a:r>
          </a:p>
          <a:p>
            <a:pPr>
              <a:spcAft>
                <a:spcPts val="1200"/>
              </a:spcAft>
            </a:pPr>
            <a:r>
              <a:rPr lang="en-US" dirty="0"/>
              <a:t>1980, </a:t>
            </a:r>
            <a:r>
              <a:rPr lang="en-US" dirty="0" err="1"/>
              <a:t>Berkembangnya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Smalltalk, </a:t>
            </a:r>
            <a:r>
              <a:rPr lang="nl-NL" dirty="0"/>
              <a:t>C objek, C++, Eiffel, dan CLOS.</a:t>
            </a:r>
            <a:endParaRPr lang="en-US" dirty="0"/>
          </a:p>
          <a:p>
            <a:pPr>
              <a:spcAft>
                <a:spcPts val="1200"/>
              </a:spcAft>
            </a:pPr>
            <a:r>
              <a:rPr lang="en-US" dirty="0"/>
              <a:t>1990, </a:t>
            </a:r>
            <a:r>
              <a:rPr lang="en-US" dirty="0" err="1"/>
              <a:t>Konsep</a:t>
            </a:r>
            <a:r>
              <a:rPr lang="en-US" dirty="0"/>
              <a:t> OOP </a:t>
            </a:r>
            <a:r>
              <a:rPr lang="en-US" dirty="0" err="1"/>
              <a:t>hadir</a:t>
            </a:r>
            <a:r>
              <a:rPr lang="en-US" dirty="0"/>
              <a:t>, </a:t>
            </a:r>
            <a:r>
              <a:rPr lang="en-US" dirty="0" err="1"/>
              <a:t>seperti</a:t>
            </a:r>
            <a:r>
              <a:rPr lang="en-US" dirty="0"/>
              <a:t> The Classes, Responsibilities, Collaborators (CRC) </a:t>
            </a:r>
            <a:r>
              <a:rPr lang="en-US" dirty="0" err="1"/>
              <a:t>dari</a:t>
            </a:r>
            <a:r>
              <a:rPr lang="en-US" dirty="0"/>
              <a:t> Rebecca </a:t>
            </a:r>
            <a:r>
              <a:rPr lang="en-US" dirty="0" err="1"/>
              <a:t>Wirfs</a:t>
            </a:r>
            <a:r>
              <a:rPr lang="en-US" dirty="0"/>
              <a:t>-Brock.</a:t>
            </a:r>
          </a:p>
          <a:p>
            <a:pPr>
              <a:spcAft>
                <a:spcPts val="1200"/>
              </a:spcAft>
            </a:pPr>
            <a:r>
              <a:rPr lang="en-US" dirty="0"/>
              <a:t>1991, </a:t>
            </a:r>
            <a:r>
              <a:rPr lang="en-US" dirty="0" err="1"/>
              <a:t>Konsep</a:t>
            </a:r>
            <a:r>
              <a:rPr lang="en-US" dirty="0"/>
              <a:t> Object </a:t>
            </a:r>
            <a:r>
              <a:rPr lang="en-US" dirty="0" err="1"/>
              <a:t>Modelling</a:t>
            </a:r>
            <a:r>
              <a:rPr lang="en-US" dirty="0"/>
              <a:t> Technique (OMT) </a:t>
            </a:r>
            <a:r>
              <a:rPr lang="en-US" dirty="0" err="1"/>
              <a:t>dari</a:t>
            </a:r>
            <a:r>
              <a:rPr lang="en-US" dirty="0"/>
              <a:t> James R. </a:t>
            </a:r>
            <a:r>
              <a:rPr lang="en-US" dirty="0" err="1"/>
              <a:t>Rumbaugh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Grady </a:t>
            </a:r>
            <a:r>
              <a:rPr lang="en-US" dirty="0" err="1"/>
              <a:t>Booch</a:t>
            </a:r>
            <a:r>
              <a:rPr lang="en-US" dirty="0"/>
              <a:t>.</a:t>
            </a:r>
          </a:p>
          <a:p>
            <a:pPr>
              <a:spcAft>
                <a:spcPts val="1200"/>
              </a:spcAft>
            </a:pPr>
            <a:r>
              <a:rPr lang="en-US" dirty="0"/>
              <a:t>1996, James R. </a:t>
            </a:r>
            <a:r>
              <a:rPr lang="en-US" dirty="0" err="1"/>
              <a:t>Rumbaugh</a:t>
            </a:r>
            <a:r>
              <a:rPr lang="en-US" dirty="0"/>
              <a:t>, Grady </a:t>
            </a:r>
            <a:r>
              <a:rPr lang="en-US" dirty="0" err="1"/>
              <a:t>Booch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Ivar</a:t>
            </a:r>
            <a:r>
              <a:rPr lang="en-US" dirty="0"/>
              <a:t> Jacobson </a:t>
            </a:r>
            <a:r>
              <a:rPr lang="en-US" dirty="0" err="1"/>
              <a:t>bergabung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perusahaan</a:t>
            </a:r>
            <a:r>
              <a:rPr lang="en-US" dirty="0"/>
              <a:t> yang </a:t>
            </a:r>
            <a:r>
              <a:rPr lang="en-US" dirty="0" err="1"/>
              <a:t>bernama</a:t>
            </a:r>
            <a:r>
              <a:rPr lang="en-US" dirty="0"/>
              <a:t> Rational Software Corporation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yang </a:t>
            </a: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Unified Modeling Language (UML).</a:t>
            </a:r>
          </a:p>
          <a:p>
            <a:pPr>
              <a:spcAft>
                <a:spcPts val="1200"/>
              </a:spcAft>
            </a:pPr>
            <a:r>
              <a:rPr lang="en-US" dirty="0"/>
              <a:t>1996, Object Management Group (OMG) </a:t>
            </a:r>
            <a:r>
              <a:rPr lang="en-US" dirty="0" err="1"/>
              <a:t>mengajukan</a:t>
            </a:r>
            <a:r>
              <a:rPr lang="en-US" dirty="0"/>
              <a:t> proposal agar </a:t>
            </a:r>
            <a:r>
              <a:rPr lang="en-US" dirty="0" err="1"/>
              <a:t>adanya</a:t>
            </a:r>
            <a:r>
              <a:rPr lang="en-US" dirty="0"/>
              <a:t> </a:t>
            </a:r>
            <a:r>
              <a:rPr lang="en-US" dirty="0" err="1"/>
              <a:t>standarisasi</a:t>
            </a:r>
            <a:r>
              <a:rPr lang="en-US" dirty="0"/>
              <a:t> </a:t>
            </a:r>
            <a:r>
              <a:rPr lang="en-US" dirty="0" err="1"/>
              <a:t>pemodelan</a:t>
            </a:r>
            <a:r>
              <a:rPr lang="en-US" dirty="0"/>
              <a:t> </a:t>
            </a:r>
            <a:r>
              <a:rPr lang="en-US" dirty="0" err="1"/>
              <a:t>berorientasi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.</a:t>
            </a:r>
          </a:p>
          <a:p>
            <a:pPr>
              <a:spcAft>
                <a:spcPts val="1200"/>
              </a:spcAft>
            </a:pPr>
            <a:r>
              <a:rPr lang="sv-SE" dirty="0"/>
              <a:t>1997, UML diakomodasi oleh OMG sehingga sampai saat ini dalam metodologi berorientasi objek dan hal-hal yang terkait di dalamnya.</a:t>
            </a: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 err="1"/>
              <a:t>Sejarah</a:t>
            </a:r>
            <a:r>
              <a:rPr lang="en-US" dirty="0"/>
              <a:t> UML</a:t>
            </a:r>
            <a:endParaRPr lang="id-ID" sz="3600" b="1" dirty="0"/>
          </a:p>
        </p:txBody>
      </p:sp>
    </p:spTree>
    <p:extLst>
      <p:ext uri="{BB962C8B-B14F-4D97-AF65-F5344CB8AC3E}">
        <p14:creationId xmlns:p14="http://schemas.microsoft.com/office/powerpoint/2010/main" val="726671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5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 err="1"/>
              <a:t>Sejarah</a:t>
            </a:r>
            <a:r>
              <a:rPr lang="en-US" dirty="0"/>
              <a:t> UML</a:t>
            </a:r>
            <a:endParaRPr lang="id-ID" sz="36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781" y="1325533"/>
            <a:ext cx="10477781" cy="4368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8030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6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 lnSpcReduction="100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sv-SE" dirty="0"/>
              <a:t>Tiga macam yang terdapat dalam building block adalah :</a:t>
            </a:r>
          </a:p>
          <a:p>
            <a:pPr marL="514350" indent="-514350">
              <a:spcAft>
                <a:spcPts val="1200"/>
              </a:spcAft>
              <a:buFont typeface="+mj-lt"/>
              <a:buAutoNum type="arabicPeriod"/>
            </a:pPr>
            <a:r>
              <a:rPr lang="sv-SE" dirty="0"/>
              <a:t>Benda/Things 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sv-SE" dirty="0"/>
              <a:t>Adalah abstraksi yang pertama dalam sebuah model</a:t>
            </a:r>
          </a:p>
          <a:p>
            <a:pPr lvl="1">
              <a:spcAft>
                <a:spcPts val="1200"/>
              </a:spcAft>
              <a:buFont typeface="Wingdings" pitchFamily="2" charset="2"/>
              <a:buChar char="Ø"/>
            </a:pPr>
            <a:endParaRPr lang="sv-SE" dirty="0"/>
          </a:p>
          <a:p>
            <a:pPr marL="514350" indent="-514350">
              <a:spcAft>
                <a:spcPts val="1200"/>
              </a:spcAft>
              <a:buFont typeface="+mj-lt"/>
              <a:buAutoNum type="arabicPeriod"/>
            </a:pPr>
            <a:r>
              <a:rPr lang="sv-SE" dirty="0"/>
              <a:t>Hubungan/Relationships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sv-SE" dirty="0"/>
              <a:t>Sebagai alat komunikasi dari benda-benda</a:t>
            </a:r>
          </a:p>
          <a:p>
            <a:pPr marL="971550" lvl="1" indent="-514350">
              <a:spcAft>
                <a:spcPts val="1200"/>
              </a:spcAft>
              <a:buFont typeface="+mj-lt"/>
              <a:buAutoNum type="arabicPeriod"/>
            </a:pPr>
            <a:endParaRPr lang="sv-SE" dirty="0"/>
          </a:p>
          <a:p>
            <a:pPr marL="514350" indent="-514350">
              <a:spcAft>
                <a:spcPts val="1200"/>
              </a:spcAft>
              <a:buFont typeface="+mj-lt"/>
              <a:buAutoNum type="arabicPeriod"/>
            </a:pPr>
            <a:r>
              <a:rPr lang="sv-SE" dirty="0"/>
              <a:t>Bagan/Diagrams 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sv-SE" dirty="0"/>
              <a:t>Sebagai kumpulan / group dari benda-benda/things</a:t>
            </a:r>
          </a:p>
          <a:p>
            <a:pPr>
              <a:spcAft>
                <a:spcPts val="1200"/>
              </a:spcAft>
            </a:pPr>
            <a:endParaRPr lang="sv-SE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/>
              <a:t>Building Blocks</a:t>
            </a:r>
            <a:endParaRPr lang="id-ID" sz="3600" b="1" dirty="0"/>
          </a:p>
        </p:txBody>
      </p:sp>
    </p:spTree>
    <p:extLst>
      <p:ext uri="{BB962C8B-B14F-4D97-AF65-F5344CB8AC3E}">
        <p14:creationId xmlns:p14="http://schemas.microsoft.com/office/powerpoint/2010/main" val="2143131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7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1200"/>
              </a:spcAft>
            </a:pP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hal</a:t>
            </a:r>
            <a:r>
              <a:rPr lang="en-US" dirty="0"/>
              <a:t> yang </a:t>
            </a:r>
            <a:r>
              <a:rPr lang="en-US" dirty="0" err="1"/>
              <a:t>sangat</a:t>
            </a:r>
            <a:r>
              <a:rPr lang="en-US" dirty="0"/>
              <a:t> </a:t>
            </a:r>
            <a:r>
              <a:rPr lang="en-US" dirty="0" err="1"/>
              <a:t>mendasar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model UML, 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paling </a:t>
            </a:r>
            <a:r>
              <a:rPr lang="en-US" dirty="0" err="1"/>
              <a:t>statik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model,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menjelaskan</a:t>
            </a:r>
            <a:r>
              <a:rPr lang="en-US" dirty="0"/>
              <a:t> </a:t>
            </a:r>
            <a:r>
              <a:rPr lang="en-US" dirty="0" err="1"/>
              <a:t>elemen-elemen</a:t>
            </a:r>
            <a:r>
              <a:rPr lang="en-US" dirty="0"/>
              <a:t> </a:t>
            </a:r>
            <a:r>
              <a:rPr lang="en-US" dirty="0" err="1"/>
              <a:t>lainnya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fisik</a:t>
            </a:r>
            <a:r>
              <a:rPr lang="en-US" dirty="0"/>
              <a:t>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sv-SE" dirty="0"/>
              <a:t>Bentuk dari beberapa benda / thing adalah sebagai berikut : </a:t>
            </a:r>
          </a:p>
          <a:p>
            <a:pPr>
              <a:spcAft>
                <a:spcPts val="1200"/>
              </a:spcAft>
            </a:pPr>
            <a:r>
              <a:rPr lang="sv-SE" dirty="0"/>
              <a:t>Classes,</a:t>
            </a:r>
          </a:p>
          <a:p>
            <a:pPr>
              <a:spcAft>
                <a:spcPts val="1200"/>
              </a:spcAft>
            </a:pPr>
            <a:endParaRPr lang="sv-SE" dirty="0"/>
          </a:p>
          <a:p>
            <a:pPr>
              <a:spcAft>
                <a:spcPts val="1200"/>
              </a:spcAft>
            </a:pPr>
            <a:endParaRPr lang="sv-SE" dirty="0"/>
          </a:p>
          <a:p>
            <a:pPr marL="0" indent="0">
              <a:spcAft>
                <a:spcPts val="1200"/>
              </a:spcAft>
              <a:buNone/>
            </a:pPr>
            <a:endParaRPr lang="sv-SE" dirty="0"/>
          </a:p>
          <a:p>
            <a:pPr>
              <a:spcAft>
                <a:spcPts val="1200"/>
              </a:spcAft>
            </a:pPr>
            <a:r>
              <a:rPr lang="sv-SE" dirty="0"/>
              <a:t>Interfaces,</a:t>
            </a:r>
          </a:p>
          <a:p>
            <a:pPr>
              <a:spcAft>
                <a:spcPts val="1200"/>
              </a:spcAft>
            </a:pPr>
            <a:endParaRPr lang="sv-SE" dirty="0"/>
          </a:p>
          <a:p>
            <a:pPr marL="0" indent="0">
              <a:spcAft>
                <a:spcPts val="1200"/>
              </a:spcAft>
              <a:buNone/>
            </a:pPr>
            <a:endParaRPr lang="sv-SE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/>
              <a:t>Building Blocks (</a:t>
            </a:r>
            <a:r>
              <a:rPr lang="id-ID" dirty="0"/>
              <a:t>Benda/Things</a:t>
            </a:r>
            <a:r>
              <a:rPr lang="en-US" dirty="0"/>
              <a:t>)</a:t>
            </a:r>
            <a:endParaRPr lang="id-ID" sz="3600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996856"/>
            <a:ext cx="2286000" cy="218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6407" y="5456785"/>
            <a:ext cx="971550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7233" y="2970648"/>
            <a:ext cx="1790700" cy="101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7233" y="4087468"/>
            <a:ext cx="2047875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7758" y="5269142"/>
            <a:ext cx="1657350" cy="136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Content Placeholder 1"/>
          <p:cNvSpPr txBox="1">
            <a:spLocks/>
          </p:cNvSpPr>
          <p:nvPr/>
        </p:nvSpPr>
        <p:spPr>
          <a:xfrm>
            <a:off x="5726277" y="3105330"/>
            <a:ext cx="5761912" cy="3594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sv-SE" dirty="0"/>
              <a:t>Collaboration,</a:t>
            </a:r>
          </a:p>
          <a:p>
            <a:pPr>
              <a:spcAft>
                <a:spcPts val="1200"/>
              </a:spcAft>
            </a:pPr>
            <a:endParaRPr lang="sv-SE" dirty="0"/>
          </a:p>
          <a:p>
            <a:pPr>
              <a:spcAft>
                <a:spcPts val="1200"/>
              </a:spcAft>
            </a:pPr>
            <a:r>
              <a:rPr lang="sv-SE" dirty="0"/>
              <a:t>Use cases, </a:t>
            </a:r>
          </a:p>
          <a:p>
            <a:pPr>
              <a:spcAft>
                <a:spcPts val="1200"/>
              </a:spcAft>
            </a:pPr>
            <a:endParaRPr lang="sv-SE" dirty="0"/>
          </a:p>
          <a:p>
            <a:pPr>
              <a:spcAft>
                <a:spcPts val="1200"/>
              </a:spcAft>
            </a:pPr>
            <a:r>
              <a:rPr lang="sv-SE" dirty="0"/>
              <a:t>Nodes,</a:t>
            </a:r>
          </a:p>
          <a:p>
            <a:pPr>
              <a:spcAft>
                <a:spcPts val="1200"/>
              </a:spcAft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549183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8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 fontScale="92500" lnSpcReduction="200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sv-SE" dirty="0"/>
              <a:t>Ada 4 macam hubungan didalam penggunaan UML</a:t>
            </a:r>
          </a:p>
          <a:p>
            <a:pPr>
              <a:spcAft>
                <a:spcPts val="1200"/>
              </a:spcAft>
            </a:pPr>
            <a:r>
              <a:rPr lang="sv-SE" b="1" dirty="0"/>
              <a:t>Dependency</a:t>
            </a:r>
            <a:r>
              <a:rPr lang="sv-SE" dirty="0"/>
              <a:t>,</a:t>
            </a:r>
            <a:br>
              <a:rPr lang="sv-SE" dirty="0"/>
            </a:b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hubungan</a:t>
            </a:r>
            <a:r>
              <a:rPr lang="en-US" dirty="0"/>
              <a:t> </a:t>
            </a:r>
            <a:r>
              <a:rPr lang="en-US" dirty="0" err="1"/>
              <a:t>semantik</a:t>
            </a:r>
            <a:r>
              <a:rPr lang="en-US" dirty="0"/>
              <a:t> </a:t>
            </a:r>
            <a:r>
              <a:rPr lang="en-US" dirty="0" err="1"/>
              <a:t>diantara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buah</a:t>
            </a:r>
            <a:r>
              <a:rPr lang="en-US" dirty="0"/>
              <a:t> </a:t>
            </a:r>
            <a:r>
              <a:rPr lang="en-US" dirty="0" err="1"/>
              <a:t>benda</a:t>
            </a:r>
            <a:r>
              <a:rPr lang="en-US" dirty="0"/>
              <a:t>/things </a:t>
            </a:r>
            <a:r>
              <a:rPr lang="en-US" dirty="0" err="1"/>
              <a:t>dimana</a:t>
            </a:r>
            <a:r>
              <a:rPr lang="en-US" dirty="0"/>
              <a:t> </a:t>
            </a:r>
            <a:r>
              <a:rPr lang="en-US" dirty="0" err="1"/>
              <a:t>keduanya</a:t>
            </a:r>
            <a:r>
              <a:rPr lang="en-US" dirty="0"/>
              <a:t> </a:t>
            </a:r>
            <a:r>
              <a:rPr lang="en-US" dirty="0" err="1"/>
              <a:t>saling</a:t>
            </a:r>
            <a:r>
              <a:rPr lang="en-US" dirty="0"/>
              <a:t> </a:t>
            </a:r>
            <a:r>
              <a:rPr lang="en-US" dirty="0" err="1"/>
              <a:t>berubah</a:t>
            </a:r>
            <a:r>
              <a:rPr lang="en-US" dirty="0"/>
              <a:t> </a:t>
            </a:r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salah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benta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berubah</a:t>
            </a:r>
            <a:r>
              <a:rPr lang="en-US" dirty="0"/>
              <a:t>. </a:t>
            </a:r>
            <a:endParaRPr lang="sv-SE" dirty="0"/>
          </a:p>
          <a:p>
            <a:pPr>
              <a:spcAft>
                <a:spcPts val="1200"/>
              </a:spcAft>
            </a:pPr>
            <a:r>
              <a:rPr lang="sv-SE" b="1" dirty="0"/>
              <a:t>Association</a:t>
            </a:r>
            <a:r>
              <a:rPr lang="sv-SE" dirty="0"/>
              <a:t>,</a:t>
            </a:r>
            <a:br>
              <a:rPr lang="sv-SE" dirty="0"/>
            </a:b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hubungan</a:t>
            </a:r>
            <a:r>
              <a:rPr lang="en-US" dirty="0"/>
              <a:t> </a:t>
            </a:r>
            <a:r>
              <a:rPr lang="en-US" dirty="0" err="1"/>
              <a:t>benda</a:t>
            </a:r>
            <a:r>
              <a:rPr lang="en-US" dirty="0"/>
              <a:t> </a:t>
            </a:r>
            <a:r>
              <a:rPr lang="en-US" dirty="0" err="1"/>
              <a:t>struktural</a:t>
            </a:r>
            <a:r>
              <a:rPr lang="en-US" dirty="0"/>
              <a:t> </a:t>
            </a:r>
            <a:r>
              <a:rPr lang="en-US" dirty="0" err="1"/>
              <a:t>dimana</a:t>
            </a:r>
            <a:r>
              <a:rPr lang="en-US" dirty="0"/>
              <a:t> </a:t>
            </a:r>
            <a:r>
              <a:rPr lang="en-US" dirty="0" err="1"/>
              <a:t>saling</a:t>
            </a:r>
            <a:r>
              <a:rPr lang="en-US" dirty="0"/>
              <a:t> </a:t>
            </a:r>
            <a:r>
              <a:rPr lang="en-US" dirty="0" err="1"/>
              <a:t>terkait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obyek</a:t>
            </a:r>
            <a:r>
              <a:rPr lang="en-US" dirty="0"/>
              <a:t>.</a:t>
            </a:r>
            <a:endParaRPr lang="sv-SE" dirty="0"/>
          </a:p>
          <a:p>
            <a:pPr>
              <a:spcAft>
                <a:spcPts val="1200"/>
              </a:spcAft>
            </a:pPr>
            <a:r>
              <a:rPr lang="sv-SE" b="1" dirty="0"/>
              <a:t>Realizations</a:t>
            </a:r>
            <a:r>
              <a:rPr lang="sv-SE" dirty="0"/>
              <a:t>,</a:t>
            </a:r>
            <a:br>
              <a:rPr lang="sv-SE" dirty="0"/>
            </a:b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gambaran</a:t>
            </a:r>
            <a:r>
              <a:rPr lang="en-US" dirty="0"/>
              <a:t> </a:t>
            </a:r>
            <a:r>
              <a:rPr lang="en-US" dirty="0" err="1"/>
              <a:t>hubungan</a:t>
            </a:r>
            <a:r>
              <a:rPr lang="en-US" dirty="0"/>
              <a:t> </a:t>
            </a:r>
            <a:r>
              <a:rPr lang="en-US" dirty="0" err="1"/>
              <a:t>khusus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obyek</a:t>
            </a:r>
            <a:r>
              <a:rPr lang="en-US" dirty="0"/>
              <a:t> </a:t>
            </a:r>
            <a:r>
              <a:rPr lang="en-US" dirty="0" err="1"/>
              <a:t>induk</a:t>
            </a:r>
            <a:r>
              <a:rPr lang="en-US" dirty="0"/>
              <a:t>/parent yang </a:t>
            </a:r>
            <a:r>
              <a:rPr lang="en-US" dirty="0" err="1"/>
              <a:t>digantikan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obyek</a:t>
            </a:r>
            <a:r>
              <a:rPr lang="en-US" dirty="0"/>
              <a:t> </a:t>
            </a:r>
            <a:r>
              <a:rPr lang="en-US" dirty="0" err="1"/>
              <a:t>anak</a:t>
            </a:r>
            <a:r>
              <a:rPr lang="en-US" dirty="0"/>
              <a:t>/child. </a:t>
            </a:r>
            <a:endParaRPr lang="sv-SE" dirty="0"/>
          </a:p>
          <a:p>
            <a:pPr>
              <a:spcAft>
                <a:spcPts val="1200"/>
              </a:spcAft>
            </a:pPr>
            <a:r>
              <a:rPr lang="sv-SE" b="1" dirty="0"/>
              <a:t>Generalizations</a:t>
            </a:r>
            <a:r>
              <a:rPr lang="sv-SE" dirty="0"/>
              <a:t>,</a:t>
            </a:r>
            <a:br>
              <a:rPr lang="sv-SE" dirty="0"/>
            </a:b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hubungan</a:t>
            </a:r>
            <a:r>
              <a:rPr lang="en-US" dirty="0"/>
              <a:t> semantic </a:t>
            </a:r>
            <a:r>
              <a:rPr lang="en-US" dirty="0" err="1"/>
              <a:t>diantara</a:t>
            </a:r>
            <a:r>
              <a:rPr lang="en-US" dirty="0"/>
              <a:t> </a:t>
            </a:r>
            <a:r>
              <a:rPr lang="en-US" dirty="0" err="1"/>
              <a:t>engelompokan</a:t>
            </a:r>
            <a:r>
              <a:rPr lang="en-US" dirty="0"/>
              <a:t> yang </a:t>
            </a:r>
            <a:r>
              <a:rPr lang="en-US" dirty="0" err="1"/>
              <a:t>saling</a:t>
            </a:r>
            <a:r>
              <a:rPr lang="en-US" dirty="0"/>
              <a:t> </a:t>
            </a:r>
            <a:r>
              <a:rPr lang="en-US" dirty="0" err="1"/>
              <a:t>memiiliki</a:t>
            </a:r>
            <a:r>
              <a:rPr lang="en-US" dirty="0"/>
              <a:t> </a:t>
            </a:r>
            <a:r>
              <a:rPr lang="en-US" dirty="0" err="1"/>
              <a:t>ikatan</a:t>
            </a:r>
            <a:r>
              <a:rPr lang="en-US" dirty="0"/>
              <a:t>.</a:t>
            </a:r>
            <a:endParaRPr lang="sv-SE" dirty="0"/>
          </a:p>
          <a:p>
            <a:pPr>
              <a:spcAft>
                <a:spcPts val="1200"/>
              </a:spcAft>
            </a:pPr>
            <a:endParaRPr lang="sv-SE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/>
              <a:t>Building Blocks (</a:t>
            </a:r>
            <a:r>
              <a:rPr lang="en-US" dirty="0" err="1"/>
              <a:t>Hubungan</a:t>
            </a:r>
            <a:r>
              <a:rPr lang="en-US" dirty="0"/>
              <a:t>/Relationship)</a:t>
            </a:r>
            <a:endParaRPr lang="id-ID" sz="36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0557" y="1505299"/>
            <a:ext cx="2266950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657" y="2752555"/>
            <a:ext cx="260985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1317" y="4065529"/>
            <a:ext cx="2381250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096" y="5145751"/>
            <a:ext cx="22098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5172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9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 fontScale="70000" lnSpcReduction="20000"/>
          </a:bodyPr>
          <a:lstStyle/>
          <a:p>
            <a:pPr>
              <a:spcAft>
                <a:spcPts val="1200"/>
              </a:spcAft>
            </a:pPr>
            <a:r>
              <a:rPr lang="en-US" dirty="0"/>
              <a:t>Diagram </a:t>
            </a:r>
            <a:r>
              <a:rPr lang="en-US" dirty="0" err="1"/>
              <a:t>adalah</a:t>
            </a:r>
            <a:r>
              <a:rPr lang="en-US" dirty="0"/>
              <a:t> yang </a:t>
            </a:r>
            <a:r>
              <a:rPr lang="en-US" dirty="0" err="1"/>
              <a:t>menggambarkan</a:t>
            </a:r>
            <a:r>
              <a:rPr lang="en-US" dirty="0"/>
              <a:t> </a:t>
            </a:r>
            <a:r>
              <a:rPr lang="en-US" dirty="0" err="1"/>
              <a:t>permasalahan</a:t>
            </a:r>
            <a:r>
              <a:rPr lang="en-US" dirty="0"/>
              <a:t> </a:t>
            </a:r>
            <a:r>
              <a:rPr lang="en-US" dirty="0" err="1"/>
              <a:t>maupun</a:t>
            </a:r>
            <a:r>
              <a:rPr lang="en-US" dirty="0"/>
              <a:t> </a:t>
            </a:r>
            <a:r>
              <a:rPr lang="en-US" dirty="0" err="1"/>
              <a:t>solusi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permasalahan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model. </a:t>
            </a:r>
          </a:p>
          <a:p>
            <a:pPr marL="0" indent="0">
              <a:spcAft>
                <a:spcPts val="1200"/>
              </a:spcAft>
              <a:buNone/>
            </a:pPr>
            <a:endParaRPr lang="pt-BR" dirty="0"/>
          </a:p>
          <a:p>
            <a:pPr marL="0" indent="0">
              <a:spcAft>
                <a:spcPts val="1200"/>
              </a:spcAft>
              <a:buNone/>
            </a:pPr>
            <a:r>
              <a:rPr lang="pt-BR" dirty="0"/>
              <a:t>Contoh diagram UML, yaitu; </a:t>
            </a:r>
            <a:endParaRPr lang="en-US" dirty="0"/>
          </a:p>
          <a:p>
            <a:pPr>
              <a:spcAft>
                <a:spcPts val="1200"/>
              </a:spcAft>
            </a:pPr>
            <a:r>
              <a:rPr lang="sv-SE" dirty="0"/>
              <a:t>Diagram Use Case </a:t>
            </a:r>
          </a:p>
          <a:p>
            <a:pPr>
              <a:spcAft>
                <a:spcPts val="1200"/>
              </a:spcAft>
            </a:pPr>
            <a:r>
              <a:rPr lang="sv-SE" dirty="0"/>
              <a:t>Diagram Class </a:t>
            </a:r>
          </a:p>
          <a:p>
            <a:pPr>
              <a:spcAft>
                <a:spcPts val="1200"/>
              </a:spcAft>
            </a:pPr>
            <a:r>
              <a:rPr lang="sv-SE" dirty="0"/>
              <a:t>Diagram Package </a:t>
            </a:r>
          </a:p>
          <a:p>
            <a:pPr>
              <a:spcAft>
                <a:spcPts val="1200"/>
              </a:spcAft>
            </a:pPr>
            <a:r>
              <a:rPr lang="sv-SE" dirty="0"/>
              <a:t>Diagram Sequence </a:t>
            </a:r>
          </a:p>
          <a:p>
            <a:pPr>
              <a:spcAft>
                <a:spcPts val="1200"/>
              </a:spcAft>
            </a:pPr>
            <a:r>
              <a:rPr lang="sv-SE" dirty="0"/>
              <a:t>Diagram Collaboration </a:t>
            </a:r>
          </a:p>
          <a:p>
            <a:pPr>
              <a:spcAft>
                <a:spcPts val="1200"/>
              </a:spcAft>
            </a:pPr>
            <a:r>
              <a:rPr lang="sv-SE" dirty="0"/>
              <a:t>Diagram StateChart </a:t>
            </a:r>
          </a:p>
          <a:p>
            <a:pPr>
              <a:spcAft>
                <a:spcPts val="1200"/>
              </a:spcAft>
            </a:pPr>
            <a:r>
              <a:rPr lang="sv-SE" dirty="0"/>
              <a:t>Diagram Activity </a:t>
            </a:r>
          </a:p>
          <a:p>
            <a:pPr>
              <a:spcAft>
                <a:spcPts val="1200"/>
              </a:spcAft>
            </a:pPr>
            <a:r>
              <a:rPr lang="sv-SE" dirty="0"/>
              <a:t>Diagram Deployment </a:t>
            </a: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/>
              <a:t>Building Blocks (</a:t>
            </a:r>
            <a:r>
              <a:rPr lang="en-US" dirty="0" err="1"/>
              <a:t>Bagan</a:t>
            </a:r>
            <a:r>
              <a:rPr lang="en-US" dirty="0"/>
              <a:t>/Diagram)</a:t>
            </a:r>
            <a:endParaRPr lang="id-ID" sz="3600" b="1" dirty="0"/>
          </a:p>
        </p:txBody>
      </p:sp>
    </p:spTree>
    <p:extLst>
      <p:ext uri="{BB962C8B-B14F-4D97-AF65-F5344CB8AC3E}">
        <p14:creationId xmlns:p14="http://schemas.microsoft.com/office/powerpoint/2010/main" val="1995223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10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847898"/>
            <a:ext cx="10515600" cy="565450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sv-SE" dirty="0"/>
              <a:t>Pada UML 2.3 terdiri dari 13 macam diagram yang dikelompokkan dalam 3 kategori. Pembagian kategori dan macam-macam diagram tersebut dapat dilihat pada gambar di bawah.</a:t>
            </a: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/>
              <a:t>Diagram UML</a:t>
            </a:r>
            <a:endParaRPr lang="id-ID" sz="3600" b="1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3695" y="2678545"/>
            <a:ext cx="6634509" cy="3977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0657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11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sv-SE" dirty="0"/>
              <a:t>Jelaskan dengan pemahaman yang Anda ketahui tentang UML dan sebutkan manfaatnya!</a:t>
            </a:r>
          </a:p>
          <a:p>
            <a:pPr>
              <a:spcAft>
                <a:spcPts val="1200"/>
              </a:spcAft>
            </a:pPr>
            <a:r>
              <a:rPr lang="sv-SE" dirty="0"/>
              <a:t>Berikan penjelasan mengenai berbagai macam tools yang dapat digunakan dalam merancang diagram UML secara lengkap! </a:t>
            </a:r>
          </a:p>
          <a:p>
            <a:pPr>
              <a:spcAft>
                <a:spcPts val="1200"/>
              </a:spcAft>
            </a:pPr>
            <a:r>
              <a:rPr lang="sv-SE" dirty="0"/>
              <a:t>Deskripsikan apa perbedaan antara Structure Diagram dan Behaviour Diagram beserta contoh diagram yang termasuk di dalamnya! </a:t>
            </a:r>
          </a:p>
          <a:p>
            <a:pPr>
              <a:spcAft>
                <a:spcPts val="1200"/>
              </a:spcAft>
            </a:pPr>
            <a:endParaRPr lang="sv-SE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 err="1"/>
              <a:t>Latihan</a:t>
            </a:r>
            <a:endParaRPr lang="id-ID" sz="3600" b="1" dirty="0"/>
          </a:p>
        </p:txBody>
      </p:sp>
    </p:spTree>
    <p:extLst>
      <p:ext uri="{BB962C8B-B14F-4D97-AF65-F5344CB8AC3E}">
        <p14:creationId xmlns:p14="http://schemas.microsoft.com/office/powerpoint/2010/main" val="1586023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6610" y="3228704"/>
            <a:ext cx="11585389" cy="634563"/>
          </a:xfrm>
        </p:spPr>
        <p:txBody>
          <a:bodyPr>
            <a:noAutofit/>
          </a:bodyPr>
          <a:lstStyle/>
          <a:p>
            <a:pPr algn="ctr"/>
            <a:r>
              <a:rPr lang="en-ID" sz="5400" b="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Terimakasih</a:t>
            </a:r>
            <a:r>
              <a:rPr lang="en-ID" sz="5400" b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.</a:t>
            </a:r>
            <a:endParaRPr lang="id-ID" sz="5400" b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 vert="horz" lIns="91440" tIns="45720" rIns="91440" bIns="45720" rtlCol="0" anchor="ctr"/>
          <a:lstStyle/>
          <a:p>
            <a:fld id="{10E4A4DB-036F-4816-A98C-42C4167E83C5}" type="slidenum">
              <a:rPr lang="en-US" sz="1600">
                <a:solidFill>
                  <a:schemeClr val="bg1">
                    <a:lumMod val="75000"/>
                  </a:schemeClr>
                </a:solidFill>
              </a:rPr>
              <a:pPr/>
              <a:t>12</a:t>
            </a:fld>
            <a:endParaRPr lang="en-US" sz="160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520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8e8cb4bfcc71408835458d81e4acd2756fca537"/>
</p:tagLst>
</file>

<file path=ppt/theme/theme1.xml><?xml version="1.0" encoding="utf-8"?>
<a:theme xmlns:a="http://schemas.openxmlformats.org/drawingml/2006/main" name="Presentation level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tx2">
              <a:lumMod val="20000"/>
              <a:lumOff val="80000"/>
            </a:schemeClr>
          </a:solidFill>
        </a:ln>
      </a:spPr>
      <a:bodyPr wrap="none" rtlCol="0">
        <a:spAutoFit/>
      </a:bodyPr>
      <a:lstStyle>
        <a:defPPr>
          <a:defRPr dirty="0" err="1" smtClean="0">
            <a:ln>
              <a:solidFill>
                <a:schemeClr val="accent1">
                  <a:lumMod val="20000"/>
                  <a:lumOff val="80000"/>
                </a:schemeClr>
              </a:solidFill>
            </a:ln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 level design" id="{00E2FDB5-77A3-416C-8232-A2B8AB0B9A01}" vid="{6E3E8A63-E899-4F92-AFE5-C80B3CCFC0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163AA760-FEA7-44E2-BB85-0893DB8CD7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 design slides (Level design)</Template>
  <TotalTime>0</TotalTime>
  <Words>540</Words>
  <Application>Microsoft Office PowerPoint</Application>
  <PresentationFormat>Layar Lebar</PresentationFormat>
  <Paragraphs>94</Paragraphs>
  <Slides>12</Slides>
  <Notes>12</Notes>
  <HiddenSlides>0</HiddenSlides>
  <MMClips>0</MMClips>
  <ScaleCrop>false</ScaleCrop>
  <HeadingPairs>
    <vt:vector size="6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12</vt:i4>
      </vt:variant>
    </vt:vector>
  </HeadingPairs>
  <TitlesOfParts>
    <vt:vector size="16" baseType="lpstr">
      <vt:lpstr>Century Gothic</vt:lpstr>
      <vt:lpstr>Times New Roman</vt:lpstr>
      <vt:lpstr>Wingdings</vt:lpstr>
      <vt:lpstr>Presentation level design</vt:lpstr>
      <vt:lpstr>ANALISA DAN PERANCANGAN SISTEM</vt:lpstr>
      <vt:lpstr>Objektif</vt:lpstr>
      <vt:lpstr>Pengertian UML</vt:lpstr>
      <vt:lpstr>Sejarah UML</vt:lpstr>
      <vt:lpstr>Sejarah UML</vt:lpstr>
      <vt:lpstr>Building Blocks</vt:lpstr>
      <vt:lpstr>Building Blocks (Benda/Things)</vt:lpstr>
      <vt:lpstr>Building Blocks (Hubungan/Relationship)</vt:lpstr>
      <vt:lpstr>Building Blocks (Bagan/Diagram)</vt:lpstr>
      <vt:lpstr>Diagram UML</vt:lpstr>
      <vt:lpstr>Latihan</vt:lpstr>
      <vt:lpstr>Terimakasih.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Rekayasa Perangkat Lunak</dc:title>
  <dc:creator/>
  <cp:keywords/>
  <cp:lastModifiedBy>Habib Abdul Ghani</cp:lastModifiedBy>
  <cp:revision>3</cp:revision>
  <dcterms:created xsi:type="dcterms:W3CDTF">2015-04-13T14:54:49Z</dcterms:created>
  <dcterms:modified xsi:type="dcterms:W3CDTF">2025-05-15T12:05:25Z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TC034605409991</vt:lpwstr>
  </property>
</Properties>
</file>