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2"/>
  </p:sldMasterIdLst>
  <p:notesMasterIdLst>
    <p:notesMasterId r:id="rId30"/>
  </p:notesMasterIdLst>
  <p:handoutMasterIdLst>
    <p:handoutMasterId r:id="rId31"/>
  </p:handoutMasterIdLst>
  <p:sldIdLst>
    <p:sldId id="257" r:id="rId3"/>
    <p:sldId id="318" r:id="rId4"/>
    <p:sldId id="351" r:id="rId5"/>
    <p:sldId id="352" r:id="rId6"/>
    <p:sldId id="356" r:id="rId7"/>
    <p:sldId id="328" r:id="rId8"/>
    <p:sldId id="333" r:id="rId9"/>
    <p:sldId id="334" r:id="rId10"/>
    <p:sldId id="335" r:id="rId11"/>
    <p:sldId id="336" r:id="rId12"/>
    <p:sldId id="339" r:id="rId13"/>
    <p:sldId id="340" r:id="rId14"/>
    <p:sldId id="341" r:id="rId15"/>
    <p:sldId id="342" r:id="rId16"/>
    <p:sldId id="337" r:id="rId17"/>
    <p:sldId id="338" r:id="rId18"/>
    <p:sldId id="357" r:id="rId19"/>
    <p:sldId id="330" r:id="rId20"/>
    <p:sldId id="331" r:id="rId21"/>
    <p:sldId id="358" r:id="rId22"/>
    <p:sldId id="343" r:id="rId23"/>
    <p:sldId id="324" r:id="rId24"/>
    <p:sldId id="359" r:id="rId25"/>
    <p:sldId id="332" r:id="rId26"/>
    <p:sldId id="354" r:id="rId27"/>
    <p:sldId id="353" r:id="rId28"/>
    <p:sldId id="313" r:id="rId29"/>
  </p:sldIdLst>
  <p:sldSz cx="12192000" cy="6858000"/>
  <p:notesSz cx="6858000" cy="9144000"/>
  <p:custDataLst>
    <p:tags r:id="rId3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753" autoAdjust="0"/>
    <p:restoredTop sz="82124" autoAdjust="0"/>
  </p:normalViewPr>
  <p:slideViewPr>
    <p:cSldViewPr snapToGrid="0">
      <p:cViewPr varScale="1">
        <p:scale>
          <a:sx n="61" d="100"/>
          <a:sy n="61" d="100"/>
        </p:scale>
        <p:origin x="1044" y="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8" d="100"/>
          <a:sy n="58" d="100"/>
        </p:scale>
        <p:origin x="280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gs" Target="tags/tag1.xml"/><Relationship Id="rId37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bib Abdul Ghani" userId="5eb70394735b742f" providerId="LiveId" clId="{33B9831C-7400-4C60-9C1C-090C7E04D9A3}"/>
    <pc:docChg chg="mod">
      <pc:chgData name="Habib Abdul Ghani" userId="5eb70394735b742f" providerId="LiveId" clId="{33B9831C-7400-4C60-9C1C-090C7E04D9A3}" dt="2025-04-17T12:07:22.743" v="0"/>
      <pc:docMkLst>
        <pc:docMk/>
      </pc:docMkLst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8C66D5-35F2-4B2B-B66A-28018F619124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073D5-63C2-4933-B970-D96552757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4818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4B7E8A-1102-47A1-B1C3-36AE88809383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A11EAB-687D-4AE4-B775-678A923E94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103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332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5424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Sumber</a:t>
            </a:r>
            <a:r>
              <a:rPr lang="en-US" dirty="0"/>
              <a:t>: </a:t>
            </a:r>
          </a:p>
          <a:p>
            <a:r>
              <a:rPr lang="en-US" dirty="0"/>
              <a:t>Rosa </a:t>
            </a:r>
            <a:r>
              <a:rPr lang="en-US" dirty="0" err="1"/>
              <a:t>AS,Rekayasa</a:t>
            </a:r>
            <a:r>
              <a:rPr lang="en-US" dirty="0"/>
              <a:t> </a:t>
            </a:r>
            <a:r>
              <a:rPr lang="en-US" dirty="0" err="1"/>
              <a:t>Perangkat</a:t>
            </a:r>
            <a:r>
              <a:rPr lang="en-US" dirty="0"/>
              <a:t> </a:t>
            </a:r>
            <a:r>
              <a:rPr lang="en-US" dirty="0" err="1"/>
              <a:t>Lunak</a:t>
            </a:r>
            <a:r>
              <a:rPr lang="en-US" dirty="0"/>
              <a:t> </a:t>
            </a:r>
            <a:r>
              <a:rPr lang="en-US" dirty="0" err="1"/>
              <a:t>Terstruktur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Berorientasi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, INFORMATIKA. 2013.</a:t>
            </a:r>
          </a:p>
          <a:p>
            <a:r>
              <a:rPr lang="en-US" dirty="0" err="1"/>
              <a:t>Falahah</a:t>
            </a:r>
            <a:r>
              <a:rPr lang="en-US" dirty="0"/>
              <a:t> </a:t>
            </a:r>
            <a:r>
              <a:rPr lang="en-US" dirty="0" err="1"/>
              <a:t>Suprapto</a:t>
            </a:r>
            <a:r>
              <a:rPr lang="en-US" dirty="0"/>
              <a:t>, REKAYASA PERANGKAT LUNAK, </a:t>
            </a:r>
            <a:r>
              <a:rPr lang="en-US" dirty="0" err="1"/>
              <a:t>Lentera</a:t>
            </a:r>
            <a:r>
              <a:rPr lang="en-US" dirty="0"/>
              <a:t> </a:t>
            </a:r>
            <a:r>
              <a:rPr lang="en-US" dirty="0" err="1"/>
              <a:t>Ilmu</a:t>
            </a:r>
            <a:r>
              <a:rPr lang="en-US" dirty="0"/>
              <a:t> </a:t>
            </a:r>
            <a:r>
              <a:rPr lang="en-US" dirty="0" err="1"/>
              <a:t>Cendekia</a:t>
            </a:r>
            <a:r>
              <a:rPr lang="en-US"/>
              <a:t>, 2020.</a:t>
            </a:r>
          </a:p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5A11EAB-687D-4AE4-B775-678A923E943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959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 userDrawn="1"/>
        </p:nvGrpSpPr>
        <p:grpSpPr>
          <a:xfrm>
            <a:off x="1524000" y="6152219"/>
            <a:ext cx="9144001" cy="196717"/>
            <a:chOff x="996683" y="7236484"/>
            <a:chExt cx="9144001" cy="196717"/>
          </a:xfrm>
        </p:grpSpPr>
        <p:sp>
          <p:nvSpPr>
            <p:cNvPr id="19" name="Rectangle 18" descr="Gold bar"/>
            <p:cNvSpPr>
              <a:spLocks noChangeArrowheads="1"/>
            </p:cNvSpPr>
            <p:nvPr/>
          </p:nvSpPr>
          <p:spPr bwMode="auto">
            <a:xfrm rot="16200000" flipH="1">
              <a:off x="2422556" y="5810611"/>
              <a:ext cx="196717" cy="3048463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>
              <a:reflection blurRad="6350" stA="50000" endA="300" endPos="38500" dist="50800" dir="5400000" sy="-100000" algn="bl" rotWithShape="0"/>
            </a:effectLst>
          </p:spPr>
          <p:txBody>
            <a:bodyPr wrap="none" anchor="ctr"/>
            <a:lstStyle/>
            <a:p>
              <a:pPr algn="ctr" eaLnBrk="1" hangingPunct="1"/>
              <a:endParaRPr 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0" name="Rectangle 19" descr="Orange bar"/>
            <p:cNvSpPr>
              <a:spLocks noChangeArrowheads="1"/>
            </p:cNvSpPr>
            <p:nvPr/>
          </p:nvSpPr>
          <p:spPr bwMode="auto">
            <a:xfrm rot="16200000" flipH="1">
              <a:off x="5471019" y="5810611"/>
              <a:ext cx="196717" cy="3048463"/>
            </a:xfrm>
            <a:prstGeom prst="rect">
              <a:avLst/>
            </a:prstGeom>
            <a:solidFill>
              <a:schemeClr val="accent4"/>
            </a:solidFill>
            <a:ln w="9525">
              <a:noFill/>
              <a:miter lim="800000"/>
              <a:headEnd/>
              <a:tailEnd/>
            </a:ln>
            <a:effectLst>
              <a:reflection blurRad="6350" stA="50000" endA="300" endPos="38500" dist="50800" dir="5400000" sy="-100000" algn="bl" rotWithShape="0"/>
            </a:effectLst>
          </p:spPr>
          <p:txBody>
            <a:bodyPr wrap="none" anchor="ctr"/>
            <a:lstStyle/>
            <a:p>
              <a:pPr algn="ctr" eaLnBrk="1" hangingPunct="1"/>
              <a:endParaRPr 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1" name="Rectangle 20" descr="Slate bar"/>
            <p:cNvSpPr>
              <a:spLocks noChangeArrowheads="1"/>
            </p:cNvSpPr>
            <p:nvPr/>
          </p:nvSpPr>
          <p:spPr bwMode="auto">
            <a:xfrm rot="16200000" flipH="1">
              <a:off x="8518094" y="5810611"/>
              <a:ext cx="196717" cy="3048463"/>
            </a:xfrm>
            <a:prstGeom prst="rect">
              <a:avLst/>
            </a:prstGeom>
            <a:solidFill>
              <a:schemeClr val="accent6"/>
            </a:solidFill>
            <a:ln w="9525">
              <a:noFill/>
              <a:miter lim="800000"/>
              <a:headEnd/>
              <a:tailEnd/>
            </a:ln>
            <a:effectLst>
              <a:reflection blurRad="6350" stA="50000" endA="300" endPos="38500" dist="50800" dir="5400000" sy="-100000" algn="bl" rotWithShape="0"/>
            </a:effectLst>
          </p:spPr>
          <p:txBody>
            <a:bodyPr wrap="none" anchor="ctr"/>
            <a:lstStyle/>
            <a:p>
              <a:pPr algn="ctr" eaLnBrk="1" hangingPunct="1"/>
              <a:endParaRPr lang="en-US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84800" y="2811515"/>
            <a:ext cx="5283200" cy="69368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12610"/>
            <a:ext cx="9144000" cy="1789767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08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7141" y="914400"/>
            <a:ext cx="10515600" cy="57911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63456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6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44844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076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62262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145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809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3" y="2193925"/>
            <a:ext cx="5157787" cy="3978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3" y="1489075"/>
            <a:ext cx="5157787" cy="6413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0" y="2193925"/>
            <a:ext cx="5156200" cy="397827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489075"/>
            <a:ext cx="5156200" cy="6413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274638"/>
            <a:ext cx="10515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624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28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341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592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501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293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126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6"/>
            <a:ext cx="12188952" cy="6858006"/>
            <a:chOff x="-2728" y="-5"/>
            <a:chExt cx="12188952" cy="6858006"/>
          </a:xfrm>
        </p:grpSpPr>
        <p:sp>
          <p:nvSpPr>
            <p:cNvPr id="26" name="Rectangle 25"/>
            <p:cNvSpPr/>
            <p:nvPr/>
          </p:nvSpPr>
          <p:spPr>
            <a:xfrm>
              <a:off x="-2728" y="1"/>
              <a:ext cx="12188952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9" name="Group 38"/>
            <p:cNvGrpSpPr/>
            <p:nvPr/>
          </p:nvGrpSpPr>
          <p:grpSpPr>
            <a:xfrm>
              <a:off x="-2727" y="-5"/>
              <a:ext cx="716424" cy="6858000"/>
              <a:chOff x="-2727" y="-5"/>
              <a:chExt cx="716424" cy="6858000"/>
            </a:xfrm>
          </p:grpSpPr>
          <p:grpSp>
            <p:nvGrpSpPr>
              <p:cNvPr id="40" name="Group 39"/>
              <p:cNvGrpSpPr/>
              <p:nvPr/>
            </p:nvGrpSpPr>
            <p:grpSpPr>
              <a:xfrm>
                <a:off x="-2727" y="-5"/>
                <a:ext cx="571473" cy="6858000"/>
                <a:chOff x="6048440" y="-936481"/>
                <a:chExt cx="196717" cy="9144001"/>
              </a:xfrm>
            </p:grpSpPr>
            <p:sp>
              <p:nvSpPr>
                <p:cNvPr id="46" name="Rectangle 45" descr="Gold bar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6048440" y="5159057"/>
                  <a:ext cx="196717" cy="3048463"/>
                </a:xfrm>
                <a:prstGeom prst="rect">
                  <a:avLst/>
                </a:prstGeom>
                <a:solidFill>
                  <a:schemeClr val="accent6"/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1" hangingPunct="1"/>
                  <a:endParaRPr 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7" name="Rectangle 46" descr="Orange bar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6048440" y="2110594"/>
                  <a:ext cx="196717" cy="3048463"/>
                </a:xfrm>
                <a:prstGeom prst="rect">
                  <a:avLst/>
                </a:prstGeom>
                <a:solidFill>
                  <a:schemeClr val="accent4"/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1" hangingPunct="1"/>
                  <a:endParaRPr 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8" name="Rectangle 47" descr="Slate bar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6048440" y="-936481"/>
                  <a:ext cx="196717" cy="3048463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1" hangingPunct="1"/>
                  <a:endParaRPr lang="en-US" sz="24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1" name="Group 40"/>
              <p:cNvGrpSpPr/>
              <p:nvPr/>
            </p:nvGrpSpPr>
            <p:grpSpPr>
              <a:xfrm>
                <a:off x="566005" y="-5"/>
                <a:ext cx="147692" cy="6858000"/>
                <a:chOff x="6048440" y="-936481"/>
                <a:chExt cx="196717" cy="9144001"/>
              </a:xfrm>
            </p:grpSpPr>
            <p:sp>
              <p:nvSpPr>
                <p:cNvPr id="43" name="Rectangle 42" descr="Gold bar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6048440" y="5159057"/>
                  <a:ext cx="196717" cy="3048463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6">
                        <a:lumMod val="40000"/>
                        <a:lumOff val="60000"/>
                      </a:schemeClr>
                    </a:gs>
                    <a:gs pos="100000">
                      <a:prstClr val="white"/>
                    </a:gs>
                  </a:gsLst>
                  <a:lin ang="0" scaled="1"/>
                  <a:tileRect/>
                </a:gra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lvl="0" algn="ctr"/>
                  <a:endParaRPr 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4" name="Rectangle 43" descr="Orange bar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6048440" y="2110594"/>
                  <a:ext cx="196717" cy="3048463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4">
                        <a:lumMod val="40000"/>
                        <a:lumOff val="60000"/>
                      </a:schemeClr>
                    </a:gs>
                    <a:gs pos="100000">
                      <a:prstClr val="white"/>
                    </a:gs>
                  </a:gsLst>
                  <a:lin ang="0" scaled="1"/>
                  <a:tileRect/>
                </a:gra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1" hangingPunct="1"/>
                  <a:endParaRPr lang="en-US" sz="24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5" name="Rectangle 44" descr="Slate bar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6048440" y="-936481"/>
                  <a:ext cx="196717" cy="3048463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  <a:lin ang="0" scaled="1"/>
                  <a:tileRect/>
                </a:gradFill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 eaLnBrk="1" hangingPunct="1"/>
                  <a:endParaRPr lang="en-US" sz="24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2" name="Rectangle 41"/>
              <p:cNvSpPr/>
              <p:nvPr/>
            </p:nvSpPr>
            <p:spPr>
              <a:xfrm>
                <a:off x="646782" y="-5"/>
                <a:ext cx="45719" cy="6858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3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01302" y="6370864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3"/>
                </a:solidFill>
              </a:defRPr>
            </a:lvl1pPr>
          </a:lstStyle>
          <a:p>
            <a:fld id="{10E4A4DB-036F-4816-A98C-42C4167E83C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7" name="Text Placeholder 2"/>
          <p:cNvSpPr>
            <a:spLocks noGrp="1"/>
          </p:cNvSpPr>
          <p:nvPr>
            <p:ph type="body" idx="1"/>
          </p:nvPr>
        </p:nvSpPr>
        <p:spPr>
          <a:xfrm>
            <a:off x="838200" y="839243"/>
            <a:ext cx="10515600" cy="58808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8" name="Title Placeholder 1"/>
          <p:cNvSpPr>
            <a:spLocks noGrp="1"/>
          </p:cNvSpPr>
          <p:nvPr>
            <p:ph type="title"/>
          </p:nvPr>
        </p:nvSpPr>
        <p:spPr>
          <a:xfrm>
            <a:off x="836676" y="0"/>
            <a:ext cx="10515600" cy="5887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71908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Clr>
          <a:schemeClr val="accent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0" y="1818981"/>
            <a:ext cx="5718144" cy="519483"/>
          </a:xfrm>
        </p:spPr>
        <p:txBody>
          <a:bodyPr>
            <a:normAutofit/>
          </a:bodyPr>
          <a:lstStyle/>
          <a:p>
            <a:pPr algn="r"/>
            <a:r>
              <a:rPr lang="en-ID" sz="2800" b="1" dirty="0">
                <a:solidFill>
                  <a:srgbClr val="FF0000"/>
                </a:solidFill>
              </a:rPr>
              <a:t>Data Flow Diagram (DFD)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9300" y="557509"/>
            <a:ext cx="11099800" cy="939800"/>
          </a:xfrm>
        </p:spPr>
        <p:txBody>
          <a:bodyPr>
            <a:noAutofit/>
          </a:bodyPr>
          <a:lstStyle/>
          <a:p>
            <a:r>
              <a:rPr lang="en-US" sz="4400" dirty="0"/>
              <a:t>ANALISA DAN PERANCANGAN SISTEM</a:t>
            </a:r>
            <a:endParaRPr lang="en-US" sz="4400" b="1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 vert="horz" lIns="91440" tIns="45720" rIns="91440" bIns="45720" rtlCol="0" anchor="ctr"/>
          <a:lstStyle/>
          <a:p>
            <a:fld id="{10E4A4DB-036F-4816-A98C-42C4167E83C5}" type="slidenum">
              <a:rPr lang="en-US" sz="1600">
                <a:solidFill>
                  <a:schemeClr val="bg1">
                    <a:lumMod val="75000"/>
                  </a:schemeClr>
                </a:solidFill>
              </a:rPr>
              <a:pPr/>
              <a:t>1</a:t>
            </a:fld>
            <a:endParaRPr lang="en-US" sz="1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8257847" y="2338464"/>
            <a:ext cx="3149600" cy="374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id-ID" sz="1600" b="1" i="1" dirty="0">
                <a:solidFill>
                  <a:schemeClr val="accent1">
                    <a:lumMod val="50000"/>
                  </a:schemeClr>
                </a:solidFill>
              </a:rPr>
              <a:t>Dola Irwanto S.Kom., </a:t>
            </a:r>
            <a:r>
              <a:rPr lang="en-US" sz="1600" b="1" i="1" dirty="0">
                <a:solidFill>
                  <a:schemeClr val="accent1">
                    <a:lumMod val="50000"/>
                  </a:schemeClr>
                </a:solidFill>
              </a:rPr>
              <a:t>M</a:t>
            </a:r>
            <a:r>
              <a:rPr lang="id-ID" sz="1600" b="1" i="1" dirty="0">
                <a:solidFill>
                  <a:schemeClr val="accent1">
                    <a:lumMod val="50000"/>
                  </a:schemeClr>
                </a:solidFill>
              </a:rPr>
              <a:t>.MSI</a:t>
            </a:r>
          </a:p>
        </p:txBody>
      </p:sp>
      <p:pic>
        <p:nvPicPr>
          <p:cNvPr id="4" name="Picture 2" descr="Understanding Symbols and Notations Used in DFD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6036" y="2525841"/>
            <a:ext cx="2891364" cy="2755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ubtitle 2"/>
          <p:cNvSpPr txBox="1">
            <a:spLocks/>
          </p:cNvSpPr>
          <p:nvPr/>
        </p:nvSpPr>
        <p:spPr>
          <a:xfrm>
            <a:off x="0" y="6463367"/>
            <a:ext cx="561975" cy="3747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i="1" dirty="0">
                <a:solidFill>
                  <a:schemeClr val="accent1">
                    <a:lumMod val="50000"/>
                  </a:schemeClr>
                </a:solidFill>
              </a:rPr>
              <a:t>V1.0</a:t>
            </a:r>
            <a:endParaRPr lang="id-ID" sz="1600" b="1" i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1985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2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064872"/>
            <a:ext cx="10515600" cy="5437528"/>
          </a:xfrm>
        </p:spPr>
        <p:txBody>
          <a:bodyPr>
            <a:normAutofit lnSpcReduction="10000"/>
          </a:bodyPr>
          <a:lstStyle/>
          <a:p>
            <a:pPr>
              <a:spcAft>
                <a:spcPts val="1200"/>
              </a:spcAft>
            </a:pPr>
            <a:r>
              <a:rPr lang="sv-SE" dirty="0"/>
              <a:t>Pengenalan DFD</a:t>
            </a:r>
          </a:p>
          <a:p>
            <a:pPr>
              <a:spcAft>
                <a:spcPts val="1200"/>
              </a:spcAft>
            </a:pPr>
            <a:r>
              <a:rPr lang="en-US" dirty="0" err="1"/>
              <a:t>Simbol-simbol</a:t>
            </a:r>
            <a:r>
              <a:rPr lang="en-US" dirty="0"/>
              <a:t> DFD</a:t>
            </a:r>
          </a:p>
          <a:p>
            <a:pPr marL="914400" lvl="1" indent="-457200">
              <a:spcAft>
                <a:spcPts val="1200"/>
              </a:spcAft>
              <a:buFont typeface="+mj-lt"/>
              <a:buAutoNum type="arabicPeriod"/>
            </a:pPr>
            <a:r>
              <a:rPr lang="en-US" dirty="0"/>
              <a:t>Proses</a:t>
            </a:r>
          </a:p>
          <a:p>
            <a:pPr marL="914400" lvl="1" indent="-457200">
              <a:spcAft>
                <a:spcPts val="1200"/>
              </a:spcAft>
              <a:buFont typeface="+mj-lt"/>
              <a:buAutoNum type="arabicPeriod"/>
            </a:pPr>
            <a:r>
              <a:rPr lang="en-US" dirty="0"/>
              <a:t>Data Store</a:t>
            </a:r>
          </a:p>
          <a:p>
            <a:pPr marL="914400" lvl="1" indent="-457200">
              <a:spcAft>
                <a:spcPts val="1200"/>
              </a:spcAft>
              <a:buFont typeface="+mj-lt"/>
              <a:buAutoNum type="arabicPeriod"/>
            </a:pPr>
            <a:r>
              <a:rPr lang="en-US" dirty="0"/>
              <a:t>External Entity</a:t>
            </a:r>
          </a:p>
          <a:p>
            <a:pPr marL="914400" lvl="1" indent="-457200">
              <a:spcAft>
                <a:spcPts val="1200"/>
              </a:spcAft>
              <a:buFont typeface="+mj-lt"/>
              <a:buAutoNum type="arabicPeriod"/>
            </a:pPr>
            <a:r>
              <a:rPr lang="en-US" dirty="0" err="1"/>
              <a:t>Aliran</a:t>
            </a:r>
            <a:r>
              <a:rPr lang="en-US" dirty="0"/>
              <a:t> Data</a:t>
            </a:r>
            <a:endParaRPr lang="sv-SE" dirty="0"/>
          </a:p>
          <a:p>
            <a:pPr>
              <a:spcAft>
                <a:spcPts val="1200"/>
              </a:spcAft>
            </a:pPr>
            <a:r>
              <a:rPr lang="en-US" dirty="0"/>
              <a:t>Diagram </a:t>
            </a:r>
            <a:r>
              <a:rPr lang="en-US" dirty="0" err="1"/>
              <a:t>Konteks</a:t>
            </a:r>
            <a:endParaRPr lang="en-US" dirty="0"/>
          </a:p>
          <a:p>
            <a:pPr>
              <a:spcAft>
                <a:spcPts val="1200"/>
              </a:spcAft>
            </a:pPr>
            <a:r>
              <a:rPr lang="en-US" dirty="0" err="1"/>
              <a:t>Dekomposisi</a:t>
            </a:r>
            <a:r>
              <a:rPr lang="en-US" dirty="0"/>
              <a:t> DFD</a:t>
            </a:r>
          </a:p>
          <a:p>
            <a:pPr>
              <a:spcAft>
                <a:spcPts val="1200"/>
              </a:spcAft>
            </a:pPr>
            <a:r>
              <a:rPr lang="en-US" dirty="0" err="1"/>
              <a:t>Kamus</a:t>
            </a:r>
            <a:r>
              <a:rPr lang="en-US" dirty="0"/>
              <a:t> Data</a:t>
            </a:r>
            <a:endParaRPr lang="sv-SE" dirty="0"/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r>
              <a:rPr lang="en-US" sz="3600" b="1" dirty="0" err="1"/>
              <a:t>Objektif</a:t>
            </a:r>
            <a:endParaRPr lang="id-ID" sz="3600" b="1" dirty="0"/>
          </a:p>
        </p:txBody>
      </p:sp>
    </p:spTree>
    <p:extLst>
      <p:ext uri="{BB962C8B-B14F-4D97-AF65-F5344CB8AC3E}">
        <p14:creationId xmlns:p14="http://schemas.microsoft.com/office/powerpoint/2010/main" val="1530932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3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064872"/>
            <a:ext cx="10515600" cy="5437528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Data Flow Diagram (DFD) </a:t>
            </a:r>
            <a:r>
              <a:rPr lang="en-US" dirty="0" err="1"/>
              <a:t>awalnya</a:t>
            </a:r>
            <a:r>
              <a:rPr lang="en-US" dirty="0"/>
              <a:t> </a:t>
            </a:r>
            <a:r>
              <a:rPr lang="en-US" dirty="0" err="1"/>
              <a:t>dikembangkan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Chris </a:t>
            </a:r>
            <a:r>
              <a:rPr lang="en-US" dirty="0" err="1"/>
              <a:t>Gane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Trish </a:t>
            </a:r>
            <a:r>
              <a:rPr lang="en-US" dirty="0" err="1"/>
              <a:t>Sarson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tahun</a:t>
            </a:r>
            <a:r>
              <a:rPr lang="en-US" dirty="0"/>
              <a:t> 1979 yang </a:t>
            </a:r>
            <a:r>
              <a:rPr lang="en-US" dirty="0" err="1"/>
              <a:t>termasuk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Structured System Analysis and Design Methodology (SSADM) yang </a:t>
            </a:r>
            <a:r>
              <a:rPr lang="en-US" dirty="0" err="1"/>
              <a:t>ditulis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</a:t>
            </a:r>
            <a:r>
              <a:rPr lang="en-US" b="1" dirty="0"/>
              <a:t>Chris </a:t>
            </a:r>
            <a:r>
              <a:rPr lang="en-US" b="1" dirty="0" err="1"/>
              <a:t>Gane</a:t>
            </a:r>
            <a:r>
              <a:rPr lang="en-US" b="1" dirty="0"/>
              <a:t> </a:t>
            </a:r>
            <a:r>
              <a:rPr lang="en-US" b="1" dirty="0" err="1"/>
              <a:t>dan</a:t>
            </a:r>
            <a:r>
              <a:rPr lang="en-US" b="1" dirty="0"/>
              <a:t> Trish </a:t>
            </a:r>
            <a:r>
              <a:rPr lang="en-US" b="1" dirty="0" err="1"/>
              <a:t>Sarson</a:t>
            </a:r>
            <a:r>
              <a:rPr lang="en-US" dirty="0"/>
              <a:t>.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Edward Yourdon </a:t>
            </a:r>
            <a:r>
              <a:rPr lang="en-US" b="1" dirty="0" err="1"/>
              <a:t>dan</a:t>
            </a:r>
            <a:r>
              <a:rPr lang="en-US" b="1" dirty="0"/>
              <a:t> Tom </a:t>
            </a:r>
            <a:r>
              <a:rPr lang="en-US" b="1" dirty="0" err="1"/>
              <a:t>DeMarco</a:t>
            </a:r>
            <a:r>
              <a:rPr lang="en-US" b="1" dirty="0"/>
              <a:t> </a:t>
            </a:r>
            <a:r>
              <a:rPr lang="en-US" dirty="0" err="1"/>
              <a:t>memperkenalkan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yang lain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tahun</a:t>
            </a:r>
            <a:r>
              <a:rPr lang="en-US" dirty="0"/>
              <a:t> 1980an di </a:t>
            </a:r>
            <a:r>
              <a:rPr lang="en-US" dirty="0" err="1"/>
              <a:t>mana</a:t>
            </a:r>
            <a:r>
              <a:rPr lang="en-US" dirty="0"/>
              <a:t> </a:t>
            </a:r>
            <a:r>
              <a:rPr lang="en-US" dirty="0" err="1"/>
              <a:t>mengubah</a:t>
            </a:r>
            <a:r>
              <a:rPr lang="en-US" dirty="0"/>
              <a:t> </a:t>
            </a:r>
            <a:r>
              <a:rPr lang="en-US" dirty="0" err="1"/>
              <a:t>persegi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sudut</a:t>
            </a:r>
            <a:r>
              <a:rPr lang="en-US" dirty="0"/>
              <a:t> </a:t>
            </a:r>
            <a:r>
              <a:rPr lang="en-US" dirty="0" err="1"/>
              <a:t>lengkung</a:t>
            </a:r>
            <a:r>
              <a:rPr lang="en-US" dirty="0"/>
              <a:t> (</a:t>
            </a:r>
            <a:r>
              <a:rPr lang="en-US" dirty="0" err="1"/>
              <a:t>pada</a:t>
            </a:r>
            <a:r>
              <a:rPr lang="en-US" dirty="0"/>
              <a:t> DFD Chris </a:t>
            </a:r>
            <a:r>
              <a:rPr lang="en-US" dirty="0" err="1"/>
              <a:t>Gane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Trish </a:t>
            </a:r>
            <a:r>
              <a:rPr lang="en-US" dirty="0" err="1"/>
              <a:t>Sarson</a:t>
            </a:r>
            <a:r>
              <a:rPr lang="en-US" dirty="0"/>
              <a:t>)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lingkaran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menotasikan</a:t>
            </a:r>
            <a:r>
              <a:rPr lang="en-US" dirty="0"/>
              <a:t>. DFD Edward Yourdon </a:t>
            </a:r>
            <a:r>
              <a:rPr lang="en-US" dirty="0" err="1"/>
              <a:t>dan</a:t>
            </a:r>
            <a:r>
              <a:rPr lang="en-US" dirty="0"/>
              <a:t> Tom </a:t>
            </a:r>
            <a:r>
              <a:rPr lang="en-US" dirty="0" err="1"/>
              <a:t>DeMarco</a:t>
            </a:r>
            <a:r>
              <a:rPr lang="en-US" dirty="0"/>
              <a:t> popular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model </a:t>
            </a:r>
            <a:r>
              <a:rPr lang="en-US" dirty="0" err="1"/>
              <a:t>analisis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perangkat</a:t>
            </a:r>
            <a:r>
              <a:rPr lang="en-US" dirty="0"/>
              <a:t> </a:t>
            </a:r>
            <a:r>
              <a:rPr lang="en-US" dirty="0" err="1"/>
              <a:t>lunak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perangkat</a:t>
            </a:r>
            <a:r>
              <a:rPr lang="en-US" dirty="0"/>
              <a:t> </a:t>
            </a:r>
            <a:r>
              <a:rPr lang="en-US" dirty="0" err="1"/>
              <a:t>lunak</a:t>
            </a:r>
            <a:r>
              <a:rPr lang="en-US" dirty="0"/>
              <a:t>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diimplementasikan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pemrograman</a:t>
            </a:r>
            <a:r>
              <a:rPr lang="en-US" dirty="0"/>
              <a:t> </a:t>
            </a:r>
            <a:r>
              <a:rPr lang="en-US" dirty="0" err="1"/>
              <a:t>terstruktur</a:t>
            </a:r>
            <a:r>
              <a:rPr lang="en-US" dirty="0"/>
              <a:t>.</a:t>
            </a:r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r>
              <a:rPr lang="en-US" dirty="0" err="1"/>
              <a:t>Sejarah</a:t>
            </a:r>
            <a:r>
              <a:rPr lang="en-US" dirty="0"/>
              <a:t> DFD</a:t>
            </a:r>
          </a:p>
        </p:txBody>
      </p:sp>
    </p:spTree>
    <p:extLst>
      <p:ext uri="{BB962C8B-B14F-4D97-AF65-F5344CB8AC3E}">
        <p14:creationId xmlns:p14="http://schemas.microsoft.com/office/powerpoint/2010/main" val="3319865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4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064872"/>
            <a:ext cx="10515600" cy="5437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Data Flow Diagram (DFD) </a:t>
            </a:r>
            <a:r>
              <a:rPr lang="en-US" b="1" dirty="0" err="1"/>
              <a:t>adalah</a:t>
            </a:r>
            <a:r>
              <a:rPr lang="en-US" dirty="0"/>
              <a:t> </a:t>
            </a:r>
            <a:r>
              <a:rPr lang="en-US" dirty="0" err="1"/>
              <a:t>representasi</a:t>
            </a:r>
            <a:r>
              <a:rPr lang="en-US" dirty="0"/>
              <a:t> </a:t>
            </a:r>
            <a:r>
              <a:rPr lang="en-US" dirty="0" err="1"/>
              <a:t>grafik</a:t>
            </a:r>
            <a:r>
              <a:rPr lang="en-US" dirty="0"/>
              <a:t> yang </a:t>
            </a:r>
            <a:r>
              <a:rPr lang="en-US" dirty="0" err="1"/>
              <a:t>menggambarkan</a:t>
            </a:r>
            <a:r>
              <a:rPr lang="en-US" dirty="0"/>
              <a:t> </a:t>
            </a:r>
            <a:r>
              <a:rPr lang="en-US" dirty="0" err="1"/>
              <a:t>aliran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transformasi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yang </a:t>
            </a:r>
            <a:r>
              <a:rPr lang="en-US" dirty="0" err="1"/>
              <a:t>diaplikasikan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data yang </a:t>
            </a:r>
            <a:r>
              <a:rPr lang="en-US" dirty="0" err="1"/>
              <a:t>mengalir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masukan</a:t>
            </a:r>
            <a:r>
              <a:rPr lang="en-US" dirty="0"/>
              <a:t> (input)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keluaran</a:t>
            </a:r>
            <a:r>
              <a:rPr lang="en-US" dirty="0"/>
              <a:t> (output).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DFD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menunjukkan</a:t>
            </a:r>
            <a:r>
              <a:rPr lang="en-US" dirty="0"/>
              <a:t> data </a:t>
            </a:r>
            <a:r>
              <a:rPr lang="en-US" dirty="0" err="1"/>
              <a:t>masukan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keluaran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proses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menunjukkan</a:t>
            </a:r>
            <a:r>
              <a:rPr lang="en-US" dirty="0"/>
              <a:t> </a:t>
            </a:r>
            <a:r>
              <a:rPr lang="en-US" dirty="0" err="1"/>
              <a:t>waktu</a:t>
            </a:r>
            <a:r>
              <a:rPr lang="en-US" dirty="0"/>
              <a:t> proses </a:t>
            </a:r>
            <a:r>
              <a:rPr lang="en-US" dirty="0" err="1"/>
              <a:t>tersebut</a:t>
            </a:r>
            <a:r>
              <a:rPr lang="en-US" dirty="0"/>
              <a:t> </a:t>
            </a:r>
            <a:r>
              <a:rPr lang="en-US" dirty="0" err="1"/>
              <a:t>terjadi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urut-urutan</a:t>
            </a:r>
            <a:r>
              <a:rPr lang="en-US" dirty="0"/>
              <a:t> proses. </a:t>
            </a:r>
            <a:r>
              <a:rPr lang="en-US" dirty="0" err="1"/>
              <a:t>Teknik</a:t>
            </a:r>
            <a:r>
              <a:rPr lang="en-US" dirty="0"/>
              <a:t> </a:t>
            </a:r>
            <a:r>
              <a:rPr lang="en-US" dirty="0" err="1"/>
              <a:t>penggambarannya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pendekatan</a:t>
            </a:r>
            <a:r>
              <a:rPr lang="en-US" dirty="0"/>
              <a:t>  “Top Down”, </a:t>
            </a:r>
            <a:r>
              <a:rPr lang="en-US" dirty="0" err="1"/>
              <a:t>mulai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“black box” proses </a:t>
            </a:r>
            <a:r>
              <a:rPr lang="en-US" dirty="0" err="1"/>
              <a:t>tunggal</a:t>
            </a:r>
            <a:r>
              <a:rPr lang="en-US" dirty="0"/>
              <a:t> yang </a:t>
            </a:r>
            <a:r>
              <a:rPr lang="en-US" dirty="0" err="1"/>
              <a:t>dikembangkan</a:t>
            </a:r>
            <a:r>
              <a:rPr lang="en-US" dirty="0"/>
              <a:t> (explode)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beberapa</a:t>
            </a:r>
            <a:r>
              <a:rPr lang="en-US" dirty="0"/>
              <a:t> sub proses.</a:t>
            </a:r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r>
              <a:rPr lang="en-US" dirty="0" err="1"/>
              <a:t>Pengertian</a:t>
            </a:r>
            <a:r>
              <a:rPr lang="en-US" dirty="0"/>
              <a:t> DFD</a:t>
            </a:r>
          </a:p>
        </p:txBody>
      </p:sp>
    </p:spTree>
    <p:extLst>
      <p:ext uri="{BB962C8B-B14F-4D97-AF65-F5344CB8AC3E}">
        <p14:creationId xmlns:p14="http://schemas.microsoft.com/office/powerpoint/2010/main" val="3373400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0AA8106-9F8F-4EFA-85FB-16CA96AEF97A}"/>
              </a:ext>
            </a:extLst>
          </p:cNvPr>
          <p:cNvSpPr txBox="1">
            <a:spLocks/>
          </p:cNvSpPr>
          <p:nvPr/>
        </p:nvSpPr>
        <p:spPr>
          <a:xfrm>
            <a:off x="1647639" y="2310402"/>
            <a:ext cx="7529612" cy="22065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800" dirty="0" err="1"/>
              <a:t>Simbol-simbol</a:t>
            </a:r>
            <a:r>
              <a:rPr lang="en-US" sz="8800" dirty="0"/>
              <a:t> </a:t>
            </a:r>
          </a:p>
          <a:p>
            <a:r>
              <a:rPr lang="en-US" sz="8800" dirty="0"/>
              <a:t>DFD</a:t>
            </a:r>
            <a:endParaRPr lang="en-ID" sz="7200" spc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9076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6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064872"/>
            <a:ext cx="10515600" cy="5437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Simbol-simbol</a:t>
            </a:r>
            <a:r>
              <a:rPr lang="en-US" dirty="0"/>
              <a:t> yang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DFD </a:t>
            </a:r>
            <a:r>
              <a:rPr lang="en-US" dirty="0" err="1"/>
              <a:t>menurut</a:t>
            </a:r>
            <a:r>
              <a:rPr lang="en-US" dirty="0"/>
              <a:t> </a:t>
            </a:r>
            <a:r>
              <a:rPr lang="en-US" dirty="0" err="1"/>
              <a:t>Gane</a:t>
            </a:r>
            <a:r>
              <a:rPr lang="en-US" dirty="0"/>
              <a:t> &amp; </a:t>
            </a:r>
            <a:r>
              <a:rPr lang="en-US" dirty="0" err="1"/>
              <a:t>Sarson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r>
              <a:rPr lang="en-US" dirty="0" err="1"/>
              <a:t>Simbol-simbol</a:t>
            </a:r>
            <a:r>
              <a:rPr lang="en-US" dirty="0"/>
              <a:t> DFD</a:t>
            </a:r>
          </a:p>
        </p:txBody>
      </p:sp>
      <p:pic>
        <p:nvPicPr>
          <p:cNvPr id="7" name="Picture 6"/>
          <p:cNvPicPr/>
          <p:nvPr/>
        </p:nvPicPr>
        <p:blipFill>
          <a:blip r:embed="rId3"/>
          <a:stretch>
            <a:fillRect/>
          </a:stretch>
        </p:blipFill>
        <p:spPr>
          <a:xfrm>
            <a:off x="3010766" y="2290762"/>
            <a:ext cx="5859286" cy="362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325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7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064872"/>
            <a:ext cx="10515600" cy="5437528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dirty="0" err="1"/>
              <a:t>Elemen</a:t>
            </a:r>
            <a:r>
              <a:rPr lang="en-US" dirty="0"/>
              <a:t> proses </a:t>
            </a:r>
            <a:r>
              <a:rPr lang="en-US" dirty="0" err="1"/>
              <a:t>mewakili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aktivitas</a:t>
            </a:r>
            <a:r>
              <a:rPr lang="en-US" dirty="0"/>
              <a:t> </a:t>
            </a:r>
            <a:r>
              <a:rPr lang="en-US" dirty="0" err="1"/>
              <a:t>terhadap</a:t>
            </a:r>
            <a:r>
              <a:rPr lang="en-US" dirty="0"/>
              <a:t> data di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.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dirty="0" err="1"/>
              <a:t>Elemen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diberi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berupa</a:t>
            </a:r>
            <a:r>
              <a:rPr lang="en-US" dirty="0"/>
              <a:t> </a:t>
            </a:r>
            <a:r>
              <a:rPr lang="en-US" b="1" dirty="0"/>
              <a:t>kata </a:t>
            </a:r>
            <a:r>
              <a:rPr lang="en-US" b="1" dirty="0" err="1"/>
              <a:t>kerja</a:t>
            </a:r>
            <a:r>
              <a:rPr lang="en-US" b="1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menerima</a:t>
            </a:r>
            <a:r>
              <a:rPr lang="en-US" dirty="0"/>
              <a:t> input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mengeluarkan</a:t>
            </a:r>
            <a:r>
              <a:rPr lang="en-US" dirty="0"/>
              <a:t> output.</a:t>
            </a:r>
          </a:p>
          <a:p>
            <a:pPr marL="0" indent="0">
              <a:spcAft>
                <a:spcPts val="1200"/>
              </a:spcAft>
              <a:buNone/>
            </a:pPr>
            <a:endParaRPr lang="sv-SE" dirty="0"/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r>
              <a:rPr lang="en-US" dirty="0"/>
              <a:t>1. Proses:</a:t>
            </a:r>
          </a:p>
        </p:txBody>
      </p:sp>
      <p:pic>
        <p:nvPicPr>
          <p:cNvPr id="7" name="Picture 6"/>
          <p:cNvPicPr/>
          <p:nvPr/>
        </p:nvPicPr>
        <p:blipFill>
          <a:blip r:embed="rId3"/>
          <a:stretch>
            <a:fillRect/>
          </a:stretch>
        </p:blipFill>
        <p:spPr>
          <a:xfrm>
            <a:off x="2962562" y="3609674"/>
            <a:ext cx="6251143" cy="256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514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8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064872"/>
            <a:ext cx="10515600" cy="543752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err="1"/>
              <a:t>Hindari</a:t>
            </a:r>
            <a:r>
              <a:rPr lang="en-US" dirty="0"/>
              <a:t> proses yang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apa2 </a:t>
            </a:r>
            <a:r>
              <a:rPr lang="en-US" dirty="0" err="1"/>
              <a:t>tetapi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memindahkan</a:t>
            </a:r>
            <a:r>
              <a:rPr lang="en-US" dirty="0"/>
              <a:t>/</a:t>
            </a:r>
            <a:r>
              <a:rPr lang="en-US" dirty="0" err="1"/>
              <a:t>meneruskan</a:t>
            </a:r>
            <a:r>
              <a:rPr lang="en-US" dirty="0"/>
              <a:t> data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mengeluarkan</a:t>
            </a:r>
            <a:r>
              <a:rPr lang="en-US" dirty="0"/>
              <a:t> output data yang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berubah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sekali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identifikasi</a:t>
            </a:r>
            <a:r>
              <a:rPr lang="en-US" dirty="0"/>
              <a:t> proses yang </a:t>
            </a:r>
            <a:r>
              <a:rPr lang="en-US" dirty="0" err="1"/>
              <a:t>tepat</a:t>
            </a:r>
            <a:r>
              <a:rPr lang="en-US" dirty="0"/>
              <a:t> </a:t>
            </a:r>
            <a:r>
              <a:rPr lang="en-US" dirty="0" err="1"/>
              <a:t>misalnya</a:t>
            </a:r>
            <a:r>
              <a:rPr lang="en-US" dirty="0"/>
              <a:t>:</a:t>
            </a:r>
          </a:p>
          <a:p>
            <a:pPr lvl="0"/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perhitungan</a:t>
            </a:r>
            <a:r>
              <a:rPr lang="en-US" dirty="0"/>
              <a:t> (</a:t>
            </a:r>
            <a:r>
              <a:rPr lang="en-US" dirty="0" err="1"/>
              <a:t>menghitung</a:t>
            </a:r>
            <a:r>
              <a:rPr lang="en-US" dirty="0"/>
              <a:t> rata2 </a:t>
            </a:r>
            <a:r>
              <a:rPr lang="en-US" dirty="0" err="1"/>
              <a:t>nilai</a:t>
            </a:r>
            <a:r>
              <a:rPr lang="en-US" dirty="0"/>
              <a:t>, </a:t>
            </a:r>
            <a:r>
              <a:rPr lang="en-US" dirty="0" err="1"/>
              <a:t>menghitung</a:t>
            </a:r>
            <a:r>
              <a:rPr lang="en-US" dirty="0"/>
              <a:t> </a:t>
            </a:r>
            <a:r>
              <a:rPr lang="en-US" dirty="0" err="1"/>
              <a:t>pajak</a:t>
            </a:r>
            <a:r>
              <a:rPr lang="en-US" dirty="0"/>
              <a:t>).</a:t>
            </a:r>
          </a:p>
          <a:p>
            <a:pPr lvl="0"/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keputusan</a:t>
            </a:r>
            <a:r>
              <a:rPr lang="en-US" dirty="0"/>
              <a:t> (</a:t>
            </a:r>
            <a:r>
              <a:rPr lang="en-US" dirty="0" err="1"/>
              <a:t>menyetujui</a:t>
            </a:r>
            <a:r>
              <a:rPr lang="en-US" dirty="0"/>
              <a:t> order).</a:t>
            </a:r>
          </a:p>
          <a:p>
            <a:pPr lvl="0"/>
            <a:r>
              <a:rPr lang="en-US" dirty="0" err="1"/>
              <a:t>Mengurutkan</a:t>
            </a:r>
            <a:r>
              <a:rPr lang="en-US" dirty="0"/>
              <a:t>, </a:t>
            </a:r>
            <a:r>
              <a:rPr lang="en-US" dirty="0" err="1"/>
              <a:t>menyaring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merangkum</a:t>
            </a:r>
            <a:r>
              <a:rPr lang="en-US" dirty="0"/>
              <a:t> data (</a:t>
            </a:r>
            <a:r>
              <a:rPr lang="en-US" dirty="0" err="1"/>
              <a:t>menampilkan</a:t>
            </a:r>
            <a:r>
              <a:rPr lang="en-US" dirty="0"/>
              <a:t> data </a:t>
            </a:r>
            <a:r>
              <a:rPr lang="en-US" dirty="0" err="1"/>
              <a:t>tagihan</a:t>
            </a:r>
            <a:r>
              <a:rPr lang="en-US" dirty="0"/>
              <a:t>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belum</a:t>
            </a:r>
            <a:r>
              <a:rPr lang="en-US" dirty="0"/>
              <a:t> </a:t>
            </a:r>
            <a:r>
              <a:rPr lang="en-US" dirty="0" err="1"/>
              <a:t>dibayar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periode</a:t>
            </a:r>
            <a:r>
              <a:rPr lang="en-US" dirty="0"/>
              <a:t> </a:t>
            </a:r>
            <a:r>
              <a:rPr lang="en-US" dirty="0" err="1"/>
              <a:t>tertentu</a:t>
            </a:r>
            <a:r>
              <a:rPr lang="en-US" dirty="0"/>
              <a:t>).</a:t>
            </a:r>
          </a:p>
          <a:p>
            <a:pPr lvl="0"/>
            <a:r>
              <a:rPr lang="en-US" dirty="0" err="1"/>
              <a:t>Mengatur</a:t>
            </a:r>
            <a:r>
              <a:rPr lang="en-US" dirty="0"/>
              <a:t> data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keperluan</a:t>
            </a:r>
            <a:r>
              <a:rPr lang="en-US" dirty="0"/>
              <a:t> </a:t>
            </a:r>
            <a:r>
              <a:rPr lang="en-US" dirty="0" err="1"/>
              <a:t>tertentu</a:t>
            </a:r>
            <a:r>
              <a:rPr lang="en-US" dirty="0"/>
              <a:t> (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laporan</a:t>
            </a:r>
            <a:r>
              <a:rPr lang="en-US" dirty="0"/>
              <a:t>, </a:t>
            </a:r>
            <a:r>
              <a:rPr lang="en-US" dirty="0" err="1"/>
              <a:t>menjawab</a:t>
            </a:r>
            <a:r>
              <a:rPr lang="en-US" dirty="0"/>
              <a:t> </a:t>
            </a:r>
            <a:r>
              <a:rPr lang="en-US" dirty="0" err="1"/>
              <a:t>pertanyaan</a:t>
            </a:r>
            <a:r>
              <a:rPr lang="en-US" dirty="0"/>
              <a:t>).</a:t>
            </a:r>
          </a:p>
          <a:p>
            <a:pPr lvl="0"/>
            <a:r>
              <a:rPr lang="en-US" dirty="0" err="1"/>
              <a:t>Memicu</a:t>
            </a:r>
            <a:r>
              <a:rPr lang="en-US" dirty="0"/>
              <a:t> proses lain (</a:t>
            </a:r>
            <a:r>
              <a:rPr lang="en-US" dirty="0" err="1"/>
              <a:t>misalnya</a:t>
            </a:r>
            <a:r>
              <a:rPr lang="en-US" dirty="0"/>
              <a:t>: </a:t>
            </a:r>
            <a:r>
              <a:rPr lang="en-US" dirty="0" err="1"/>
              <a:t>mematikan</a:t>
            </a:r>
            <a:r>
              <a:rPr lang="en-US" dirty="0"/>
              <a:t> </a:t>
            </a:r>
            <a:r>
              <a:rPr lang="en-US" dirty="0" err="1"/>
              <a:t>mesin</a:t>
            </a:r>
            <a:r>
              <a:rPr lang="en-US" dirty="0"/>
              <a:t>, </a:t>
            </a:r>
            <a:r>
              <a:rPr lang="en-US" dirty="0" err="1"/>
              <a:t>menjalankan</a:t>
            </a:r>
            <a:r>
              <a:rPr lang="en-US" dirty="0"/>
              <a:t> </a:t>
            </a:r>
            <a:r>
              <a:rPr lang="en-US" dirty="0" err="1"/>
              <a:t>mesin</a:t>
            </a:r>
            <a:r>
              <a:rPr lang="en-US" dirty="0"/>
              <a:t>).</a:t>
            </a:r>
          </a:p>
          <a:p>
            <a:pPr lvl="0"/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penyimpanan</a:t>
            </a:r>
            <a:r>
              <a:rPr lang="en-US" dirty="0"/>
              <a:t> data (create, read, update, delete record).</a:t>
            </a:r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r>
              <a:rPr lang="en-US" dirty="0" err="1"/>
              <a:t>Identifikasi</a:t>
            </a:r>
            <a:r>
              <a:rPr lang="en-US" dirty="0"/>
              <a:t> proses:</a:t>
            </a:r>
          </a:p>
        </p:txBody>
      </p:sp>
    </p:spTree>
    <p:extLst>
      <p:ext uri="{BB962C8B-B14F-4D97-AF65-F5344CB8AC3E}">
        <p14:creationId xmlns:p14="http://schemas.microsoft.com/office/powerpoint/2010/main" val="1673421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9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064872"/>
            <a:ext cx="10515600" cy="5437528"/>
          </a:xfrm>
        </p:spPr>
        <p:txBody>
          <a:bodyPr>
            <a:normAutofit/>
          </a:bodyPr>
          <a:lstStyle/>
          <a:p>
            <a:pPr marL="0" lvl="0" indent="0">
              <a:spcAft>
                <a:spcPts val="1200"/>
              </a:spcAft>
              <a:buNone/>
            </a:pPr>
            <a:r>
              <a:rPr lang="en-US" dirty="0" err="1"/>
              <a:t>Boleh</a:t>
            </a:r>
            <a:r>
              <a:rPr lang="en-US" dirty="0"/>
              <a:t> </a:t>
            </a:r>
            <a:r>
              <a:rPr lang="en-US" dirty="0" err="1"/>
              <a:t>menghasilkan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output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menerima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input.</a:t>
            </a:r>
          </a:p>
          <a:p>
            <a:pPr marL="0" indent="0">
              <a:spcAft>
                <a:spcPts val="1200"/>
              </a:spcAft>
              <a:buNone/>
            </a:pPr>
            <a:endParaRPr lang="sv-SE" dirty="0"/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r>
              <a:rPr lang="en-US" dirty="0" err="1"/>
              <a:t>Aturan</a:t>
            </a:r>
            <a:r>
              <a:rPr lang="en-US" dirty="0"/>
              <a:t> </a:t>
            </a:r>
            <a:r>
              <a:rPr lang="en-US" dirty="0" err="1"/>
              <a:t>Penggambaran</a:t>
            </a:r>
            <a:r>
              <a:rPr lang="en-US" dirty="0"/>
              <a:t> Proses:</a:t>
            </a:r>
            <a:endParaRPr lang="id-ID" sz="3600" b="1" dirty="0"/>
          </a:p>
        </p:txBody>
      </p:sp>
      <p:pic>
        <p:nvPicPr>
          <p:cNvPr id="7" name="Picture 6"/>
          <p:cNvPicPr/>
          <p:nvPr/>
        </p:nvPicPr>
        <p:blipFill>
          <a:blip r:embed="rId3"/>
          <a:stretch>
            <a:fillRect/>
          </a:stretch>
        </p:blipFill>
        <p:spPr>
          <a:xfrm>
            <a:off x="2894993" y="2336916"/>
            <a:ext cx="6182505" cy="378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820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10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064872"/>
            <a:ext cx="10515600" cy="5437528"/>
          </a:xfrm>
        </p:spPr>
        <p:txBody>
          <a:bodyPr>
            <a:normAutofit/>
          </a:bodyPr>
          <a:lstStyle/>
          <a:p>
            <a:pPr marL="0" lvl="0" indent="0">
              <a:spcAft>
                <a:spcPts val="1200"/>
              </a:spcAft>
              <a:buNone/>
            </a:pP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terhubung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symbol lain </a:t>
            </a:r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saja</a:t>
            </a:r>
            <a:r>
              <a:rPr lang="en-US" dirty="0"/>
              <a:t> (</a:t>
            </a:r>
            <a:r>
              <a:rPr lang="en-US" dirty="0" err="1"/>
              <a:t>termasuk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symbol proses </a:t>
            </a:r>
            <a:r>
              <a:rPr lang="en-US" dirty="0" err="1"/>
              <a:t>lainnya</a:t>
            </a:r>
            <a:r>
              <a:rPr lang="en-US" dirty="0"/>
              <a:t>)</a:t>
            </a:r>
            <a:endParaRPr lang="sv-SE" dirty="0"/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r>
              <a:rPr lang="en-US" dirty="0" err="1"/>
              <a:t>Aturan</a:t>
            </a:r>
            <a:r>
              <a:rPr lang="en-US" dirty="0"/>
              <a:t> </a:t>
            </a:r>
            <a:r>
              <a:rPr lang="en-US" dirty="0" err="1"/>
              <a:t>Penggambaran</a:t>
            </a:r>
            <a:r>
              <a:rPr lang="en-US" dirty="0"/>
              <a:t> Proses (Cont..):</a:t>
            </a:r>
            <a:endParaRPr lang="id-ID" sz="3600" b="1" dirty="0"/>
          </a:p>
        </p:txBody>
      </p:sp>
      <p:pic>
        <p:nvPicPr>
          <p:cNvPr id="8" name="Picture 7"/>
          <p:cNvPicPr/>
          <p:nvPr/>
        </p:nvPicPr>
        <p:blipFill>
          <a:blip r:embed="rId3"/>
          <a:stretch>
            <a:fillRect/>
          </a:stretch>
        </p:blipFill>
        <p:spPr>
          <a:xfrm>
            <a:off x="1711036" y="2802398"/>
            <a:ext cx="8767148" cy="2584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041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11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064872"/>
            <a:ext cx="10515600" cy="5437528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dirty="0"/>
              <a:t>Data store </a:t>
            </a:r>
            <a:r>
              <a:rPr lang="en-US" dirty="0" err="1"/>
              <a:t>menggambarkan</a:t>
            </a:r>
            <a:r>
              <a:rPr lang="en-US" dirty="0"/>
              <a:t> </a:t>
            </a:r>
            <a:r>
              <a:rPr lang="en-US" dirty="0" err="1"/>
              <a:t>tempat</a:t>
            </a:r>
            <a:r>
              <a:rPr lang="en-US" dirty="0"/>
              <a:t> </a:t>
            </a:r>
            <a:r>
              <a:rPr lang="en-US" dirty="0" err="1"/>
              <a:t>penyimpanan</a:t>
            </a:r>
            <a:r>
              <a:rPr lang="en-US" dirty="0"/>
              <a:t> data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internal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.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dirty="0"/>
              <a:t>Data store </a:t>
            </a:r>
            <a:r>
              <a:rPr lang="en-US" dirty="0" err="1"/>
              <a:t>disertakan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bila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transformasi</a:t>
            </a:r>
            <a:r>
              <a:rPr lang="en-US" dirty="0"/>
              <a:t> data </a:t>
            </a:r>
            <a:r>
              <a:rPr lang="en-US" dirty="0" err="1"/>
              <a:t>seperti</a:t>
            </a:r>
            <a:r>
              <a:rPr lang="en-US" dirty="0"/>
              <a:t> store, add, delete, </a:t>
            </a:r>
            <a:r>
              <a:rPr lang="en-US" dirty="0" err="1"/>
              <a:t>atau</a:t>
            </a:r>
            <a:r>
              <a:rPr lang="en-US" dirty="0"/>
              <a:t> update.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dirty="0" err="1"/>
              <a:t>Setiap</a:t>
            </a:r>
            <a:r>
              <a:rPr lang="en-US" dirty="0"/>
              <a:t> data store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nantinya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terkait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entitas</a:t>
            </a:r>
            <a:r>
              <a:rPr lang="en-US" dirty="0"/>
              <a:t> data </a:t>
            </a:r>
            <a:r>
              <a:rPr lang="en-US" dirty="0" err="1"/>
              <a:t>pada</a:t>
            </a:r>
            <a:r>
              <a:rPr lang="en-US" dirty="0"/>
              <a:t> Entity </a:t>
            </a:r>
            <a:r>
              <a:rPr lang="en-US" dirty="0" err="1"/>
              <a:t>Rellationship</a:t>
            </a:r>
            <a:r>
              <a:rPr lang="en-US" dirty="0"/>
              <a:t> Diagram (ERD). </a:t>
            </a:r>
          </a:p>
          <a:p>
            <a:pPr marL="0" indent="0">
              <a:spcAft>
                <a:spcPts val="1200"/>
              </a:spcAft>
              <a:buNone/>
            </a:pPr>
            <a:endParaRPr lang="en-US" dirty="0"/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r>
              <a:rPr lang="en-US" dirty="0"/>
              <a:t>2. Data Store:</a:t>
            </a:r>
          </a:p>
        </p:txBody>
      </p:sp>
    </p:spTree>
    <p:extLst>
      <p:ext uri="{BB962C8B-B14F-4D97-AF65-F5344CB8AC3E}">
        <p14:creationId xmlns:p14="http://schemas.microsoft.com/office/powerpoint/2010/main" val="320899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12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064872"/>
            <a:ext cx="7327148" cy="55188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Aturan</a:t>
            </a:r>
            <a:r>
              <a:rPr lang="en-US" dirty="0"/>
              <a:t> </a:t>
            </a:r>
            <a:r>
              <a:rPr lang="en-US" dirty="0" err="1"/>
              <a:t>penggambaran</a:t>
            </a:r>
            <a:r>
              <a:rPr lang="en-US" dirty="0"/>
              <a:t> data store:</a:t>
            </a:r>
          </a:p>
          <a:p>
            <a:pPr lvl="0"/>
            <a:r>
              <a:rPr lang="en-US" dirty="0"/>
              <a:t>Data store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diberi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b="1" dirty="0"/>
              <a:t>kata </a:t>
            </a:r>
            <a:r>
              <a:rPr lang="en-US" b="1" dirty="0" err="1"/>
              <a:t>benda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boleh</a:t>
            </a:r>
            <a:r>
              <a:rPr lang="en-US" dirty="0"/>
              <a:t> </a:t>
            </a:r>
            <a:r>
              <a:rPr lang="en-US" dirty="0" err="1"/>
              <a:t>dilengkapi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nomor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memudahkan</a:t>
            </a:r>
            <a:r>
              <a:rPr lang="en-US" dirty="0"/>
              <a:t>  </a:t>
            </a:r>
            <a:r>
              <a:rPr lang="en-US" dirty="0" err="1"/>
              <a:t>penjelasan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Data store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minimal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aliran</a:t>
            </a:r>
            <a:r>
              <a:rPr lang="en-US" dirty="0"/>
              <a:t> data </a:t>
            </a:r>
            <a:r>
              <a:rPr lang="en-US" dirty="0" err="1"/>
              <a:t>masuk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keluar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Data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berpindah</a:t>
            </a:r>
            <a:r>
              <a:rPr lang="en-US" dirty="0"/>
              <a:t> </a:t>
            </a:r>
            <a:r>
              <a:rPr lang="en-US" dirty="0" err="1"/>
              <a:t>langsung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store </a:t>
            </a:r>
            <a:r>
              <a:rPr lang="en-US" dirty="0" err="1"/>
              <a:t>ke</a:t>
            </a:r>
            <a:r>
              <a:rPr lang="en-US" dirty="0"/>
              <a:t> store </a:t>
            </a:r>
            <a:r>
              <a:rPr lang="en-US" dirty="0" err="1"/>
              <a:t>lainnya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Data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berpindah</a:t>
            </a:r>
            <a:r>
              <a:rPr lang="en-US" dirty="0"/>
              <a:t> </a:t>
            </a:r>
            <a:r>
              <a:rPr lang="en-US" dirty="0" err="1"/>
              <a:t>langsung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sumber</a:t>
            </a:r>
            <a:r>
              <a:rPr lang="en-US" dirty="0"/>
              <a:t> di </a:t>
            </a:r>
            <a:r>
              <a:rPr lang="en-US" dirty="0" err="1"/>
              <a:t>luar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data store,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sebaliknya</a:t>
            </a:r>
            <a:r>
              <a:rPr lang="en-US" dirty="0"/>
              <a:t>.</a:t>
            </a:r>
          </a:p>
          <a:p>
            <a:pPr marL="0" indent="0">
              <a:spcAft>
                <a:spcPts val="1200"/>
              </a:spcAft>
              <a:buNone/>
            </a:pPr>
            <a:endParaRPr lang="sv-SE" dirty="0"/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r>
              <a:rPr lang="en-US" dirty="0"/>
              <a:t>Data Store (Cont..)</a:t>
            </a:r>
            <a:endParaRPr lang="id-ID" sz="3600" b="1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8537" y="1332895"/>
            <a:ext cx="3581400" cy="4657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49905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13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064872"/>
            <a:ext cx="10515600" cy="5437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External entity </a:t>
            </a:r>
            <a:r>
              <a:rPr lang="en-US" b="1" dirty="0" err="1"/>
              <a:t>adalah</a:t>
            </a:r>
            <a:r>
              <a:rPr lang="en-US" b="1" dirty="0"/>
              <a:t> </a:t>
            </a:r>
            <a:r>
              <a:rPr lang="en-US" b="1" dirty="0" err="1"/>
              <a:t>asal</a:t>
            </a:r>
            <a:r>
              <a:rPr lang="en-US" b="1" dirty="0"/>
              <a:t> </a:t>
            </a:r>
            <a:r>
              <a:rPr lang="en-US" b="1" dirty="0" err="1"/>
              <a:t>atau</a:t>
            </a:r>
            <a:r>
              <a:rPr lang="en-US" b="1" dirty="0"/>
              <a:t> </a:t>
            </a:r>
            <a:r>
              <a:rPr lang="en-US" b="1" dirty="0" err="1"/>
              <a:t>tujuan</a:t>
            </a:r>
            <a:r>
              <a:rPr lang="en-US" b="1" dirty="0"/>
              <a:t> data </a:t>
            </a:r>
            <a:r>
              <a:rPr lang="en-US" b="1" dirty="0" err="1"/>
              <a:t>yg</a:t>
            </a:r>
            <a:r>
              <a:rPr lang="en-US" b="1" dirty="0"/>
              <a:t> </a:t>
            </a:r>
            <a:r>
              <a:rPr lang="en-US" b="1" dirty="0" err="1"/>
              <a:t>terdapat</a:t>
            </a:r>
            <a:r>
              <a:rPr lang="en-US" b="1" dirty="0"/>
              <a:t> di </a:t>
            </a:r>
            <a:r>
              <a:rPr lang="en-US" b="1" dirty="0" err="1"/>
              <a:t>luar</a:t>
            </a:r>
            <a:r>
              <a:rPr lang="en-US" b="1" dirty="0"/>
              <a:t> </a:t>
            </a:r>
            <a:r>
              <a:rPr lang="en-US" b="1" dirty="0" err="1"/>
              <a:t>sistem</a:t>
            </a:r>
            <a:r>
              <a:rPr lang="en-US" b="1" dirty="0"/>
              <a:t>. </a:t>
            </a:r>
            <a:r>
              <a:rPr lang="en-US" dirty="0"/>
              <a:t>External entity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berupa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di </a:t>
            </a:r>
            <a:r>
              <a:rPr lang="en-US" dirty="0" err="1"/>
              <a:t>luar</a:t>
            </a:r>
            <a:r>
              <a:rPr lang="en-US" dirty="0"/>
              <a:t> </a:t>
            </a:r>
            <a:r>
              <a:rPr lang="en-US" dirty="0" err="1"/>
              <a:t>organisasi</a:t>
            </a:r>
            <a:r>
              <a:rPr lang="en-US" dirty="0"/>
              <a:t>, orang, </a:t>
            </a:r>
            <a:r>
              <a:rPr lang="en-US" dirty="0" err="1"/>
              <a:t>lembaga</a:t>
            </a:r>
            <a:r>
              <a:rPr lang="en-US" dirty="0"/>
              <a:t>, </a:t>
            </a:r>
            <a:r>
              <a:rPr lang="en-US" dirty="0" err="1"/>
              <a:t>fungsi</a:t>
            </a:r>
            <a:r>
              <a:rPr lang="en-US" dirty="0"/>
              <a:t>,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/</a:t>
            </a:r>
            <a:r>
              <a:rPr lang="en-US" dirty="0" err="1"/>
              <a:t>perangkat</a:t>
            </a:r>
            <a:r>
              <a:rPr lang="en-US" dirty="0"/>
              <a:t> </a:t>
            </a:r>
            <a:r>
              <a:rPr lang="en-US" dirty="0" err="1"/>
              <a:t>lunak</a:t>
            </a:r>
            <a:r>
              <a:rPr lang="en-US" dirty="0"/>
              <a:t> lain. </a:t>
            </a:r>
          </a:p>
          <a:p>
            <a:pPr marL="0" indent="0">
              <a:buNone/>
            </a:pPr>
            <a:r>
              <a:rPr lang="en-US" b="1" dirty="0"/>
              <a:t>Source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entitas</a:t>
            </a:r>
            <a:r>
              <a:rPr lang="en-US" dirty="0"/>
              <a:t>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mengirimkan</a:t>
            </a:r>
            <a:r>
              <a:rPr lang="en-US" dirty="0"/>
              <a:t> data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, </a:t>
            </a:r>
            <a:r>
              <a:rPr lang="en-US" b="1" dirty="0"/>
              <a:t>sink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entitas</a:t>
            </a:r>
            <a:r>
              <a:rPr lang="en-US" dirty="0"/>
              <a:t>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menerima</a:t>
            </a:r>
            <a:r>
              <a:rPr lang="en-US" dirty="0"/>
              <a:t> data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indent="0">
              <a:spcAft>
                <a:spcPts val="1200"/>
              </a:spcAft>
              <a:buNone/>
            </a:pPr>
            <a:endParaRPr lang="sv-SE" dirty="0"/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r>
              <a:rPr lang="en-US" dirty="0"/>
              <a:t>3. External Entity</a:t>
            </a:r>
          </a:p>
        </p:txBody>
      </p:sp>
      <p:pic>
        <p:nvPicPr>
          <p:cNvPr id="7" name="Picture 6"/>
          <p:cNvPicPr/>
          <p:nvPr/>
        </p:nvPicPr>
        <p:blipFill>
          <a:blip r:embed="rId3"/>
          <a:stretch>
            <a:fillRect/>
          </a:stretch>
        </p:blipFill>
        <p:spPr>
          <a:xfrm>
            <a:off x="3562350" y="3811384"/>
            <a:ext cx="5099512" cy="219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286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14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064872"/>
            <a:ext cx="10515600" cy="543752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err="1"/>
              <a:t>Identifikasi</a:t>
            </a:r>
            <a:r>
              <a:rPr lang="en-US" dirty="0"/>
              <a:t> External Entity:</a:t>
            </a:r>
          </a:p>
          <a:p>
            <a:pPr lvl="0"/>
            <a:r>
              <a:rPr lang="en-US" dirty="0" err="1"/>
              <a:t>Pihak</a:t>
            </a:r>
            <a:r>
              <a:rPr lang="en-US" dirty="0"/>
              <a:t> </a:t>
            </a:r>
            <a:r>
              <a:rPr lang="en-US" dirty="0" err="1"/>
              <a:t>luar</a:t>
            </a:r>
            <a:r>
              <a:rPr lang="en-US" dirty="0"/>
              <a:t>, orang,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tempat</a:t>
            </a:r>
            <a:r>
              <a:rPr lang="en-US" dirty="0"/>
              <a:t> </a:t>
            </a:r>
            <a:r>
              <a:rPr lang="en-US" dirty="0" err="1"/>
              <a:t>penyimpanan</a:t>
            </a:r>
            <a:r>
              <a:rPr lang="en-US" dirty="0"/>
              <a:t> data. </a:t>
            </a:r>
          </a:p>
          <a:p>
            <a:pPr lvl="0"/>
            <a:r>
              <a:rPr lang="en-US" dirty="0" err="1"/>
              <a:t>Berada</a:t>
            </a:r>
            <a:r>
              <a:rPr lang="en-US" dirty="0"/>
              <a:t> </a:t>
            </a:r>
            <a:r>
              <a:rPr lang="en-US" dirty="0" err="1"/>
              <a:t>diluar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, </a:t>
            </a:r>
            <a:r>
              <a:rPr lang="en-US" dirty="0" err="1"/>
              <a:t>tetap</a:t>
            </a:r>
            <a:r>
              <a:rPr lang="en-US" dirty="0"/>
              <a:t> </a:t>
            </a:r>
            <a:r>
              <a:rPr lang="en-US" dirty="0" err="1"/>
              <a:t>berinteraksi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Bentuk</a:t>
            </a:r>
            <a:r>
              <a:rPr lang="en-US" dirty="0"/>
              <a:t> </a:t>
            </a:r>
            <a:r>
              <a:rPr lang="en-US" dirty="0" err="1"/>
              <a:t>interaksi</a:t>
            </a:r>
            <a:r>
              <a:rPr lang="en-US" dirty="0"/>
              <a:t>: </a:t>
            </a:r>
            <a:r>
              <a:rPr lang="en-US" dirty="0" err="1"/>
              <a:t>menerima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, </a:t>
            </a:r>
            <a:r>
              <a:rPr lang="en-US" dirty="0" err="1"/>
              <a:t>memicu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sesuatu</a:t>
            </a:r>
            <a:r>
              <a:rPr lang="en-US" dirty="0"/>
              <a:t>, </a:t>
            </a:r>
            <a:r>
              <a:rPr lang="en-US" dirty="0" err="1"/>
              <a:t>memberikan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</a:t>
            </a:r>
            <a:r>
              <a:rPr lang="en-US" dirty="0" err="1"/>
              <a:t>kepada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Contoh</a:t>
            </a:r>
            <a:r>
              <a:rPr lang="en-US" dirty="0"/>
              <a:t>: Customer, manager.</a:t>
            </a:r>
          </a:p>
          <a:p>
            <a:pPr lvl="0"/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termasuk</a:t>
            </a:r>
            <a:r>
              <a:rPr lang="en-US" dirty="0"/>
              <a:t> external </a:t>
            </a:r>
            <a:r>
              <a:rPr lang="en-US" dirty="0" err="1"/>
              <a:t>entitites</a:t>
            </a:r>
            <a:r>
              <a:rPr lang="en-US" dirty="0"/>
              <a:t>: </a:t>
            </a:r>
            <a:r>
              <a:rPr lang="en-US" dirty="0" err="1"/>
              <a:t>Staf</a:t>
            </a:r>
            <a:r>
              <a:rPr lang="en-US" dirty="0"/>
              <a:t> admin,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staf</a:t>
            </a:r>
            <a:r>
              <a:rPr lang="en-US" dirty="0"/>
              <a:t> lain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berperan</a:t>
            </a:r>
            <a:r>
              <a:rPr lang="en-US" dirty="0"/>
              <a:t> “</a:t>
            </a:r>
            <a:r>
              <a:rPr lang="en-US" dirty="0" err="1"/>
              <a:t>memindahkan</a:t>
            </a:r>
            <a:r>
              <a:rPr lang="en-US" dirty="0"/>
              <a:t>” data.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Aturan</a:t>
            </a:r>
            <a:r>
              <a:rPr lang="en-US" dirty="0"/>
              <a:t> </a:t>
            </a:r>
            <a:r>
              <a:rPr lang="en-US" dirty="0" err="1"/>
              <a:t>Penggambaran</a:t>
            </a:r>
            <a:r>
              <a:rPr lang="en-US" dirty="0"/>
              <a:t>:</a:t>
            </a:r>
          </a:p>
          <a:p>
            <a:pPr lvl="0"/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tersambung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proses </a:t>
            </a:r>
            <a:r>
              <a:rPr lang="en-US" dirty="0" err="1"/>
              <a:t>melalui</a:t>
            </a:r>
            <a:r>
              <a:rPr lang="en-US" dirty="0"/>
              <a:t> data flow</a:t>
            </a:r>
          </a:p>
          <a:p>
            <a:pPr lvl="0"/>
            <a:r>
              <a:rPr lang="en-US" dirty="0" err="1"/>
              <a:t>Diberi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berupa</a:t>
            </a:r>
            <a:r>
              <a:rPr lang="en-US" dirty="0"/>
              <a:t> </a:t>
            </a:r>
            <a:r>
              <a:rPr lang="en-US" b="1" dirty="0"/>
              <a:t>kata </a:t>
            </a:r>
            <a:r>
              <a:rPr lang="en-US" b="1" dirty="0" err="1"/>
              <a:t>benda</a:t>
            </a:r>
            <a:r>
              <a:rPr lang="en-US" dirty="0"/>
              <a:t>.</a:t>
            </a:r>
          </a:p>
          <a:p>
            <a:pPr marL="0" indent="0">
              <a:spcAft>
                <a:spcPts val="1200"/>
              </a:spcAft>
              <a:buNone/>
            </a:pPr>
            <a:endParaRPr lang="sv-SE" dirty="0"/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r>
              <a:rPr lang="en-US" dirty="0"/>
              <a:t>External Entity (Cont..)</a:t>
            </a:r>
            <a:endParaRPr lang="id-ID" sz="3600" b="1" dirty="0"/>
          </a:p>
        </p:txBody>
      </p:sp>
    </p:spTree>
    <p:extLst>
      <p:ext uri="{BB962C8B-B14F-4D97-AF65-F5344CB8AC3E}">
        <p14:creationId xmlns:p14="http://schemas.microsoft.com/office/powerpoint/2010/main" val="2087334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15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064872"/>
            <a:ext cx="10515600" cy="5437528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b="1" dirty="0" err="1"/>
              <a:t>Aliran</a:t>
            </a:r>
            <a:r>
              <a:rPr lang="en-US" b="1" dirty="0"/>
              <a:t> data </a:t>
            </a:r>
            <a:r>
              <a:rPr lang="en-US" b="1" dirty="0" err="1"/>
              <a:t>mewakili</a:t>
            </a:r>
            <a:r>
              <a:rPr lang="en-US" b="1" dirty="0"/>
              <a:t> </a:t>
            </a:r>
            <a:r>
              <a:rPr lang="en-US" b="1" dirty="0" err="1"/>
              <a:t>jalur</a:t>
            </a:r>
            <a:r>
              <a:rPr lang="en-US" b="1" dirty="0"/>
              <a:t> </a:t>
            </a:r>
            <a:r>
              <a:rPr lang="en-US" b="1" dirty="0" err="1"/>
              <a:t>perpindahan</a:t>
            </a:r>
            <a:r>
              <a:rPr lang="en-US" b="1" dirty="0"/>
              <a:t> data </a:t>
            </a:r>
            <a:r>
              <a:rPr lang="en-US" b="1" dirty="0" err="1"/>
              <a:t>dari</a:t>
            </a:r>
            <a:r>
              <a:rPr lang="en-US" b="1" dirty="0"/>
              <a:t> </a:t>
            </a:r>
            <a:r>
              <a:rPr lang="en-US" b="1" dirty="0" err="1"/>
              <a:t>satu</a:t>
            </a:r>
            <a:r>
              <a:rPr lang="en-US" b="1" dirty="0"/>
              <a:t> </a:t>
            </a:r>
            <a:r>
              <a:rPr lang="en-US" b="1" dirty="0" err="1"/>
              <a:t>elemen</a:t>
            </a:r>
            <a:r>
              <a:rPr lang="en-US" b="1" dirty="0"/>
              <a:t> </a:t>
            </a:r>
            <a:r>
              <a:rPr lang="en-US" b="1" dirty="0" err="1"/>
              <a:t>sistem</a:t>
            </a:r>
            <a:r>
              <a:rPr lang="en-US" b="1" dirty="0"/>
              <a:t> </a:t>
            </a:r>
            <a:r>
              <a:rPr lang="en-US" b="1" dirty="0" err="1"/>
              <a:t>ke</a:t>
            </a:r>
            <a:r>
              <a:rPr lang="en-US" b="1" dirty="0"/>
              <a:t> </a:t>
            </a:r>
            <a:r>
              <a:rPr lang="en-US" b="1" dirty="0" err="1"/>
              <a:t>elemen</a:t>
            </a:r>
            <a:r>
              <a:rPr lang="en-US" b="1" dirty="0"/>
              <a:t> </a:t>
            </a:r>
            <a:r>
              <a:rPr lang="en-US" b="1" dirty="0" err="1"/>
              <a:t>lainnya</a:t>
            </a:r>
            <a:r>
              <a:rPr lang="en-US" b="1" dirty="0"/>
              <a:t>.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dirty="0" err="1"/>
              <a:t>Aliran</a:t>
            </a:r>
            <a:r>
              <a:rPr lang="en-US" dirty="0"/>
              <a:t> data </a:t>
            </a:r>
            <a:r>
              <a:rPr lang="en-US" dirty="0" err="1"/>
              <a:t>digambarkan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</a:t>
            </a:r>
            <a:r>
              <a:rPr lang="en-US" dirty="0" err="1"/>
              <a:t>panah</a:t>
            </a:r>
            <a:r>
              <a:rPr lang="en-US" dirty="0"/>
              <a:t> </a:t>
            </a:r>
            <a:r>
              <a:rPr lang="en-US" dirty="0" err="1"/>
              <a:t>berarah</a:t>
            </a:r>
            <a:r>
              <a:rPr lang="en-US" dirty="0"/>
              <a:t> yang </a:t>
            </a:r>
            <a:r>
              <a:rPr lang="en-US" dirty="0" err="1"/>
              <a:t>menunjukkan</a:t>
            </a:r>
            <a:r>
              <a:rPr lang="en-US" dirty="0"/>
              <a:t> </a:t>
            </a:r>
            <a:r>
              <a:rPr lang="en-US" dirty="0" err="1"/>
              <a:t>arah</a:t>
            </a:r>
            <a:r>
              <a:rPr lang="en-US" dirty="0"/>
              <a:t> </a:t>
            </a:r>
            <a:r>
              <a:rPr lang="en-US" dirty="0" err="1"/>
              <a:t>sumber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tujuan</a:t>
            </a:r>
            <a:r>
              <a:rPr lang="en-US" dirty="0"/>
              <a:t> data. </a:t>
            </a:r>
            <a:endParaRPr lang="sv-SE" dirty="0"/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r>
              <a:rPr lang="en-US" dirty="0"/>
              <a:t>4. </a:t>
            </a:r>
            <a:r>
              <a:rPr lang="en-US" dirty="0" err="1"/>
              <a:t>Aliran</a:t>
            </a:r>
            <a:r>
              <a:rPr lang="en-US" dirty="0"/>
              <a:t> Data</a:t>
            </a:r>
          </a:p>
        </p:txBody>
      </p:sp>
      <p:pic>
        <p:nvPicPr>
          <p:cNvPr id="7" name="Picture 6"/>
          <p:cNvPicPr/>
          <p:nvPr/>
        </p:nvPicPr>
        <p:blipFill>
          <a:blip r:embed="rId3"/>
          <a:stretch>
            <a:fillRect/>
          </a:stretch>
        </p:blipFill>
        <p:spPr>
          <a:xfrm>
            <a:off x="2680939" y="3363278"/>
            <a:ext cx="6470865" cy="2854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898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16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064872"/>
            <a:ext cx="10515600" cy="543752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err="1"/>
              <a:t>Aturan</a:t>
            </a:r>
            <a:r>
              <a:rPr lang="en-US" dirty="0"/>
              <a:t> </a:t>
            </a:r>
            <a:r>
              <a:rPr lang="en-US" dirty="0" err="1"/>
              <a:t>Penggambaran</a:t>
            </a:r>
            <a:r>
              <a:rPr lang="en-US" dirty="0"/>
              <a:t> </a:t>
            </a:r>
            <a:r>
              <a:rPr lang="en-US" dirty="0" err="1"/>
              <a:t>Aliran</a:t>
            </a:r>
            <a:r>
              <a:rPr lang="en-US" dirty="0"/>
              <a:t> Data:</a:t>
            </a:r>
          </a:p>
          <a:p>
            <a:pPr lvl="0"/>
            <a:r>
              <a:rPr lang="en-US" dirty="0" err="1"/>
              <a:t>Panah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selalu</a:t>
            </a:r>
            <a:r>
              <a:rPr lang="en-US" dirty="0"/>
              <a:t> </a:t>
            </a:r>
            <a:r>
              <a:rPr lang="en-US" dirty="0" err="1"/>
              <a:t>dilengkapi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data yang </a:t>
            </a:r>
            <a:r>
              <a:rPr lang="en-US" dirty="0" err="1"/>
              <a:t>dilewatkan</a:t>
            </a:r>
            <a:r>
              <a:rPr lang="en-US" dirty="0"/>
              <a:t>, </a:t>
            </a:r>
            <a:r>
              <a:rPr lang="en-US" dirty="0" err="1"/>
              <a:t>nama</a:t>
            </a:r>
            <a:r>
              <a:rPr lang="en-US" dirty="0"/>
              <a:t> data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berupa</a:t>
            </a:r>
            <a:r>
              <a:rPr lang="en-US" dirty="0"/>
              <a:t> kata </a:t>
            </a:r>
            <a:r>
              <a:rPr lang="en-US" dirty="0" err="1"/>
              <a:t>benda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Fork, </a:t>
            </a:r>
            <a:r>
              <a:rPr lang="en-US" dirty="0" err="1"/>
              <a:t>menggambarkan</a:t>
            </a:r>
            <a:r>
              <a:rPr lang="en-US" dirty="0"/>
              <a:t> data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keluar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lokasi</a:t>
            </a:r>
            <a:r>
              <a:rPr lang="en-US" dirty="0"/>
              <a:t> </a:t>
            </a:r>
            <a:r>
              <a:rPr lang="en-US" dirty="0" err="1"/>
              <a:t>menuju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proses, data source </a:t>
            </a:r>
            <a:r>
              <a:rPr lang="en-US" dirty="0" err="1"/>
              <a:t>atau</a:t>
            </a:r>
            <a:r>
              <a:rPr lang="en-US" dirty="0"/>
              <a:t> sink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berbeda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Join, </a:t>
            </a:r>
            <a:r>
              <a:rPr lang="en-US" dirty="0" err="1"/>
              <a:t>menggambarkan</a:t>
            </a:r>
            <a:r>
              <a:rPr lang="en-US" dirty="0"/>
              <a:t> data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datang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proses, data store </a:t>
            </a:r>
            <a:r>
              <a:rPr lang="en-US" dirty="0" err="1"/>
              <a:t>atau</a:t>
            </a:r>
            <a:r>
              <a:rPr lang="en-US" dirty="0"/>
              <a:t> source/sinks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berbeda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lokasi</a:t>
            </a:r>
            <a:r>
              <a:rPr lang="en-US" dirty="0"/>
              <a:t>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Aliran</a:t>
            </a:r>
            <a:r>
              <a:rPr lang="en-US" dirty="0"/>
              <a:t> data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kembali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tempat</a:t>
            </a:r>
            <a:r>
              <a:rPr lang="en-US" dirty="0"/>
              <a:t> </a:t>
            </a:r>
            <a:r>
              <a:rPr lang="en-US" dirty="0" err="1"/>
              <a:t>asal</a:t>
            </a:r>
            <a:r>
              <a:rPr lang="en-US" dirty="0"/>
              <a:t> data </a:t>
            </a:r>
            <a:r>
              <a:rPr lang="en-US" dirty="0" err="1"/>
              <a:t>tersebut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Aliran</a:t>
            </a:r>
            <a:r>
              <a:rPr lang="en-US" dirty="0"/>
              <a:t> data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arah</a:t>
            </a:r>
            <a:r>
              <a:rPr lang="en-US" dirty="0"/>
              <a:t> data store </a:t>
            </a:r>
            <a:r>
              <a:rPr lang="en-US" dirty="0" err="1"/>
              <a:t>berarti</a:t>
            </a:r>
            <a:r>
              <a:rPr lang="en-US" dirty="0"/>
              <a:t> update (</a:t>
            </a:r>
            <a:r>
              <a:rPr lang="en-US" dirty="0" err="1"/>
              <a:t>merubah</a:t>
            </a:r>
            <a:r>
              <a:rPr lang="en-US" dirty="0"/>
              <a:t> </a:t>
            </a:r>
            <a:r>
              <a:rPr lang="en-US" dirty="0" err="1"/>
              <a:t>isi</a:t>
            </a:r>
            <a:r>
              <a:rPr lang="en-US" dirty="0"/>
              <a:t> data).</a:t>
            </a:r>
          </a:p>
          <a:p>
            <a:pPr lvl="0"/>
            <a:r>
              <a:rPr lang="en-US" dirty="0" err="1"/>
              <a:t>Aliran</a:t>
            </a:r>
            <a:r>
              <a:rPr lang="en-US" dirty="0"/>
              <a:t> data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arah</a:t>
            </a:r>
            <a:r>
              <a:rPr lang="en-US" dirty="0"/>
              <a:t> data store </a:t>
            </a:r>
            <a:r>
              <a:rPr lang="en-US" dirty="0" err="1"/>
              <a:t>berarti</a:t>
            </a:r>
            <a:r>
              <a:rPr lang="en-US" dirty="0"/>
              <a:t> retrieve (</a:t>
            </a:r>
            <a:r>
              <a:rPr lang="en-US" dirty="0" err="1"/>
              <a:t>menggunakan</a:t>
            </a:r>
            <a:r>
              <a:rPr lang="en-US" dirty="0"/>
              <a:t> / </a:t>
            </a:r>
            <a:r>
              <a:rPr lang="en-US" dirty="0" err="1"/>
              <a:t>mengambil</a:t>
            </a:r>
            <a:r>
              <a:rPr lang="en-US" dirty="0"/>
              <a:t>).</a:t>
            </a:r>
          </a:p>
          <a:p>
            <a:pPr marL="0" indent="0">
              <a:spcAft>
                <a:spcPts val="1200"/>
              </a:spcAft>
              <a:buNone/>
            </a:pPr>
            <a:endParaRPr lang="sv-SE" dirty="0"/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r>
              <a:rPr lang="en-US" dirty="0" err="1"/>
              <a:t>Aliran</a:t>
            </a:r>
            <a:r>
              <a:rPr lang="en-US" dirty="0"/>
              <a:t> Data (Cont..)</a:t>
            </a:r>
            <a:endParaRPr lang="id-ID" sz="3600" b="1" dirty="0"/>
          </a:p>
        </p:txBody>
      </p:sp>
    </p:spTree>
    <p:extLst>
      <p:ext uri="{BB962C8B-B14F-4D97-AF65-F5344CB8AC3E}">
        <p14:creationId xmlns:p14="http://schemas.microsoft.com/office/powerpoint/2010/main" val="1493135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0AA8106-9F8F-4EFA-85FB-16CA96AEF97A}"/>
              </a:ext>
            </a:extLst>
          </p:cNvPr>
          <p:cNvSpPr txBox="1">
            <a:spLocks/>
          </p:cNvSpPr>
          <p:nvPr/>
        </p:nvSpPr>
        <p:spPr>
          <a:xfrm>
            <a:off x="1647638" y="2310402"/>
            <a:ext cx="8909525" cy="22065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800" dirty="0"/>
              <a:t>Diagram </a:t>
            </a:r>
            <a:r>
              <a:rPr lang="en-US" sz="8800" dirty="0" err="1"/>
              <a:t>Konteks</a:t>
            </a:r>
            <a:endParaRPr lang="en-ID" sz="7200" spc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0020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18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064872"/>
            <a:ext cx="10515600" cy="5437528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dirty="0"/>
              <a:t>DFD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digambarkan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hirarikal</a:t>
            </a:r>
            <a:r>
              <a:rPr lang="en-US" dirty="0"/>
              <a:t>,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pendekatan</a:t>
            </a:r>
            <a:r>
              <a:rPr lang="en-US" dirty="0"/>
              <a:t> top-</a:t>
            </a:r>
            <a:r>
              <a:rPr lang="en-US" dirty="0" err="1"/>
              <a:t>buttom</a:t>
            </a:r>
            <a:r>
              <a:rPr lang="en-US" dirty="0"/>
              <a:t>, </a:t>
            </a:r>
            <a:r>
              <a:rPr lang="en-US" dirty="0" err="1"/>
              <a:t>dari</a:t>
            </a:r>
            <a:r>
              <a:rPr lang="en-US" dirty="0"/>
              <a:t> proses </a:t>
            </a:r>
            <a:r>
              <a:rPr lang="en-US" dirty="0" err="1"/>
              <a:t>utama</a:t>
            </a:r>
            <a:r>
              <a:rPr lang="en-US" dirty="0"/>
              <a:t> </a:t>
            </a:r>
            <a:r>
              <a:rPr lang="en-US" dirty="0" err="1"/>
              <a:t>hingga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sub proses yang paling </a:t>
            </a:r>
            <a:r>
              <a:rPr lang="en-US" dirty="0" err="1"/>
              <a:t>rinci</a:t>
            </a:r>
            <a:r>
              <a:rPr lang="en-US" dirty="0"/>
              <a:t>.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dirty="0"/>
              <a:t>DFD </a:t>
            </a:r>
            <a:r>
              <a:rPr lang="en-US" dirty="0" err="1"/>
              <a:t>untuk</a:t>
            </a:r>
            <a:r>
              <a:rPr lang="en-US" dirty="0"/>
              <a:t> proses </a:t>
            </a:r>
            <a:r>
              <a:rPr lang="en-US" dirty="0" err="1"/>
              <a:t>utama</a:t>
            </a:r>
            <a:r>
              <a:rPr lang="en-US" dirty="0"/>
              <a:t> </a:t>
            </a:r>
            <a:r>
              <a:rPr lang="en-US" dirty="0" err="1"/>
              <a:t>disebut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context diagram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meruapakan</a:t>
            </a:r>
            <a:r>
              <a:rPr lang="en-US" dirty="0"/>
              <a:t> </a:t>
            </a:r>
            <a:r>
              <a:rPr lang="en-US" dirty="0" err="1"/>
              <a:t>perwakilan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sendiri</a:t>
            </a:r>
            <a:r>
              <a:rPr lang="en-US" dirty="0"/>
              <a:t>. DFD </a:t>
            </a:r>
            <a:r>
              <a:rPr lang="en-US" dirty="0" err="1"/>
              <a:t>untuk</a:t>
            </a:r>
            <a:r>
              <a:rPr lang="en-US" dirty="0"/>
              <a:t> proses2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diturunakn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proses </a:t>
            </a:r>
            <a:r>
              <a:rPr lang="en-US" dirty="0" err="1"/>
              <a:t>utama</a:t>
            </a:r>
            <a:r>
              <a:rPr lang="en-US" dirty="0"/>
              <a:t> </a:t>
            </a:r>
            <a:r>
              <a:rPr lang="en-US" dirty="0" err="1"/>
              <a:t>diberi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tingkatan</a:t>
            </a:r>
            <a:r>
              <a:rPr lang="en-US" dirty="0"/>
              <a:t>/level </a:t>
            </a:r>
            <a:r>
              <a:rPr lang="en-US" dirty="0" err="1"/>
              <a:t>misalnya</a:t>
            </a:r>
            <a:r>
              <a:rPr lang="en-US" dirty="0"/>
              <a:t> DFD level 0,1,2,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seterusnya</a:t>
            </a:r>
            <a:r>
              <a:rPr lang="en-US" dirty="0"/>
              <a:t>.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dirty="0" err="1"/>
              <a:t>Penentuan</a:t>
            </a:r>
            <a:r>
              <a:rPr lang="en-US" dirty="0"/>
              <a:t> </a:t>
            </a:r>
            <a:r>
              <a:rPr lang="en-US" dirty="0" err="1"/>
              <a:t>kedalaman</a:t>
            </a:r>
            <a:r>
              <a:rPr lang="en-US" dirty="0"/>
              <a:t>/ </a:t>
            </a:r>
            <a:r>
              <a:rPr lang="en-US" dirty="0" err="1"/>
              <a:t>kedetilan</a:t>
            </a:r>
            <a:r>
              <a:rPr lang="en-US" dirty="0"/>
              <a:t> </a:t>
            </a:r>
            <a:r>
              <a:rPr lang="en-US" dirty="0" err="1"/>
              <a:t>penurunan</a:t>
            </a:r>
            <a:r>
              <a:rPr lang="en-US" dirty="0"/>
              <a:t> DFD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disesuaikan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kebutuhan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didasari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</a:t>
            </a:r>
            <a:r>
              <a:rPr lang="en-US" dirty="0" err="1"/>
              <a:t>prinsip</a:t>
            </a:r>
            <a:r>
              <a:rPr lang="en-US" dirty="0"/>
              <a:t> </a:t>
            </a:r>
            <a:r>
              <a:rPr lang="en-US" dirty="0" err="1"/>
              <a:t>dekomposisi</a:t>
            </a:r>
            <a:r>
              <a:rPr lang="en-US" dirty="0"/>
              <a:t>.</a:t>
            </a:r>
          </a:p>
          <a:p>
            <a:pPr marL="0" indent="0">
              <a:spcAft>
                <a:spcPts val="1200"/>
              </a:spcAft>
              <a:buNone/>
            </a:pPr>
            <a:endParaRPr lang="sv-SE" dirty="0"/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r>
              <a:rPr lang="en-US" dirty="0"/>
              <a:t>Context Diagram</a:t>
            </a:r>
          </a:p>
        </p:txBody>
      </p:sp>
    </p:spTree>
    <p:extLst>
      <p:ext uri="{BB962C8B-B14F-4D97-AF65-F5344CB8AC3E}">
        <p14:creationId xmlns:p14="http://schemas.microsoft.com/office/powerpoint/2010/main" val="3095188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19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828800"/>
            <a:ext cx="4874884" cy="4721628"/>
          </a:xfrm>
        </p:spPr>
        <p:txBody>
          <a:bodyPr>
            <a:normAutofit/>
          </a:bodyPr>
          <a:lstStyle/>
          <a:p>
            <a:pPr lvl="0"/>
            <a:r>
              <a:rPr lang="en-US" dirty="0" err="1"/>
              <a:t>Masukan</a:t>
            </a:r>
            <a:r>
              <a:rPr lang="en-US" dirty="0"/>
              <a:t> </a:t>
            </a:r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diperlukan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?</a:t>
            </a:r>
          </a:p>
          <a:p>
            <a:pPr lvl="0"/>
            <a:endParaRPr lang="en-US" dirty="0"/>
          </a:p>
          <a:p>
            <a:pPr lvl="0"/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keluaran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?</a:t>
            </a:r>
          </a:p>
          <a:p>
            <a:pPr lvl="0"/>
            <a:endParaRPr lang="en-US" dirty="0"/>
          </a:p>
          <a:p>
            <a:pPr lvl="0"/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pihak</a:t>
            </a:r>
            <a:r>
              <a:rPr lang="en-US" dirty="0"/>
              <a:t> </a:t>
            </a:r>
            <a:r>
              <a:rPr lang="en-US" dirty="0" err="1"/>
              <a:t>mana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berinteraksi</a:t>
            </a:r>
            <a:r>
              <a:rPr lang="en-US" dirty="0"/>
              <a:t>?</a:t>
            </a:r>
          </a:p>
          <a:p>
            <a:pPr>
              <a:spcAft>
                <a:spcPts val="1200"/>
              </a:spcAft>
            </a:pPr>
            <a:endParaRPr lang="sv-SE" dirty="0"/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Manfaat</a:t>
            </a:r>
            <a:r>
              <a:rPr lang="en-US" dirty="0"/>
              <a:t> </a:t>
            </a:r>
            <a:r>
              <a:rPr lang="en-US" dirty="0" err="1"/>
              <a:t>penggambaran</a:t>
            </a:r>
            <a:r>
              <a:rPr lang="en-US" dirty="0"/>
              <a:t> context diagram </a:t>
            </a:r>
            <a:r>
              <a:rPr lang="en-US" dirty="0" err="1"/>
              <a:t>salah</a:t>
            </a:r>
            <a:r>
              <a:rPr lang="en-US" dirty="0"/>
              <a:t> </a:t>
            </a:r>
            <a:r>
              <a:rPr lang="en-US" dirty="0" err="1"/>
              <a:t>satunya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menjawab</a:t>
            </a:r>
            <a:r>
              <a:rPr lang="en-US" dirty="0"/>
              <a:t> </a:t>
            </a:r>
            <a:r>
              <a:rPr lang="en-US" dirty="0" err="1"/>
              <a:t>pertanyaan</a:t>
            </a:r>
            <a:r>
              <a:rPr lang="en-US" dirty="0"/>
              <a:t>:</a:t>
            </a:r>
          </a:p>
        </p:txBody>
      </p:sp>
      <p:pic>
        <p:nvPicPr>
          <p:cNvPr id="7" name="Picture 6"/>
          <p:cNvPicPr/>
          <p:nvPr/>
        </p:nvPicPr>
        <p:blipFill>
          <a:blip r:embed="rId3"/>
          <a:stretch>
            <a:fillRect/>
          </a:stretch>
        </p:blipFill>
        <p:spPr>
          <a:xfrm>
            <a:off x="5932025" y="1436628"/>
            <a:ext cx="6012239" cy="476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596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0AA8106-9F8F-4EFA-85FB-16CA96AEF97A}"/>
              </a:ext>
            </a:extLst>
          </p:cNvPr>
          <p:cNvSpPr txBox="1">
            <a:spLocks/>
          </p:cNvSpPr>
          <p:nvPr/>
        </p:nvSpPr>
        <p:spPr>
          <a:xfrm>
            <a:off x="1647639" y="2310402"/>
            <a:ext cx="7529612" cy="22065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800" dirty="0" err="1"/>
              <a:t>Dekomposisi</a:t>
            </a:r>
            <a:endParaRPr lang="en-US" sz="8800" dirty="0"/>
          </a:p>
          <a:p>
            <a:r>
              <a:rPr lang="en-US" sz="8800" dirty="0"/>
              <a:t>DFD</a:t>
            </a:r>
            <a:endParaRPr lang="en-ID" sz="7200" spc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0020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21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064872"/>
            <a:ext cx="10515600" cy="543752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err="1"/>
              <a:t>Dekomposisi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DFD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menguraikan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proses </a:t>
            </a:r>
            <a:r>
              <a:rPr lang="en-US" dirty="0" err="1"/>
              <a:t>utama</a:t>
            </a:r>
            <a:r>
              <a:rPr lang="en-US" dirty="0"/>
              <a:t> (context) </a:t>
            </a:r>
            <a:r>
              <a:rPr lang="en-US" dirty="0" err="1"/>
              <a:t>menjadi</a:t>
            </a:r>
            <a:r>
              <a:rPr lang="en-US" dirty="0"/>
              <a:t> sub-sub proses.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tahapan</a:t>
            </a:r>
            <a:r>
              <a:rPr lang="en-US" dirty="0"/>
              <a:t> </a:t>
            </a:r>
            <a:r>
              <a:rPr lang="en-US" dirty="0" err="1"/>
              <a:t>berikutnya</a:t>
            </a:r>
            <a:r>
              <a:rPr lang="en-US" dirty="0"/>
              <a:t> </a:t>
            </a:r>
            <a:r>
              <a:rPr lang="en-US" dirty="0" err="1"/>
              <a:t>disebut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“Level”.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dirty="0" err="1"/>
              <a:t>tingkatan</a:t>
            </a:r>
            <a:r>
              <a:rPr lang="en-US" dirty="0"/>
              <a:t> </a:t>
            </a:r>
            <a:r>
              <a:rPr lang="en-US" dirty="0" err="1"/>
              <a:t>rinci</a:t>
            </a:r>
            <a:r>
              <a:rPr lang="en-US" dirty="0"/>
              <a:t> </a:t>
            </a:r>
            <a:r>
              <a:rPr lang="en-US" dirty="0" err="1"/>
              <a:t>yg</a:t>
            </a:r>
            <a:r>
              <a:rPr lang="en-US" dirty="0"/>
              <a:t> </a:t>
            </a:r>
            <a:r>
              <a:rPr lang="en-US" dirty="0" err="1"/>
              <a:t>diturunkan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dekomposisi</a:t>
            </a:r>
            <a:r>
              <a:rPr lang="en-US" dirty="0"/>
              <a:t> </a:t>
            </a:r>
            <a:r>
              <a:rPr lang="en-US" dirty="0" err="1"/>
              <a:t>disebut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level,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seringkali</a:t>
            </a:r>
            <a:r>
              <a:rPr lang="en-US" dirty="0"/>
              <a:t> proses </a:t>
            </a:r>
            <a:r>
              <a:rPr lang="en-US" dirty="0" err="1"/>
              <a:t>dekomposisi</a:t>
            </a:r>
            <a:r>
              <a:rPr lang="en-US" dirty="0"/>
              <a:t> </a:t>
            </a:r>
            <a:r>
              <a:rPr lang="en-US" dirty="0" err="1"/>
              <a:t>disebut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leveling.</a:t>
            </a:r>
          </a:p>
          <a:p>
            <a:pPr lvl="0"/>
            <a:r>
              <a:rPr lang="en-US" dirty="0"/>
              <a:t>Level 0: </a:t>
            </a:r>
            <a:r>
              <a:rPr lang="en-US" dirty="0" err="1"/>
              <a:t>Menggambarkan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proses UTAMA yang </a:t>
            </a:r>
            <a:r>
              <a:rPr lang="en-US" dirty="0" err="1"/>
              <a:t>terjadi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Level 1: </a:t>
            </a:r>
            <a:r>
              <a:rPr lang="en-US" dirty="0" err="1"/>
              <a:t>menggambarkan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sub proses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salah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proses </a:t>
            </a:r>
            <a:r>
              <a:rPr lang="en-US" dirty="0" err="1"/>
              <a:t>pada</a:t>
            </a:r>
            <a:r>
              <a:rPr lang="en-US" dirty="0"/>
              <a:t> level 0.</a:t>
            </a:r>
          </a:p>
          <a:p>
            <a:pPr lvl="0"/>
            <a:r>
              <a:rPr lang="en-US" dirty="0"/>
              <a:t>Level 2: </a:t>
            </a:r>
            <a:r>
              <a:rPr lang="en-US" dirty="0" err="1"/>
              <a:t>menggambarkan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sub proses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salah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proses </a:t>
            </a:r>
            <a:r>
              <a:rPr lang="en-US" dirty="0" err="1"/>
              <a:t>pada</a:t>
            </a:r>
            <a:r>
              <a:rPr lang="en-US" dirty="0"/>
              <a:t> level 1.</a:t>
            </a:r>
          </a:p>
          <a:p>
            <a:pPr marL="0" indent="0">
              <a:spcAft>
                <a:spcPts val="1200"/>
              </a:spcAft>
              <a:buNone/>
            </a:pPr>
            <a:endParaRPr lang="sv-SE" dirty="0"/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r>
              <a:rPr lang="en-US" dirty="0" err="1"/>
              <a:t>Dekomposisi</a:t>
            </a:r>
            <a:r>
              <a:rPr lang="en-US" dirty="0"/>
              <a:t> DFD</a:t>
            </a:r>
          </a:p>
        </p:txBody>
      </p:sp>
    </p:spTree>
    <p:extLst>
      <p:ext uri="{BB962C8B-B14F-4D97-AF65-F5344CB8AC3E}">
        <p14:creationId xmlns:p14="http://schemas.microsoft.com/office/powerpoint/2010/main" val="2424596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22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r>
              <a:rPr lang="en-US" sz="3600" b="1" dirty="0" err="1"/>
              <a:t>Contoh</a:t>
            </a:r>
            <a:r>
              <a:rPr lang="en-US" sz="3600" b="1" dirty="0"/>
              <a:t> </a:t>
            </a:r>
            <a:r>
              <a:rPr lang="en-US" sz="3600" b="1" dirty="0" err="1"/>
              <a:t>Dekomposisi</a:t>
            </a:r>
            <a:endParaRPr lang="id-ID" sz="3600" b="1" dirty="0"/>
          </a:p>
        </p:txBody>
      </p:sp>
      <p:pic>
        <p:nvPicPr>
          <p:cNvPr id="7" name="Content Placeholder 6"/>
          <p:cNvPicPr>
            <a:picLocks noGrp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60072" y="1013613"/>
            <a:ext cx="6860598" cy="5637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365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0AA8106-9F8F-4EFA-85FB-16CA96AEF97A}"/>
              </a:ext>
            </a:extLst>
          </p:cNvPr>
          <p:cNvSpPr txBox="1">
            <a:spLocks/>
          </p:cNvSpPr>
          <p:nvPr/>
        </p:nvSpPr>
        <p:spPr>
          <a:xfrm>
            <a:off x="1647639" y="2310402"/>
            <a:ext cx="7529612" cy="22065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800" dirty="0" err="1"/>
              <a:t>Kamus</a:t>
            </a:r>
            <a:r>
              <a:rPr lang="en-US" sz="8800" dirty="0"/>
              <a:t> Data</a:t>
            </a:r>
            <a:endParaRPr lang="en-ID" sz="7200" spc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0020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24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064872"/>
            <a:ext cx="10515600" cy="5437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/>
              <a:t>Kamus</a:t>
            </a:r>
            <a:r>
              <a:rPr lang="en-US" b="1" dirty="0"/>
              <a:t> data </a:t>
            </a:r>
            <a:r>
              <a:rPr lang="en-US" b="1" dirty="0" err="1"/>
              <a:t>adalah</a:t>
            </a:r>
            <a:r>
              <a:rPr lang="en-US" dirty="0"/>
              <a:t> </a:t>
            </a:r>
            <a:r>
              <a:rPr lang="en-US" dirty="0" err="1"/>
              <a:t>kumpulan</a:t>
            </a:r>
            <a:r>
              <a:rPr lang="en-US" dirty="0"/>
              <a:t> </a:t>
            </a:r>
            <a:r>
              <a:rPr lang="en-US" dirty="0" err="1"/>
              <a:t>daftar</a:t>
            </a:r>
            <a:r>
              <a:rPr lang="en-US" dirty="0"/>
              <a:t> </a:t>
            </a:r>
            <a:r>
              <a:rPr lang="en-US" dirty="0" err="1"/>
              <a:t>elemen</a:t>
            </a:r>
            <a:r>
              <a:rPr lang="en-US" dirty="0"/>
              <a:t> data yang </a:t>
            </a:r>
            <a:r>
              <a:rPr lang="en-US" dirty="0" err="1"/>
              <a:t>mengalir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perangkat</a:t>
            </a:r>
            <a:r>
              <a:rPr lang="en-US" dirty="0"/>
              <a:t> </a:t>
            </a:r>
            <a:r>
              <a:rPr lang="en-US" dirty="0" err="1"/>
              <a:t>lunak</a:t>
            </a:r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masukan</a:t>
            </a:r>
            <a:r>
              <a:rPr lang="en-US" dirty="0"/>
              <a:t> (input)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keluaran</a:t>
            </a:r>
            <a:r>
              <a:rPr lang="en-US" dirty="0"/>
              <a:t> (output)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dipahami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umum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Kamus</a:t>
            </a:r>
            <a:r>
              <a:rPr lang="en-US" dirty="0"/>
              <a:t> data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implementasi</a:t>
            </a:r>
            <a:r>
              <a:rPr lang="en-US" dirty="0"/>
              <a:t> program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parameter </a:t>
            </a:r>
            <a:r>
              <a:rPr lang="en-US" dirty="0" err="1"/>
              <a:t>masukan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keluaran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sebuh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procedure. </a:t>
            </a:r>
          </a:p>
        </p:txBody>
      </p:sp>
      <p:sp>
        <p:nvSpPr>
          <p:cNvPr id="6" name="Title 2"/>
          <p:cNvSpPr>
            <a:spLocks noGrp="1"/>
          </p:cNvSpPr>
          <p:nvPr>
            <p:ph type="title"/>
          </p:nvPr>
        </p:nvSpPr>
        <p:spPr>
          <a:xfrm>
            <a:off x="838200" y="16790"/>
            <a:ext cx="10515600" cy="868582"/>
          </a:xfrm>
        </p:spPr>
        <p:txBody>
          <a:bodyPr>
            <a:normAutofit/>
          </a:bodyPr>
          <a:lstStyle/>
          <a:p>
            <a:r>
              <a:rPr lang="en-US" dirty="0" err="1"/>
              <a:t>Kamus</a:t>
            </a:r>
            <a:r>
              <a:rPr lang="en-US" dirty="0"/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1772230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25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057141" y="1064872"/>
            <a:ext cx="10515600" cy="5437528"/>
          </a:xfrm>
        </p:spPr>
        <p:txBody>
          <a:bodyPr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dirty="0" err="1"/>
              <a:t>Kamus</a:t>
            </a:r>
            <a:r>
              <a:rPr lang="en-US" dirty="0"/>
              <a:t> data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beberapa</a:t>
            </a:r>
            <a:r>
              <a:rPr lang="en-US" dirty="0"/>
              <a:t> </a:t>
            </a:r>
            <a:r>
              <a:rPr lang="en-US" dirty="0" err="1"/>
              <a:t>simbol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menjelaskan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</a:t>
            </a:r>
            <a:r>
              <a:rPr lang="en-US" dirty="0" err="1"/>
              <a:t>tambahan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berikut</a:t>
            </a:r>
            <a:r>
              <a:rPr lang="en-US" dirty="0"/>
              <a:t>:</a:t>
            </a:r>
          </a:p>
        </p:txBody>
      </p:sp>
      <p:pic>
        <p:nvPicPr>
          <p:cNvPr id="7" name="Picture 6"/>
          <p:cNvPicPr/>
          <p:nvPr/>
        </p:nvPicPr>
        <p:blipFill>
          <a:blip r:embed="rId3"/>
          <a:stretch>
            <a:fillRect/>
          </a:stretch>
        </p:blipFill>
        <p:spPr>
          <a:xfrm>
            <a:off x="2587114" y="2211186"/>
            <a:ext cx="7485367" cy="416064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Simbol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Kamus</a:t>
            </a:r>
            <a:r>
              <a:rPr lang="en-US" dirty="0"/>
              <a:t> Data:</a:t>
            </a:r>
          </a:p>
        </p:txBody>
      </p:sp>
    </p:spTree>
    <p:extLst>
      <p:ext uri="{BB962C8B-B14F-4D97-AF65-F5344CB8AC3E}">
        <p14:creationId xmlns:p14="http://schemas.microsoft.com/office/powerpoint/2010/main" val="88859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0E4A4DB-036F-4816-A98C-42C4167E83C5}" type="slidenum">
              <a:rPr lang="en-US" sz="2400" b="1" smtClean="0">
                <a:solidFill>
                  <a:srgbClr val="FF0000"/>
                </a:solidFill>
              </a:rPr>
              <a:pPr/>
              <a:t>26</a:t>
            </a:fld>
            <a:endParaRPr lang="en-US" sz="2400" b="1" dirty="0">
              <a:solidFill>
                <a:srgbClr val="FF0000"/>
              </a:solidFill>
            </a:endParaRPr>
          </a:p>
        </p:txBody>
      </p:sp>
      <p:pic>
        <p:nvPicPr>
          <p:cNvPr id="7" name="Content Placeholder 6"/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8920" y="67349"/>
            <a:ext cx="5470185" cy="6749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/>
          <p:cNvPicPr/>
          <p:nvPr/>
        </p:nvPicPr>
        <p:blipFill>
          <a:blip r:embed="rId4"/>
          <a:stretch>
            <a:fillRect/>
          </a:stretch>
        </p:blipFill>
        <p:spPr>
          <a:xfrm>
            <a:off x="1184061" y="99751"/>
            <a:ext cx="4280800" cy="6683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122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6610" y="3228704"/>
            <a:ext cx="11585389" cy="634563"/>
          </a:xfrm>
        </p:spPr>
        <p:txBody>
          <a:bodyPr>
            <a:noAutofit/>
          </a:bodyPr>
          <a:lstStyle/>
          <a:p>
            <a:pPr algn="ctr"/>
            <a:r>
              <a:rPr lang="en-ID" sz="5400" b="0" dirty="0" err="1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Terimakasih</a:t>
            </a:r>
            <a:r>
              <a:rPr lang="en-ID" sz="5400" b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.</a:t>
            </a:r>
            <a:endParaRPr lang="id-ID" sz="5400" b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 vert="horz" lIns="91440" tIns="45720" rIns="91440" bIns="45720" rtlCol="0" anchor="ctr"/>
          <a:lstStyle/>
          <a:p>
            <a:fld id="{10E4A4DB-036F-4816-A98C-42C4167E83C5}" type="slidenum">
              <a:rPr lang="en-US" sz="1600">
                <a:solidFill>
                  <a:schemeClr val="bg1">
                    <a:lumMod val="75000"/>
                  </a:schemeClr>
                </a:solidFill>
              </a:rPr>
              <a:pPr/>
              <a:t>27</a:t>
            </a:fld>
            <a:endParaRPr lang="en-US" sz="160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520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8e8cb4bfcc71408835458d81e4acd2756fca537"/>
</p:tagLst>
</file>

<file path=ppt/theme/theme1.xml><?xml version="1.0" encoding="utf-8"?>
<a:theme xmlns:a="http://schemas.openxmlformats.org/drawingml/2006/main" name="Presentation level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3"/>
        </a:lnRef>
        <a:fillRef idx="2">
          <a:schemeClr val="accent3"/>
        </a:fillRef>
        <a:effectRef idx="1">
          <a:schemeClr val="accent3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tx2">
              <a:lumMod val="20000"/>
              <a:lumOff val="80000"/>
            </a:schemeClr>
          </a:solidFill>
        </a:ln>
      </a:spPr>
      <a:bodyPr wrap="none" rtlCol="0">
        <a:spAutoFit/>
      </a:bodyPr>
      <a:lstStyle>
        <a:defPPr>
          <a:defRPr dirty="0" err="1" smtClean="0">
            <a:ln>
              <a:solidFill>
                <a:schemeClr val="accent1">
                  <a:lumMod val="20000"/>
                  <a:lumOff val="80000"/>
                </a:schemeClr>
              </a:solidFill>
            </a:ln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 level design" id="{00E2FDB5-77A3-416C-8232-A2B8AB0B9A01}" vid="{6E3E8A63-E899-4F92-AFE5-C80B3CCFC0B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163AA760-FEA7-44E2-BB85-0893DB8CD7D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 design slides (Level design)</Template>
  <TotalTime>2</TotalTime>
  <Words>1169</Words>
  <Application>Microsoft Office PowerPoint</Application>
  <PresentationFormat>Layar Lebar</PresentationFormat>
  <Paragraphs>151</Paragraphs>
  <Slides>27</Slides>
  <Notes>23</Notes>
  <HiddenSlides>0</HiddenSlides>
  <MMClips>0</MMClips>
  <ScaleCrop>false</ScaleCrop>
  <HeadingPairs>
    <vt:vector size="6" baseType="variant">
      <vt:variant>
        <vt:lpstr>Font Dipakai</vt:lpstr>
      </vt:variant>
      <vt:variant>
        <vt:i4>3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27</vt:i4>
      </vt:variant>
    </vt:vector>
  </HeadingPairs>
  <TitlesOfParts>
    <vt:vector size="31" baseType="lpstr">
      <vt:lpstr>Century Gothic</vt:lpstr>
      <vt:lpstr>Times New Roman</vt:lpstr>
      <vt:lpstr>Wingdings</vt:lpstr>
      <vt:lpstr>Presentation level design</vt:lpstr>
      <vt:lpstr>ANALISA DAN PERANCANGAN SISTEM</vt:lpstr>
      <vt:lpstr>Objektif</vt:lpstr>
      <vt:lpstr>Sejarah DFD</vt:lpstr>
      <vt:lpstr>Pengertian DFD</vt:lpstr>
      <vt:lpstr>Presentasi PowerPoint</vt:lpstr>
      <vt:lpstr>Simbol-simbol DFD</vt:lpstr>
      <vt:lpstr>1. Proses:</vt:lpstr>
      <vt:lpstr>Identifikasi proses:</vt:lpstr>
      <vt:lpstr>Aturan Penggambaran Proses:</vt:lpstr>
      <vt:lpstr>Aturan Penggambaran Proses (Cont..):</vt:lpstr>
      <vt:lpstr>2. Data Store:</vt:lpstr>
      <vt:lpstr>Data Store (Cont..)</vt:lpstr>
      <vt:lpstr>3. External Entity</vt:lpstr>
      <vt:lpstr>External Entity (Cont..)</vt:lpstr>
      <vt:lpstr>4. Aliran Data</vt:lpstr>
      <vt:lpstr>Aliran Data (Cont..)</vt:lpstr>
      <vt:lpstr>Presentasi PowerPoint</vt:lpstr>
      <vt:lpstr>Context Diagram</vt:lpstr>
      <vt:lpstr>Manfaat penggambaran context diagram salah satunya untuk menjawab pertanyaan:</vt:lpstr>
      <vt:lpstr>Presentasi PowerPoint</vt:lpstr>
      <vt:lpstr>Dekomposisi DFD</vt:lpstr>
      <vt:lpstr>Contoh Dekomposisi</vt:lpstr>
      <vt:lpstr>Presentasi PowerPoint</vt:lpstr>
      <vt:lpstr>Kamus Data</vt:lpstr>
      <vt:lpstr>Simbol dalam Kamus Data:</vt:lpstr>
      <vt:lpstr>Presentasi PowerPoint</vt:lpstr>
      <vt:lpstr>Terimakasih.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Rekayasa Perangkat Lunak</dc:title>
  <dc:creator/>
  <cp:keywords/>
  <cp:lastModifiedBy>Habib Abdul Ghani</cp:lastModifiedBy>
  <cp:revision>2</cp:revision>
  <dcterms:created xsi:type="dcterms:W3CDTF">2015-04-13T14:54:49Z</dcterms:created>
  <dcterms:modified xsi:type="dcterms:W3CDTF">2025-04-17T12:07:31Z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TC034605409991</vt:lpwstr>
  </property>
</Properties>
</file>