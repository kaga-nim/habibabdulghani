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9.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 id="2147483653" r:id="rId5"/>
    <p:sldMasterId id="2147483662" r:id="rId6"/>
    <p:sldMasterId id="2147483664" r:id="rId7"/>
    <p:sldMasterId id="2147483666" r:id="rId8"/>
    <p:sldMasterId id="2147483668" r:id="rId9"/>
    <p:sldMasterId id="2147483670"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Lst>
  <p:sldSz cy="6858000" cx="12192000"/>
  <p:notesSz cx="6858000" cy="9144000"/>
  <p:embeddedFontLst>
    <p:embeddedFont>
      <p:font typeface="Raleway"/>
      <p:regular r:id="rId42"/>
      <p:bold r:id="rId43"/>
      <p:italic r:id="rId44"/>
      <p:boldItalic r:id="rId45"/>
    </p:embeddedFont>
    <p:embeddedFont>
      <p:font typeface="Vollkorn"/>
      <p:regular r:id="rId46"/>
      <p:bold r:id="rId47"/>
      <p:italic r:id="rId48"/>
      <p:boldItalic r:id="rId49"/>
    </p:embeddedFont>
    <p:embeddedFont>
      <p:font typeface="Arial Narrow"/>
      <p:regular r:id="rId50"/>
      <p:bold r:id="rId51"/>
      <p:italic r:id="rId52"/>
      <p:boldItalic r:id="rId53"/>
    </p:embeddedFont>
    <p:embeddedFont>
      <p:font typeface="Fira Sans"/>
      <p:regular r:id="rId54"/>
      <p:bold r:id="rId55"/>
      <p:italic r:id="rId56"/>
      <p:boldItalic r:id="rId57"/>
    </p:embeddedFont>
    <p:embeddedFont>
      <p:font typeface="Open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62" roundtripDataSignature="AMtx7mhvA60yhpvT+Ys7PanZZjB/Tws9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29.xml"/><Relationship Id="rId42" Type="http://schemas.openxmlformats.org/officeDocument/2006/relationships/font" Target="fonts/Raleway-regular.fntdata"/><Relationship Id="rId41" Type="http://schemas.openxmlformats.org/officeDocument/2006/relationships/slide" Target="slides/slide30.xml"/><Relationship Id="rId44" Type="http://schemas.openxmlformats.org/officeDocument/2006/relationships/font" Target="fonts/Raleway-italic.fntdata"/><Relationship Id="rId43" Type="http://schemas.openxmlformats.org/officeDocument/2006/relationships/font" Target="fonts/Raleway-bold.fntdata"/><Relationship Id="rId46" Type="http://schemas.openxmlformats.org/officeDocument/2006/relationships/font" Target="fonts/Vollkorn-regular.fntdata"/><Relationship Id="rId45" Type="http://schemas.openxmlformats.org/officeDocument/2006/relationships/font" Target="fonts/Raleway-boldItalic.fntdata"/><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Master" Target="slideMasters/slideMaster7.xml"/><Relationship Id="rId48" Type="http://schemas.openxmlformats.org/officeDocument/2006/relationships/font" Target="fonts/Vollkorn-italic.fntdata"/><Relationship Id="rId47" Type="http://schemas.openxmlformats.org/officeDocument/2006/relationships/font" Target="fonts/Vollkorn-bold.fntdata"/><Relationship Id="rId49" Type="http://schemas.openxmlformats.org/officeDocument/2006/relationships/font" Target="fonts/Vollkorn-boldItalic.fntdata"/><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slideMaster" Target="slideMasters/slideMaster5.xml"/><Relationship Id="rId8" Type="http://schemas.openxmlformats.org/officeDocument/2006/relationships/slideMaster" Target="slideMasters/slideMaster6.xml"/><Relationship Id="rId31" Type="http://schemas.openxmlformats.org/officeDocument/2006/relationships/slide" Target="slides/slide20.xml"/><Relationship Id="rId30" Type="http://schemas.openxmlformats.org/officeDocument/2006/relationships/slide" Target="slides/slide19.xml"/><Relationship Id="rId33" Type="http://schemas.openxmlformats.org/officeDocument/2006/relationships/slide" Target="slides/slide22.xml"/><Relationship Id="rId32" Type="http://schemas.openxmlformats.org/officeDocument/2006/relationships/slide" Target="slides/slide21.xml"/><Relationship Id="rId35" Type="http://schemas.openxmlformats.org/officeDocument/2006/relationships/slide" Target="slides/slide24.xml"/><Relationship Id="rId34" Type="http://schemas.openxmlformats.org/officeDocument/2006/relationships/slide" Target="slides/slide23.xml"/><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slide" Target="slides/slide28.xml"/><Relationship Id="rId38" Type="http://schemas.openxmlformats.org/officeDocument/2006/relationships/slide" Target="slides/slide27.xml"/><Relationship Id="rId62" Type="http://customschemas.google.com/relationships/presentationmetadata" Target="metadata"/><Relationship Id="rId61" Type="http://schemas.openxmlformats.org/officeDocument/2006/relationships/font" Target="fonts/OpenSans-boldItalic.fntdata"/><Relationship Id="rId20" Type="http://schemas.openxmlformats.org/officeDocument/2006/relationships/slide" Target="slides/slide9.xml"/><Relationship Id="rId22" Type="http://schemas.openxmlformats.org/officeDocument/2006/relationships/slide" Target="slides/slide11.xml"/><Relationship Id="rId21" Type="http://schemas.openxmlformats.org/officeDocument/2006/relationships/slide" Target="slides/slide10.xml"/><Relationship Id="rId24" Type="http://schemas.openxmlformats.org/officeDocument/2006/relationships/slide" Target="slides/slide13.xml"/><Relationship Id="rId23" Type="http://schemas.openxmlformats.org/officeDocument/2006/relationships/slide" Target="slides/slide12.xml"/><Relationship Id="rId60" Type="http://schemas.openxmlformats.org/officeDocument/2006/relationships/font" Target="fonts/OpenSans-italic.fntdata"/><Relationship Id="rId26" Type="http://schemas.openxmlformats.org/officeDocument/2006/relationships/slide" Target="slides/slide15.xml"/><Relationship Id="rId25" Type="http://schemas.openxmlformats.org/officeDocument/2006/relationships/slide" Target="slides/slide14.xml"/><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51" Type="http://schemas.openxmlformats.org/officeDocument/2006/relationships/font" Target="fonts/ArialNarrow-bold.fntdata"/><Relationship Id="rId50" Type="http://schemas.openxmlformats.org/officeDocument/2006/relationships/font" Target="fonts/ArialNarrow-regular.fntdata"/><Relationship Id="rId53" Type="http://schemas.openxmlformats.org/officeDocument/2006/relationships/font" Target="fonts/ArialNarrow-boldItalic.fntdata"/><Relationship Id="rId52" Type="http://schemas.openxmlformats.org/officeDocument/2006/relationships/font" Target="fonts/ArialNarrow-italic.fntdata"/><Relationship Id="rId11" Type="http://schemas.openxmlformats.org/officeDocument/2006/relationships/notesMaster" Target="notesMasters/notesMaster1.xml"/><Relationship Id="rId55" Type="http://schemas.openxmlformats.org/officeDocument/2006/relationships/font" Target="fonts/FiraSans-bold.fntdata"/><Relationship Id="rId10" Type="http://schemas.openxmlformats.org/officeDocument/2006/relationships/slideMaster" Target="slideMasters/slideMaster8.xml"/><Relationship Id="rId54" Type="http://schemas.openxmlformats.org/officeDocument/2006/relationships/font" Target="fonts/FiraSans-regular.fntdata"/><Relationship Id="rId13" Type="http://schemas.openxmlformats.org/officeDocument/2006/relationships/slide" Target="slides/slide2.xml"/><Relationship Id="rId57" Type="http://schemas.openxmlformats.org/officeDocument/2006/relationships/font" Target="fonts/FiraSans-boldItalic.fntdata"/><Relationship Id="rId12" Type="http://schemas.openxmlformats.org/officeDocument/2006/relationships/slide" Target="slides/slide1.xml"/><Relationship Id="rId56" Type="http://schemas.openxmlformats.org/officeDocument/2006/relationships/font" Target="fonts/FiraSans-italic.fntdata"/><Relationship Id="rId15" Type="http://schemas.openxmlformats.org/officeDocument/2006/relationships/slide" Target="slides/slide4.xml"/><Relationship Id="rId59" Type="http://schemas.openxmlformats.org/officeDocument/2006/relationships/font" Target="fonts/OpenSans-bold.fntdata"/><Relationship Id="rId14" Type="http://schemas.openxmlformats.org/officeDocument/2006/relationships/slide" Target="slides/slide3.xml"/><Relationship Id="rId58" Type="http://schemas.openxmlformats.org/officeDocument/2006/relationships/font" Target="fonts/OpenSans-regular.fntdata"/><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7" name="Shape 17"/>
        <p:cNvGrpSpPr/>
        <p:nvPr/>
      </p:nvGrpSpPr>
      <p:grpSpPr>
        <a:xfrm>
          <a:off x="0" y="0"/>
          <a:ext cx="0" cy="0"/>
          <a:chOff x="0" y="0"/>
          <a:chExt cx="0" cy="0"/>
        </a:xfrm>
      </p:grpSpPr>
      <p:sp>
        <p:nvSpPr>
          <p:cNvPr id="18" name="Google Shape;18;p32"/>
          <p:cNvSpPr txBox="1"/>
          <p:nvPr>
            <p:ph type="title"/>
          </p:nvPr>
        </p:nvSpPr>
        <p:spPr>
          <a:xfrm>
            <a:off x="838200" y="120446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28" name="Shape 28"/>
        <p:cNvGrpSpPr/>
        <p:nvPr/>
      </p:nvGrpSpPr>
      <p:grpSpPr>
        <a:xfrm>
          <a:off x="0" y="0"/>
          <a:ext cx="0" cy="0"/>
          <a:chOff x="0" y="0"/>
          <a:chExt cx="0" cy="0"/>
        </a:xfrm>
      </p:grpSpPr>
      <p:sp>
        <p:nvSpPr>
          <p:cNvPr id="29" name="Google Shape;29;p34"/>
          <p:cNvSpPr/>
          <p:nvPr/>
        </p:nvSpPr>
        <p:spPr>
          <a:xfrm>
            <a:off x="0" y="60292"/>
            <a:ext cx="12192000" cy="45719"/>
          </a:xfrm>
          <a:prstGeom prst="rect">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 name="Google Shape;30;p34"/>
          <p:cNvSpPr txBox="1"/>
          <p:nvPr>
            <p:ph type="title"/>
          </p:nvPr>
        </p:nvSpPr>
        <p:spPr>
          <a:xfrm>
            <a:off x="838200" y="120446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1" name="Shape 31"/>
        <p:cNvGrpSpPr/>
        <p:nvPr/>
      </p:nvGrpSpPr>
      <p:grpSpPr>
        <a:xfrm>
          <a:off x="0" y="0"/>
          <a:ext cx="0" cy="0"/>
          <a:chOff x="0" y="0"/>
          <a:chExt cx="0" cy="0"/>
        </a:xfrm>
      </p:grpSpPr>
      <p:sp>
        <p:nvSpPr>
          <p:cNvPr id="32" name="Google Shape;32;p45"/>
          <p:cNvSpPr txBox="1"/>
          <p:nvPr>
            <p:ph type="title"/>
          </p:nvPr>
        </p:nvSpPr>
        <p:spPr>
          <a:xfrm>
            <a:off x="838200" y="120446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p36"/>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4800"/>
              <a:buFont typeface="Calibri"/>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6"/>
          <p:cNvSpPr txBox="1"/>
          <p:nvPr>
            <p:ph idx="1" type="body"/>
          </p:nvPr>
        </p:nvSpPr>
        <p:spPr>
          <a:xfrm>
            <a:off x="1371600" y="1484671"/>
            <a:ext cx="9601200" cy="438272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3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3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D"/>
              <a:t>‹#›</a:t>
            </a:fld>
            <a:endParaRPr/>
          </a:p>
        </p:txBody>
      </p:sp>
      <p:cxnSp>
        <p:nvCxnSpPr>
          <p:cNvPr id="47" name="Google Shape;47;p36"/>
          <p:cNvCxnSpPr/>
          <p:nvPr/>
        </p:nvCxnSpPr>
        <p:spPr>
          <a:xfrm>
            <a:off x="1465008" y="1445344"/>
            <a:ext cx="9468000" cy="0"/>
          </a:xfrm>
          <a:prstGeom prst="straightConnector1">
            <a:avLst/>
          </a:prstGeom>
          <a:noFill/>
          <a:ln cap="flat" cmpd="sng" w="28575">
            <a:solidFill>
              <a:schemeClr val="dk2"/>
            </a:solidFill>
            <a:prstDash val="solid"/>
            <a:miter lim="800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48" name="Shape 48"/>
        <p:cNvGrpSpPr/>
        <p:nvPr/>
      </p:nvGrpSpPr>
      <p:grpSpPr>
        <a:xfrm>
          <a:off x="0" y="0"/>
          <a:ext cx="0" cy="0"/>
          <a:chOff x="0" y="0"/>
          <a:chExt cx="0" cy="0"/>
        </a:xfrm>
      </p:grpSpPr>
      <p:cxnSp>
        <p:nvCxnSpPr>
          <p:cNvPr id="49" name="Google Shape;49;p37"/>
          <p:cNvCxnSpPr/>
          <p:nvPr/>
        </p:nvCxnSpPr>
        <p:spPr>
          <a:xfrm>
            <a:off x="6002215" y="683288"/>
            <a:ext cx="6189785" cy="0"/>
          </a:xfrm>
          <a:prstGeom prst="straightConnector1">
            <a:avLst/>
          </a:prstGeom>
          <a:noFill/>
          <a:ln cap="flat" cmpd="sng" w="28575">
            <a:solidFill>
              <a:schemeClr val="accent6"/>
            </a:solidFill>
            <a:prstDash val="solid"/>
            <a:miter lim="800000"/>
            <a:headEnd len="sm" w="sm" type="none"/>
            <a:tailEnd len="sm" w="sm" type="none"/>
          </a:ln>
        </p:spPr>
      </p:cxnSp>
      <p:sp>
        <p:nvSpPr>
          <p:cNvPr id="50" name="Google Shape;50;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51" name="Shape 51"/>
        <p:cNvGrpSpPr/>
        <p:nvPr/>
      </p:nvGrpSpPr>
      <p:grpSpPr>
        <a:xfrm>
          <a:off x="0" y="0"/>
          <a:ext cx="0" cy="0"/>
          <a:chOff x="0" y="0"/>
          <a:chExt cx="0" cy="0"/>
        </a:xfrm>
      </p:grpSpPr>
      <p:cxnSp>
        <p:nvCxnSpPr>
          <p:cNvPr id="52" name="Google Shape;52;p38"/>
          <p:cNvCxnSpPr/>
          <p:nvPr/>
        </p:nvCxnSpPr>
        <p:spPr>
          <a:xfrm>
            <a:off x="0" y="683288"/>
            <a:ext cx="12192000" cy="0"/>
          </a:xfrm>
          <a:prstGeom prst="straightConnector1">
            <a:avLst/>
          </a:prstGeom>
          <a:noFill/>
          <a:ln cap="flat" cmpd="sng" w="28575">
            <a:solidFill>
              <a:schemeClr val="accent6"/>
            </a:solidFill>
            <a:prstDash val="solid"/>
            <a:miter lim="800000"/>
            <a:headEnd len="sm" w="sm" type="none"/>
            <a:tailEnd len="sm" w="sm" type="none"/>
          </a:ln>
        </p:spPr>
      </p:cxnSp>
      <p:sp>
        <p:nvSpPr>
          <p:cNvPr id="53" name="Google Shape;53;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4" name="Shape 54"/>
        <p:cNvGrpSpPr/>
        <p:nvPr/>
      </p:nvGrpSpPr>
      <p:grpSpPr>
        <a:xfrm>
          <a:off x="0" y="0"/>
          <a:ext cx="0" cy="0"/>
          <a:chOff x="0" y="0"/>
          <a:chExt cx="0" cy="0"/>
        </a:xfrm>
      </p:grpSpPr>
      <p:sp>
        <p:nvSpPr>
          <p:cNvPr id="55" name="Google Shape;55;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6" name="Shape 56"/>
        <p:cNvGrpSpPr/>
        <p:nvPr/>
      </p:nvGrpSpPr>
      <p:grpSpPr>
        <a:xfrm>
          <a:off x="0" y="0"/>
          <a:ext cx="0" cy="0"/>
          <a:chOff x="0" y="0"/>
          <a:chExt cx="0" cy="0"/>
        </a:xfrm>
      </p:grpSpPr>
      <p:cxnSp>
        <p:nvCxnSpPr>
          <p:cNvPr id="57" name="Google Shape;57;p47"/>
          <p:cNvCxnSpPr/>
          <p:nvPr/>
        </p:nvCxnSpPr>
        <p:spPr>
          <a:xfrm>
            <a:off x="0" y="683288"/>
            <a:ext cx="6189785" cy="0"/>
          </a:xfrm>
          <a:prstGeom prst="straightConnector1">
            <a:avLst/>
          </a:prstGeom>
          <a:noFill/>
          <a:ln cap="flat" cmpd="sng" w="28575">
            <a:solidFill>
              <a:schemeClr val="accent6"/>
            </a:solidFill>
            <a:prstDash val="solid"/>
            <a:miter lim="800000"/>
            <a:headEnd len="sm" w="sm" type="none"/>
            <a:tailEnd len="sm" w="sm" type="none"/>
          </a:ln>
        </p:spPr>
      </p:cxnSp>
      <p:sp>
        <p:nvSpPr>
          <p:cNvPr id="58" name="Google Shape;58;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59" name="Shape 59"/>
        <p:cNvGrpSpPr/>
        <p:nvPr/>
      </p:nvGrpSpPr>
      <p:grpSpPr>
        <a:xfrm>
          <a:off x="0" y="0"/>
          <a:ext cx="0" cy="0"/>
          <a:chOff x="0" y="0"/>
          <a:chExt cx="0" cy="0"/>
        </a:xfrm>
      </p:grpSpPr>
      <p:sp>
        <p:nvSpPr>
          <p:cNvPr id="60" name="Google Shape;60;p48"/>
          <p:cNvSpPr/>
          <p:nvPr/>
        </p:nvSpPr>
        <p:spPr>
          <a:xfrm>
            <a:off x="0" y="0"/>
            <a:ext cx="12192000" cy="1085222"/>
          </a:xfrm>
          <a:prstGeom prst="rect">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 name="Google Shape;61;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62" name="Shape 62"/>
        <p:cNvGrpSpPr/>
        <p:nvPr/>
      </p:nvGrpSpPr>
      <p:grpSpPr>
        <a:xfrm>
          <a:off x="0" y="0"/>
          <a:ext cx="0" cy="0"/>
          <a:chOff x="0" y="0"/>
          <a:chExt cx="0" cy="0"/>
        </a:xfrm>
      </p:grpSpPr>
      <p:sp>
        <p:nvSpPr>
          <p:cNvPr id="63" name="Google Shape;63;p49"/>
          <p:cNvSpPr/>
          <p:nvPr/>
        </p:nvSpPr>
        <p:spPr>
          <a:xfrm>
            <a:off x="0" y="80391"/>
            <a:ext cx="12192000" cy="633046"/>
          </a:xfrm>
          <a:prstGeom prst="rect">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 name="Google Shape;64;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65" name="Shape 65"/>
        <p:cNvGrpSpPr/>
        <p:nvPr/>
      </p:nvGrpSpPr>
      <p:grpSpPr>
        <a:xfrm>
          <a:off x="0" y="0"/>
          <a:ext cx="0" cy="0"/>
          <a:chOff x="0" y="0"/>
          <a:chExt cx="0" cy="0"/>
        </a:xfrm>
      </p:grpSpPr>
      <p:sp>
        <p:nvSpPr>
          <p:cNvPr id="66" name="Google Shape;66;p50"/>
          <p:cNvSpPr/>
          <p:nvPr/>
        </p:nvSpPr>
        <p:spPr>
          <a:xfrm>
            <a:off x="0" y="60292"/>
            <a:ext cx="12192000" cy="45719"/>
          </a:xfrm>
          <a:prstGeom prst="rect">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 name="Google Shape;67;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75" name="Shape 75"/>
        <p:cNvGrpSpPr/>
        <p:nvPr/>
      </p:nvGrpSpPr>
      <p:grpSpPr>
        <a:xfrm>
          <a:off x="0" y="0"/>
          <a:ext cx="0" cy="0"/>
          <a:chOff x="0" y="0"/>
          <a:chExt cx="0" cy="0"/>
        </a:xfrm>
      </p:grpSpPr>
      <p:sp>
        <p:nvSpPr>
          <p:cNvPr id="76" name="Google Shape;76;p4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84" name="Shape 84"/>
        <p:cNvGrpSpPr/>
        <p:nvPr/>
      </p:nvGrpSpPr>
      <p:grpSpPr>
        <a:xfrm>
          <a:off x="0" y="0"/>
          <a:ext cx="0" cy="0"/>
          <a:chOff x="0" y="0"/>
          <a:chExt cx="0" cy="0"/>
        </a:xfrm>
      </p:grpSpPr>
      <p:sp>
        <p:nvSpPr>
          <p:cNvPr id="85" name="Google Shape;85;p4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94" name="Shape 94"/>
        <p:cNvGrpSpPr/>
        <p:nvPr/>
      </p:nvGrpSpPr>
      <p:grpSpPr>
        <a:xfrm>
          <a:off x="0" y="0"/>
          <a:ext cx="0" cy="0"/>
          <a:chOff x="0" y="0"/>
          <a:chExt cx="0" cy="0"/>
        </a:xfrm>
      </p:grpSpPr>
      <p:sp>
        <p:nvSpPr>
          <p:cNvPr id="95" name="Google Shape;95;p4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3" name="Shape 103"/>
        <p:cNvGrpSpPr/>
        <p:nvPr/>
      </p:nvGrpSpPr>
      <p:grpSpPr>
        <a:xfrm>
          <a:off x="0" y="0"/>
          <a:ext cx="0" cy="0"/>
          <a:chOff x="0" y="0"/>
          <a:chExt cx="0" cy="0"/>
        </a:xfrm>
      </p:grpSpPr>
      <p:sp>
        <p:nvSpPr>
          <p:cNvPr id="104" name="Google Shape;104;p52"/>
          <p:cNvSpPr txBox="1"/>
          <p:nvPr>
            <p:ph type="title"/>
          </p:nvPr>
        </p:nvSpPr>
        <p:spPr>
          <a:xfrm>
            <a:off x="838200" y="120446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12" name="Shape 112"/>
        <p:cNvGrpSpPr/>
        <p:nvPr/>
      </p:nvGrpSpPr>
      <p:grpSpPr>
        <a:xfrm>
          <a:off x="0" y="0"/>
          <a:ext cx="0" cy="0"/>
          <a:chOff x="0" y="0"/>
          <a:chExt cx="0" cy="0"/>
        </a:xfrm>
      </p:grpSpPr>
      <p:sp>
        <p:nvSpPr>
          <p:cNvPr id="113" name="Google Shape;113;p5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slideLayout" Target="../slideLayouts/slideLayout1.xml"/><Relationship Id="rId7"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theme" Target="../theme/theme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theme" Target="../theme/theme2.xml"/><Relationship Id="rId10" Type="http://schemas.openxmlformats.org/officeDocument/2006/relationships/slideLayout" Target="../slideLayouts/slideLayout1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12.xml"/><Relationship Id="rId4" Type="http://schemas.openxmlformats.org/officeDocument/2006/relationships/theme" Target="../theme/theme1.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13.xml"/><Relationship Id="rId4" Type="http://schemas.openxmlformats.org/officeDocument/2006/relationships/theme" Target="../theme/theme6.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slideLayout" Target="../slideLayouts/slideLayout14.xml"/><Relationship Id="rId5" Type="http://schemas.openxmlformats.org/officeDocument/2006/relationships/theme" Target="../theme/theme3.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3.png"/><Relationship Id="rId3" Type="http://schemas.openxmlformats.org/officeDocument/2006/relationships/slideLayout" Target="../slideLayouts/slideLayout15.xml"/><Relationship Id="rId4" Type="http://schemas.openxmlformats.org/officeDocument/2006/relationships/theme" Target="../theme/theme9.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slideLayout" Target="../slideLayouts/slideLayout16.xml"/><Relationship Id="rId5"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1"/>
          <p:cNvSpPr/>
          <p:nvPr/>
        </p:nvSpPr>
        <p:spPr>
          <a:xfrm>
            <a:off x="0" y="1"/>
            <a:ext cx="12192000" cy="1204466"/>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n-ID" sz="2000" u="none" cap="none" strike="noStrike">
                <a:solidFill>
                  <a:schemeClr val="dk1"/>
                </a:solidFill>
                <a:latin typeface="Calibri"/>
                <a:ea typeface="Calibri"/>
                <a:cs typeface="Calibri"/>
                <a:sym typeface="Calibri"/>
              </a:rPr>
              <a:t> </a:t>
            </a:r>
            <a:endParaRPr b="0" i="0" sz="2000" u="none" cap="none" strike="noStrike">
              <a:solidFill>
                <a:schemeClr val="dk1"/>
              </a:solidFill>
              <a:latin typeface="Calibri"/>
              <a:ea typeface="Calibri"/>
              <a:cs typeface="Calibri"/>
              <a:sym typeface="Calibri"/>
            </a:endParaRPr>
          </a:p>
        </p:txBody>
      </p:sp>
      <p:pic>
        <p:nvPicPr>
          <p:cNvPr id="7" name="Google Shape;7;p31"/>
          <p:cNvPicPr preferRelativeResize="0"/>
          <p:nvPr/>
        </p:nvPicPr>
        <p:blipFill rotWithShape="1">
          <a:blip r:embed="rId1">
            <a:alphaModFix/>
          </a:blip>
          <a:srcRect b="0" l="0" r="0" t="0"/>
          <a:stretch/>
        </p:blipFill>
        <p:spPr>
          <a:xfrm>
            <a:off x="99642" y="38924"/>
            <a:ext cx="1119282" cy="1086491"/>
          </a:xfrm>
          <a:prstGeom prst="rect">
            <a:avLst/>
          </a:prstGeom>
          <a:noFill/>
          <a:ln>
            <a:noFill/>
          </a:ln>
        </p:spPr>
      </p:pic>
      <p:sp>
        <p:nvSpPr>
          <p:cNvPr id="8" name="Google Shape;8;p31"/>
          <p:cNvSpPr txBox="1"/>
          <p:nvPr/>
        </p:nvSpPr>
        <p:spPr>
          <a:xfrm>
            <a:off x="1218924" y="166670"/>
            <a:ext cx="5886103"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ID" sz="2400" u="none" cap="none" strike="noStrike">
                <a:solidFill>
                  <a:schemeClr val="dk1"/>
                </a:solidFill>
                <a:latin typeface="Calibri"/>
                <a:ea typeface="Calibri"/>
                <a:cs typeface="Calibri"/>
                <a:sym typeface="Calibri"/>
              </a:rPr>
              <a:t>PROGRAM STUDI S1 TEKNIK INFORMATIKA</a:t>
            </a:r>
            <a:br>
              <a:rPr b="0" i="0" lang="en-ID" sz="2400" u="none" cap="none" strike="noStrike">
                <a:solidFill>
                  <a:schemeClr val="dk1"/>
                </a:solidFill>
                <a:latin typeface="Calibri"/>
                <a:ea typeface="Calibri"/>
                <a:cs typeface="Calibri"/>
                <a:sym typeface="Calibri"/>
              </a:rPr>
            </a:br>
            <a:r>
              <a:rPr b="0" i="0" lang="en-ID" sz="2400" u="none" cap="none" strike="noStrike">
                <a:solidFill>
                  <a:schemeClr val="dk1"/>
                </a:solidFill>
                <a:latin typeface="Calibri"/>
                <a:ea typeface="Calibri"/>
                <a:cs typeface="Calibri"/>
                <a:sym typeface="Calibri"/>
              </a:rPr>
              <a:t>UNIVERSITAS PAMULANG</a:t>
            </a:r>
            <a:endParaRPr b="0" i="0" sz="2400" u="none" cap="none" strike="noStrike">
              <a:solidFill>
                <a:schemeClr val="dk1"/>
              </a:solidFill>
              <a:latin typeface="Calibri"/>
              <a:ea typeface="Calibri"/>
              <a:cs typeface="Calibri"/>
              <a:sym typeface="Calibri"/>
            </a:endParaRPr>
          </a:p>
        </p:txBody>
      </p:sp>
      <p:pic>
        <p:nvPicPr>
          <p:cNvPr id="9" name="Google Shape;9;p31"/>
          <p:cNvPicPr preferRelativeResize="0"/>
          <p:nvPr/>
        </p:nvPicPr>
        <p:blipFill rotWithShape="1">
          <a:blip r:embed="rId2">
            <a:alphaModFix/>
          </a:blip>
          <a:srcRect b="0" l="0" r="0" t="0"/>
          <a:stretch/>
        </p:blipFill>
        <p:spPr>
          <a:xfrm>
            <a:off x="10048352" y="0"/>
            <a:ext cx="2143648" cy="1205802"/>
          </a:xfrm>
          <a:prstGeom prst="rect">
            <a:avLst/>
          </a:prstGeom>
          <a:noFill/>
          <a:ln>
            <a:noFill/>
          </a:ln>
        </p:spPr>
      </p:pic>
      <p:sp>
        <p:nvSpPr>
          <p:cNvPr id="10" name="Google Shape;10;p31"/>
          <p:cNvSpPr txBox="1"/>
          <p:nvPr>
            <p:ph type="title"/>
          </p:nvPr>
        </p:nvSpPr>
        <p:spPr>
          <a:xfrm>
            <a:off x="838200" y="120446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p:nvPr/>
        </p:nvSpPr>
        <p:spPr>
          <a:xfrm>
            <a:off x="0" y="6360607"/>
            <a:ext cx="12192000" cy="497393"/>
          </a:xfrm>
          <a:prstGeom prst="flowChartProcess">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2" name="Google Shape;12;p31"/>
          <p:cNvPicPr preferRelativeResize="0"/>
          <p:nvPr/>
        </p:nvPicPr>
        <p:blipFill rotWithShape="1">
          <a:blip r:embed="rId3">
            <a:alphaModFix/>
          </a:blip>
          <a:srcRect b="0" l="0" r="0" t="0"/>
          <a:stretch/>
        </p:blipFill>
        <p:spPr>
          <a:xfrm>
            <a:off x="2047255" y="6422940"/>
            <a:ext cx="453018" cy="439110"/>
          </a:xfrm>
          <a:prstGeom prst="rect">
            <a:avLst/>
          </a:prstGeom>
          <a:noFill/>
          <a:ln>
            <a:noFill/>
          </a:ln>
        </p:spPr>
      </p:pic>
      <p:pic>
        <p:nvPicPr>
          <p:cNvPr id="13" name="Google Shape;13;p31"/>
          <p:cNvPicPr preferRelativeResize="0"/>
          <p:nvPr/>
        </p:nvPicPr>
        <p:blipFill rotWithShape="1">
          <a:blip r:embed="rId4">
            <a:alphaModFix/>
          </a:blip>
          <a:srcRect b="0" l="0" r="0" t="0"/>
          <a:stretch/>
        </p:blipFill>
        <p:spPr>
          <a:xfrm>
            <a:off x="99642" y="6419057"/>
            <a:ext cx="380491" cy="380491"/>
          </a:xfrm>
          <a:prstGeom prst="rect">
            <a:avLst/>
          </a:prstGeom>
          <a:noFill/>
          <a:ln>
            <a:noFill/>
          </a:ln>
        </p:spPr>
      </p:pic>
      <p:sp>
        <p:nvSpPr>
          <p:cNvPr id="14" name="Google Shape;14;p31"/>
          <p:cNvSpPr txBox="1"/>
          <p:nvPr/>
        </p:nvSpPr>
        <p:spPr>
          <a:xfrm>
            <a:off x="480133" y="6412026"/>
            <a:ext cx="17936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D" sz="1800" u="none" cap="none" strike="noStrike">
                <a:solidFill>
                  <a:schemeClr val="dk1"/>
                </a:solidFill>
                <a:latin typeface="Calibri"/>
                <a:ea typeface="Calibri"/>
                <a:cs typeface="Calibri"/>
                <a:sym typeface="Calibri"/>
              </a:rPr>
              <a:t>InfoTI_unpam</a:t>
            </a:r>
            <a:endParaRPr sz="1800">
              <a:solidFill>
                <a:schemeClr val="dk1"/>
              </a:solidFill>
              <a:latin typeface="Calibri"/>
              <a:ea typeface="Calibri"/>
              <a:cs typeface="Calibri"/>
              <a:sym typeface="Calibri"/>
            </a:endParaRPr>
          </a:p>
        </p:txBody>
      </p:sp>
      <p:sp>
        <p:nvSpPr>
          <p:cNvPr id="15" name="Google Shape;15;p31"/>
          <p:cNvSpPr txBox="1"/>
          <p:nvPr/>
        </p:nvSpPr>
        <p:spPr>
          <a:xfrm>
            <a:off x="2527388" y="6412026"/>
            <a:ext cx="26977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Calibri"/>
                <a:ea typeface="Calibri"/>
                <a:cs typeface="Calibri"/>
                <a:sym typeface="Calibri"/>
              </a:rPr>
              <a:t>informatika.unpam.ac.id</a:t>
            </a:r>
            <a:endParaRPr sz="1800">
              <a:solidFill>
                <a:schemeClr val="dk1"/>
              </a:solidFill>
              <a:latin typeface="Calibri"/>
              <a:ea typeface="Calibri"/>
              <a:cs typeface="Calibri"/>
              <a:sym typeface="Calibri"/>
            </a:endParaRPr>
          </a:p>
        </p:txBody>
      </p:sp>
      <p:pic>
        <p:nvPicPr>
          <p:cNvPr id="16" name="Google Shape;16;p31"/>
          <p:cNvPicPr preferRelativeResize="0"/>
          <p:nvPr/>
        </p:nvPicPr>
        <p:blipFill rotWithShape="1">
          <a:blip r:embed="rId5">
            <a:alphaModFix/>
          </a:blip>
          <a:srcRect b="0" l="0" r="0" t="0"/>
          <a:stretch/>
        </p:blipFill>
        <p:spPr>
          <a:xfrm>
            <a:off x="11443996" y="6412026"/>
            <a:ext cx="648362" cy="4587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 name="Shape 19"/>
        <p:cNvGrpSpPr/>
        <p:nvPr/>
      </p:nvGrpSpPr>
      <p:grpSpPr>
        <a:xfrm>
          <a:off x="0" y="0"/>
          <a:ext cx="0" cy="0"/>
          <a:chOff x="0" y="0"/>
          <a:chExt cx="0" cy="0"/>
        </a:xfrm>
      </p:grpSpPr>
      <p:sp>
        <p:nvSpPr>
          <p:cNvPr id="20" name="Google Shape;20;p33"/>
          <p:cNvSpPr txBox="1"/>
          <p:nvPr>
            <p:ph type="title"/>
          </p:nvPr>
        </p:nvSpPr>
        <p:spPr>
          <a:xfrm>
            <a:off x="838200" y="120446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 name="Google Shape;21;p33"/>
          <p:cNvSpPr/>
          <p:nvPr/>
        </p:nvSpPr>
        <p:spPr>
          <a:xfrm>
            <a:off x="0" y="6360607"/>
            <a:ext cx="12192000" cy="497393"/>
          </a:xfrm>
          <a:prstGeom prst="flowChartProcess">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2" name="Google Shape;22;p33"/>
          <p:cNvPicPr preferRelativeResize="0"/>
          <p:nvPr/>
        </p:nvPicPr>
        <p:blipFill rotWithShape="1">
          <a:blip r:embed="rId1">
            <a:alphaModFix/>
          </a:blip>
          <a:srcRect b="0" l="0" r="0" t="0"/>
          <a:stretch/>
        </p:blipFill>
        <p:spPr>
          <a:xfrm>
            <a:off x="2047255" y="6422940"/>
            <a:ext cx="453018" cy="439110"/>
          </a:xfrm>
          <a:prstGeom prst="rect">
            <a:avLst/>
          </a:prstGeom>
          <a:noFill/>
          <a:ln>
            <a:noFill/>
          </a:ln>
        </p:spPr>
      </p:pic>
      <p:pic>
        <p:nvPicPr>
          <p:cNvPr id="23" name="Google Shape;23;p33"/>
          <p:cNvPicPr preferRelativeResize="0"/>
          <p:nvPr/>
        </p:nvPicPr>
        <p:blipFill rotWithShape="1">
          <a:blip r:embed="rId2">
            <a:alphaModFix/>
          </a:blip>
          <a:srcRect b="0" l="0" r="0" t="0"/>
          <a:stretch/>
        </p:blipFill>
        <p:spPr>
          <a:xfrm>
            <a:off x="99642" y="6419057"/>
            <a:ext cx="380491" cy="380491"/>
          </a:xfrm>
          <a:prstGeom prst="rect">
            <a:avLst/>
          </a:prstGeom>
          <a:noFill/>
          <a:ln>
            <a:noFill/>
          </a:ln>
        </p:spPr>
      </p:pic>
      <p:sp>
        <p:nvSpPr>
          <p:cNvPr id="24" name="Google Shape;24;p33"/>
          <p:cNvSpPr txBox="1"/>
          <p:nvPr/>
        </p:nvSpPr>
        <p:spPr>
          <a:xfrm>
            <a:off x="480133" y="6412026"/>
            <a:ext cx="17936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Calibri"/>
                <a:ea typeface="Calibri"/>
                <a:cs typeface="Calibri"/>
                <a:sym typeface="Calibri"/>
              </a:rPr>
              <a:t>InfoTI_unpam</a:t>
            </a:r>
            <a:endParaRPr sz="1800">
              <a:solidFill>
                <a:schemeClr val="dk1"/>
              </a:solidFill>
              <a:latin typeface="Calibri"/>
              <a:ea typeface="Calibri"/>
              <a:cs typeface="Calibri"/>
              <a:sym typeface="Calibri"/>
            </a:endParaRPr>
          </a:p>
        </p:txBody>
      </p:sp>
      <p:sp>
        <p:nvSpPr>
          <p:cNvPr id="25" name="Google Shape;25;p33"/>
          <p:cNvSpPr txBox="1"/>
          <p:nvPr/>
        </p:nvSpPr>
        <p:spPr>
          <a:xfrm>
            <a:off x="2527388" y="6412026"/>
            <a:ext cx="26977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Calibri"/>
                <a:ea typeface="Calibri"/>
                <a:cs typeface="Calibri"/>
                <a:sym typeface="Calibri"/>
              </a:rPr>
              <a:t>informatika.unpam.ac.id</a:t>
            </a:r>
            <a:endParaRPr sz="1800">
              <a:solidFill>
                <a:schemeClr val="dk1"/>
              </a:solidFill>
              <a:latin typeface="Calibri"/>
              <a:ea typeface="Calibri"/>
              <a:cs typeface="Calibri"/>
              <a:sym typeface="Calibri"/>
            </a:endParaRPr>
          </a:p>
        </p:txBody>
      </p:sp>
      <p:pic>
        <p:nvPicPr>
          <p:cNvPr id="26" name="Google Shape;26;p33"/>
          <p:cNvPicPr preferRelativeResize="0"/>
          <p:nvPr/>
        </p:nvPicPr>
        <p:blipFill rotWithShape="1">
          <a:blip r:embed="rId3">
            <a:alphaModFix/>
          </a:blip>
          <a:srcRect b="0" l="0" r="0" t="0"/>
          <a:stretch/>
        </p:blipFill>
        <p:spPr>
          <a:xfrm>
            <a:off x="11443996" y="6412026"/>
            <a:ext cx="648362" cy="458733"/>
          </a:xfrm>
          <a:prstGeom prst="rect">
            <a:avLst/>
          </a:prstGeom>
          <a:noFill/>
          <a:ln>
            <a:noFill/>
          </a:ln>
        </p:spPr>
      </p:pic>
      <p:pic>
        <p:nvPicPr>
          <p:cNvPr id="27" name="Google Shape;27;p33"/>
          <p:cNvPicPr preferRelativeResize="0"/>
          <p:nvPr/>
        </p:nvPicPr>
        <p:blipFill rotWithShape="1">
          <a:blip r:embed="rId4">
            <a:alphaModFix/>
          </a:blip>
          <a:srcRect b="0" l="0" r="0" t="0"/>
          <a:stretch/>
        </p:blipFill>
        <p:spPr>
          <a:xfrm>
            <a:off x="10931590" y="6366986"/>
            <a:ext cx="512406" cy="4973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 name="Shape 33"/>
        <p:cNvGrpSpPr/>
        <p:nvPr/>
      </p:nvGrpSpPr>
      <p:grpSpPr>
        <a:xfrm>
          <a:off x="0" y="0"/>
          <a:ext cx="0" cy="0"/>
          <a:chOff x="0" y="0"/>
          <a:chExt cx="0" cy="0"/>
        </a:xfrm>
      </p:grpSpPr>
      <p:sp>
        <p:nvSpPr>
          <p:cNvPr id="34" name="Google Shape;34;p35"/>
          <p:cNvSpPr/>
          <p:nvPr/>
        </p:nvSpPr>
        <p:spPr>
          <a:xfrm rot="-5400000">
            <a:off x="10209964" y="4875960"/>
            <a:ext cx="1884065" cy="2080010"/>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 name="Google Shape;35;p35"/>
          <p:cNvSpPr/>
          <p:nvPr/>
        </p:nvSpPr>
        <p:spPr>
          <a:xfrm>
            <a:off x="0" y="6211614"/>
            <a:ext cx="12192000" cy="646385"/>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n-ID" sz="2000">
                <a:solidFill>
                  <a:schemeClr val="dk1"/>
                </a:solidFill>
                <a:latin typeface="Calibri"/>
                <a:ea typeface="Calibri"/>
                <a:cs typeface="Calibri"/>
                <a:sym typeface="Calibri"/>
              </a:rPr>
              <a:t>Program Studi Teknik Informatika, Universitas Pamulang</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n-ID"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p:txBody>
      </p:sp>
      <p:sp>
        <p:nvSpPr>
          <p:cNvPr id="36" name="Google Shape;36;p35"/>
          <p:cNvSpPr/>
          <p:nvPr/>
        </p:nvSpPr>
        <p:spPr>
          <a:xfrm>
            <a:off x="0" y="5074416"/>
            <a:ext cx="1597688" cy="1783584"/>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7" name="Google Shape;37;p35"/>
          <p:cNvPicPr preferRelativeResize="0"/>
          <p:nvPr/>
        </p:nvPicPr>
        <p:blipFill rotWithShape="1">
          <a:blip r:embed="rId1">
            <a:alphaModFix/>
          </a:blip>
          <a:srcRect b="0" l="0" r="0" t="0"/>
          <a:stretch/>
        </p:blipFill>
        <p:spPr>
          <a:xfrm>
            <a:off x="11099172" y="5725289"/>
            <a:ext cx="1042588" cy="1012044"/>
          </a:xfrm>
          <a:prstGeom prst="rect">
            <a:avLst/>
          </a:prstGeom>
          <a:noFill/>
          <a:ln>
            <a:noFill/>
          </a:ln>
        </p:spPr>
      </p:pic>
      <p:pic>
        <p:nvPicPr>
          <p:cNvPr id="38" name="Google Shape;38;p35"/>
          <p:cNvPicPr preferRelativeResize="0"/>
          <p:nvPr/>
        </p:nvPicPr>
        <p:blipFill rotWithShape="1">
          <a:blip r:embed="rId2">
            <a:alphaModFix/>
          </a:blip>
          <a:srcRect b="0" l="0" r="0" t="0"/>
          <a:stretch/>
        </p:blipFill>
        <p:spPr>
          <a:xfrm>
            <a:off x="-120581" y="5864994"/>
            <a:ext cx="1403488" cy="993004"/>
          </a:xfrm>
          <a:prstGeom prst="rect">
            <a:avLst/>
          </a:prstGeom>
          <a:noFill/>
          <a:ln>
            <a:noFill/>
          </a:ln>
        </p:spPr>
      </p:pic>
      <p:sp>
        <p:nvSpPr>
          <p:cNvPr id="39" name="Google Shape;39;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0" name="Google Shape;4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 name="Shape 68"/>
        <p:cNvGrpSpPr/>
        <p:nvPr/>
      </p:nvGrpSpPr>
      <p:grpSpPr>
        <a:xfrm>
          <a:off x="0" y="0"/>
          <a:ext cx="0" cy="0"/>
          <a:chOff x="0" y="0"/>
          <a:chExt cx="0" cy="0"/>
        </a:xfrm>
      </p:grpSpPr>
      <p:sp>
        <p:nvSpPr>
          <p:cNvPr id="69" name="Google Shape;69;p39"/>
          <p:cNvSpPr/>
          <p:nvPr/>
        </p:nvSpPr>
        <p:spPr>
          <a:xfrm rot="-5400000">
            <a:off x="10209964" y="4875960"/>
            <a:ext cx="1884065" cy="2080010"/>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 name="Google Shape;70;p39"/>
          <p:cNvSpPr/>
          <p:nvPr/>
        </p:nvSpPr>
        <p:spPr>
          <a:xfrm>
            <a:off x="0" y="6211614"/>
            <a:ext cx="12192000" cy="646385"/>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n-ID" sz="2000">
                <a:solidFill>
                  <a:schemeClr val="dk1"/>
                </a:solidFill>
                <a:latin typeface="Calibri"/>
                <a:ea typeface="Calibri"/>
                <a:cs typeface="Calibri"/>
                <a:sym typeface="Calibri"/>
              </a:rPr>
              <a:t>Program Studi Teknik Informatika, Universitas Pamulang</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n-ID"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p:txBody>
      </p:sp>
      <p:sp>
        <p:nvSpPr>
          <p:cNvPr id="71" name="Google Shape;71;p39"/>
          <p:cNvSpPr/>
          <p:nvPr/>
        </p:nvSpPr>
        <p:spPr>
          <a:xfrm>
            <a:off x="0" y="5074416"/>
            <a:ext cx="1597688" cy="1783584"/>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72" name="Google Shape;72;p39"/>
          <p:cNvPicPr preferRelativeResize="0"/>
          <p:nvPr/>
        </p:nvPicPr>
        <p:blipFill rotWithShape="1">
          <a:blip r:embed="rId1">
            <a:alphaModFix/>
          </a:blip>
          <a:srcRect b="0" l="0" r="0" t="0"/>
          <a:stretch/>
        </p:blipFill>
        <p:spPr>
          <a:xfrm>
            <a:off x="11099172" y="5725289"/>
            <a:ext cx="1042588" cy="1012044"/>
          </a:xfrm>
          <a:prstGeom prst="rect">
            <a:avLst/>
          </a:prstGeom>
          <a:noFill/>
          <a:ln>
            <a:noFill/>
          </a:ln>
        </p:spPr>
      </p:pic>
      <p:pic>
        <p:nvPicPr>
          <p:cNvPr id="73" name="Google Shape;73;p39"/>
          <p:cNvPicPr preferRelativeResize="0"/>
          <p:nvPr/>
        </p:nvPicPr>
        <p:blipFill rotWithShape="1">
          <a:blip r:embed="rId2">
            <a:alphaModFix/>
          </a:blip>
          <a:srcRect b="0" l="0" r="0" t="0"/>
          <a:stretch/>
        </p:blipFill>
        <p:spPr>
          <a:xfrm>
            <a:off x="-120581" y="5864994"/>
            <a:ext cx="1403488" cy="993004"/>
          </a:xfrm>
          <a:prstGeom prst="rect">
            <a:avLst/>
          </a:prstGeom>
          <a:noFill/>
          <a:ln>
            <a:noFill/>
          </a:ln>
        </p:spPr>
      </p:pic>
      <p:sp>
        <p:nvSpPr>
          <p:cNvPr id="74" name="Google Shape;74;p39"/>
          <p:cNvSpPr txBox="1"/>
          <p:nvPr/>
        </p:nvSpPr>
        <p:spPr>
          <a:xfrm>
            <a:off x="3898760" y="2622619"/>
            <a:ext cx="519499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5400">
                <a:solidFill>
                  <a:schemeClr val="dk1"/>
                </a:solidFill>
                <a:latin typeface="Calibri"/>
                <a:ea typeface="Calibri"/>
                <a:cs typeface="Calibri"/>
                <a:sym typeface="Calibri"/>
              </a:rPr>
              <a:t>TERIMA KASIH</a:t>
            </a:r>
            <a:endParaRPr sz="54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6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 name="Shape 77"/>
        <p:cNvGrpSpPr/>
        <p:nvPr/>
      </p:nvGrpSpPr>
      <p:grpSpPr>
        <a:xfrm>
          <a:off x="0" y="0"/>
          <a:ext cx="0" cy="0"/>
          <a:chOff x="0" y="0"/>
          <a:chExt cx="0" cy="0"/>
        </a:xfrm>
      </p:grpSpPr>
      <p:sp>
        <p:nvSpPr>
          <p:cNvPr id="78" name="Google Shape;78;p41"/>
          <p:cNvSpPr/>
          <p:nvPr/>
        </p:nvSpPr>
        <p:spPr>
          <a:xfrm rot="-5400000">
            <a:off x="10209964" y="4875960"/>
            <a:ext cx="1884065" cy="2080010"/>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 name="Google Shape;79;p41"/>
          <p:cNvSpPr/>
          <p:nvPr/>
        </p:nvSpPr>
        <p:spPr>
          <a:xfrm>
            <a:off x="0" y="6211614"/>
            <a:ext cx="12192000" cy="646385"/>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n-ID" sz="2000">
                <a:solidFill>
                  <a:schemeClr val="dk1"/>
                </a:solidFill>
                <a:latin typeface="Calibri"/>
                <a:ea typeface="Calibri"/>
                <a:cs typeface="Calibri"/>
                <a:sym typeface="Calibri"/>
              </a:rPr>
              <a:t>Program Studi Teknik Informatika, Universitas Pamulang</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n-ID"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p:txBody>
      </p:sp>
      <p:sp>
        <p:nvSpPr>
          <p:cNvPr id="80" name="Google Shape;80;p41"/>
          <p:cNvSpPr/>
          <p:nvPr/>
        </p:nvSpPr>
        <p:spPr>
          <a:xfrm>
            <a:off x="0" y="5074416"/>
            <a:ext cx="1597688" cy="1783584"/>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81" name="Google Shape;81;p41"/>
          <p:cNvPicPr preferRelativeResize="0"/>
          <p:nvPr/>
        </p:nvPicPr>
        <p:blipFill rotWithShape="1">
          <a:blip r:embed="rId1">
            <a:alphaModFix/>
          </a:blip>
          <a:srcRect b="0" l="0" r="0" t="0"/>
          <a:stretch/>
        </p:blipFill>
        <p:spPr>
          <a:xfrm>
            <a:off x="11099172" y="5725289"/>
            <a:ext cx="1042588" cy="1012044"/>
          </a:xfrm>
          <a:prstGeom prst="rect">
            <a:avLst/>
          </a:prstGeom>
          <a:noFill/>
          <a:ln>
            <a:noFill/>
          </a:ln>
        </p:spPr>
      </p:pic>
      <p:pic>
        <p:nvPicPr>
          <p:cNvPr id="82" name="Google Shape;82;p41"/>
          <p:cNvPicPr preferRelativeResize="0"/>
          <p:nvPr/>
        </p:nvPicPr>
        <p:blipFill rotWithShape="1">
          <a:blip r:embed="rId2">
            <a:alphaModFix/>
          </a:blip>
          <a:srcRect b="0" l="0" r="0" t="0"/>
          <a:stretch/>
        </p:blipFill>
        <p:spPr>
          <a:xfrm>
            <a:off x="-120581" y="5864994"/>
            <a:ext cx="1403488" cy="993004"/>
          </a:xfrm>
          <a:prstGeom prst="rect">
            <a:avLst/>
          </a:prstGeom>
          <a:noFill/>
          <a:ln>
            <a:noFill/>
          </a:ln>
        </p:spPr>
      </p:pic>
      <p:sp>
        <p:nvSpPr>
          <p:cNvPr id="83" name="Google Shape;83;p41"/>
          <p:cNvSpPr/>
          <p:nvPr/>
        </p:nvSpPr>
        <p:spPr>
          <a:xfrm>
            <a:off x="0" y="2582426"/>
            <a:ext cx="12192000" cy="646385"/>
          </a:xfrm>
          <a:prstGeom prst="flowChartProcess">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D" sz="1800">
                <a:solidFill>
                  <a:schemeClr val="lt1"/>
                </a:solidFill>
                <a:latin typeface="Calibri"/>
                <a:ea typeface="Calibri"/>
                <a:cs typeface="Calibri"/>
                <a:sym typeface="Calibri"/>
              </a:rPr>
              <a:t>TERIMA KASIH, MAHASISWA TEKNIK INFORMATIKA UNGGUL, ANDA SUDAH BELAJAR DENGAN LUAR BIASA</a:t>
            </a:r>
            <a:endParaRPr sz="1800">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65"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pic>
        <p:nvPicPr>
          <p:cNvPr id="87" name="Google Shape;87;p43"/>
          <p:cNvPicPr preferRelativeResize="0"/>
          <p:nvPr/>
        </p:nvPicPr>
        <p:blipFill rotWithShape="1">
          <a:blip r:embed="rId1">
            <a:alphaModFix/>
          </a:blip>
          <a:srcRect b="0" l="0" r="0" t="0"/>
          <a:stretch/>
        </p:blipFill>
        <p:spPr>
          <a:xfrm>
            <a:off x="3657600" y="2057400"/>
            <a:ext cx="4876800" cy="2743200"/>
          </a:xfrm>
          <a:prstGeom prst="rect">
            <a:avLst/>
          </a:prstGeom>
          <a:noFill/>
          <a:ln>
            <a:noFill/>
          </a:ln>
        </p:spPr>
      </p:pic>
      <p:sp>
        <p:nvSpPr>
          <p:cNvPr id="88" name="Google Shape;88;p43"/>
          <p:cNvSpPr/>
          <p:nvPr/>
        </p:nvSpPr>
        <p:spPr>
          <a:xfrm rot="-5400000">
            <a:off x="10209964" y="4875960"/>
            <a:ext cx="1884065" cy="2080010"/>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 name="Google Shape;89;p43"/>
          <p:cNvSpPr/>
          <p:nvPr/>
        </p:nvSpPr>
        <p:spPr>
          <a:xfrm>
            <a:off x="0" y="6211614"/>
            <a:ext cx="12192000" cy="646385"/>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n-ID" sz="2000">
                <a:solidFill>
                  <a:schemeClr val="dk1"/>
                </a:solidFill>
                <a:latin typeface="Calibri"/>
                <a:ea typeface="Calibri"/>
                <a:cs typeface="Calibri"/>
                <a:sym typeface="Calibri"/>
              </a:rPr>
              <a:t>Program Studi Teknik Informatika, Universitas Pamulang</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n-ID"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p:txBody>
      </p:sp>
      <p:sp>
        <p:nvSpPr>
          <p:cNvPr id="90" name="Google Shape;90;p43"/>
          <p:cNvSpPr/>
          <p:nvPr/>
        </p:nvSpPr>
        <p:spPr>
          <a:xfrm>
            <a:off x="0" y="5074416"/>
            <a:ext cx="1597688" cy="1783584"/>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91" name="Google Shape;91;p43"/>
          <p:cNvPicPr preferRelativeResize="0"/>
          <p:nvPr/>
        </p:nvPicPr>
        <p:blipFill rotWithShape="1">
          <a:blip r:embed="rId2">
            <a:alphaModFix/>
          </a:blip>
          <a:srcRect b="0" l="0" r="0" t="0"/>
          <a:stretch/>
        </p:blipFill>
        <p:spPr>
          <a:xfrm>
            <a:off x="11099172" y="5725289"/>
            <a:ext cx="1042588" cy="1012044"/>
          </a:xfrm>
          <a:prstGeom prst="rect">
            <a:avLst/>
          </a:prstGeom>
          <a:noFill/>
          <a:ln>
            <a:noFill/>
          </a:ln>
        </p:spPr>
      </p:pic>
      <p:pic>
        <p:nvPicPr>
          <p:cNvPr id="92" name="Google Shape;92;p43"/>
          <p:cNvPicPr preferRelativeResize="0"/>
          <p:nvPr/>
        </p:nvPicPr>
        <p:blipFill rotWithShape="1">
          <a:blip r:embed="rId3">
            <a:alphaModFix/>
          </a:blip>
          <a:srcRect b="0" l="0" r="0" t="0"/>
          <a:stretch/>
        </p:blipFill>
        <p:spPr>
          <a:xfrm>
            <a:off x="-120581" y="5864994"/>
            <a:ext cx="1403488" cy="993004"/>
          </a:xfrm>
          <a:prstGeom prst="rect">
            <a:avLst/>
          </a:prstGeom>
          <a:noFill/>
          <a:ln>
            <a:noFill/>
          </a:ln>
        </p:spPr>
      </p:pic>
      <p:sp>
        <p:nvSpPr>
          <p:cNvPr id="93" name="Google Shape;93;p43"/>
          <p:cNvSpPr/>
          <p:nvPr/>
        </p:nvSpPr>
        <p:spPr>
          <a:xfrm>
            <a:off x="0" y="0"/>
            <a:ext cx="12192000" cy="646385"/>
          </a:xfrm>
          <a:prstGeom prst="flowChartProcess">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D" sz="1800">
                <a:solidFill>
                  <a:schemeClr val="lt1"/>
                </a:solidFill>
                <a:latin typeface="Calibri"/>
                <a:ea typeface="Calibri"/>
                <a:cs typeface="Calibri"/>
                <a:sym typeface="Calibri"/>
              </a:rPr>
              <a:t>TERIMA KASIH, MAHASISWA TEKNIK INFORMATIKA UNGGUL, ANDA SUDAH BELAJAR DENGAN LUAR BIASA</a:t>
            </a:r>
            <a:endParaRPr sz="1800">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67"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51"/>
          <p:cNvSpPr/>
          <p:nvPr/>
        </p:nvSpPr>
        <p:spPr>
          <a:xfrm>
            <a:off x="0" y="1"/>
            <a:ext cx="12192000" cy="1204466"/>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n-ID"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p:txBody>
      </p:sp>
      <p:pic>
        <p:nvPicPr>
          <p:cNvPr id="98" name="Google Shape;98;p51"/>
          <p:cNvPicPr preferRelativeResize="0"/>
          <p:nvPr/>
        </p:nvPicPr>
        <p:blipFill rotWithShape="1">
          <a:blip r:embed="rId1">
            <a:alphaModFix/>
          </a:blip>
          <a:srcRect b="0" l="0" r="0" t="0"/>
          <a:stretch/>
        </p:blipFill>
        <p:spPr>
          <a:xfrm>
            <a:off x="99642" y="38924"/>
            <a:ext cx="1119282" cy="1086491"/>
          </a:xfrm>
          <a:prstGeom prst="rect">
            <a:avLst/>
          </a:prstGeom>
          <a:noFill/>
          <a:ln>
            <a:noFill/>
          </a:ln>
        </p:spPr>
      </p:pic>
      <p:sp>
        <p:nvSpPr>
          <p:cNvPr id="99" name="Google Shape;99;p51"/>
          <p:cNvSpPr txBox="1"/>
          <p:nvPr/>
        </p:nvSpPr>
        <p:spPr>
          <a:xfrm>
            <a:off x="1218924" y="166670"/>
            <a:ext cx="5886103"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ID" sz="2400">
                <a:solidFill>
                  <a:schemeClr val="dk1"/>
                </a:solidFill>
                <a:latin typeface="Calibri"/>
                <a:ea typeface="Calibri"/>
                <a:cs typeface="Calibri"/>
                <a:sym typeface="Calibri"/>
              </a:rPr>
              <a:t>PROGRAM STUDI S1 TEKNIK INFORMATIKA</a:t>
            </a:r>
            <a:br>
              <a:rPr lang="en-ID" sz="2400">
                <a:solidFill>
                  <a:schemeClr val="dk1"/>
                </a:solidFill>
                <a:latin typeface="Calibri"/>
                <a:ea typeface="Calibri"/>
                <a:cs typeface="Calibri"/>
                <a:sym typeface="Calibri"/>
              </a:rPr>
            </a:br>
            <a:r>
              <a:rPr lang="en-ID" sz="2400">
                <a:solidFill>
                  <a:schemeClr val="dk1"/>
                </a:solidFill>
                <a:latin typeface="Calibri"/>
                <a:ea typeface="Calibri"/>
                <a:cs typeface="Calibri"/>
                <a:sym typeface="Calibri"/>
              </a:rPr>
              <a:t>UNIVERSITAS PAMULANG</a:t>
            </a:r>
            <a:endParaRPr sz="2400">
              <a:solidFill>
                <a:schemeClr val="dk1"/>
              </a:solidFill>
              <a:latin typeface="Calibri"/>
              <a:ea typeface="Calibri"/>
              <a:cs typeface="Calibri"/>
              <a:sym typeface="Calibri"/>
            </a:endParaRPr>
          </a:p>
        </p:txBody>
      </p:sp>
      <p:pic>
        <p:nvPicPr>
          <p:cNvPr id="100" name="Google Shape;100;p51"/>
          <p:cNvPicPr preferRelativeResize="0"/>
          <p:nvPr/>
        </p:nvPicPr>
        <p:blipFill rotWithShape="1">
          <a:blip r:embed="rId2">
            <a:alphaModFix/>
          </a:blip>
          <a:srcRect b="0" l="0" r="0" t="0"/>
          <a:stretch/>
        </p:blipFill>
        <p:spPr>
          <a:xfrm>
            <a:off x="10048352" y="0"/>
            <a:ext cx="2143648" cy="1205802"/>
          </a:xfrm>
          <a:prstGeom prst="rect">
            <a:avLst/>
          </a:prstGeom>
          <a:noFill/>
          <a:ln>
            <a:noFill/>
          </a:ln>
        </p:spPr>
      </p:pic>
      <p:sp>
        <p:nvSpPr>
          <p:cNvPr id="101" name="Google Shape;101;p51"/>
          <p:cNvSpPr txBox="1"/>
          <p:nvPr>
            <p:ph type="title"/>
          </p:nvPr>
        </p:nvSpPr>
        <p:spPr>
          <a:xfrm>
            <a:off x="838200" y="120446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2" name="Google Shape;102;p51"/>
          <p:cNvSpPr txBox="1"/>
          <p:nvPr>
            <p:ph idx="1" type="body"/>
          </p:nvPr>
        </p:nvSpPr>
        <p:spPr>
          <a:xfrm>
            <a:off x="838200" y="2329881"/>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6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 name="Shape 105"/>
        <p:cNvGrpSpPr/>
        <p:nvPr/>
      </p:nvGrpSpPr>
      <p:grpSpPr>
        <a:xfrm>
          <a:off x="0" y="0"/>
          <a:ext cx="0" cy="0"/>
          <a:chOff x="0" y="0"/>
          <a:chExt cx="0" cy="0"/>
        </a:xfrm>
      </p:grpSpPr>
      <p:pic>
        <p:nvPicPr>
          <p:cNvPr id="106" name="Google Shape;106;p53"/>
          <p:cNvPicPr preferRelativeResize="0"/>
          <p:nvPr/>
        </p:nvPicPr>
        <p:blipFill rotWithShape="1">
          <a:blip r:embed="rId1">
            <a:alphaModFix/>
          </a:blip>
          <a:srcRect b="0" l="0" r="0" t="0"/>
          <a:stretch/>
        </p:blipFill>
        <p:spPr>
          <a:xfrm>
            <a:off x="0" y="0"/>
            <a:ext cx="12192000" cy="6858000"/>
          </a:xfrm>
          <a:prstGeom prst="rect">
            <a:avLst/>
          </a:prstGeom>
          <a:noFill/>
          <a:ln>
            <a:noFill/>
          </a:ln>
        </p:spPr>
      </p:pic>
      <p:sp>
        <p:nvSpPr>
          <p:cNvPr id="107" name="Google Shape;107;p53"/>
          <p:cNvSpPr/>
          <p:nvPr/>
        </p:nvSpPr>
        <p:spPr>
          <a:xfrm rot="-5400000">
            <a:off x="10209964" y="4875960"/>
            <a:ext cx="1884065" cy="2080010"/>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 name="Google Shape;108;p53"/>
          <p:cNvSpPr/>
          <p:nvPr/>
        </p:nvSpPr>
        <p:spPr>
          <a:xfrm>
            <a:off x="0" y="6211614"/>
            <a:ext cx="12192000" cy="646385"/>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n-ID" sz="2000">
                <a:solidFill>
                  <a:schemeClr val="dk1"/>
                </a:solidFill>
                <a:latin typeface="Calibri"/>
                <a:ea typeface="Calibri"/>
                <a:cs typeface="Calibri"/>
                <a:sym typeface="Calibri"/>
              </a:rPr>
              <a:t>Program Studi Teknik Informatika, Universitas Pamulang</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n-ID"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p:txBody>
      </p:sp>
      <p:sp>
        <p:nvSpPr>
          <p:cNvPr id="109" name="Google Shape;109;p53"/>
          <p:cNvSpPr/>
          <p:nvPr/>
        </p:nvSpPr>
        <p:spPr>
          <a:xfrm>
            <a:off x="0" y="5074416"/>
            <a:ext cx="1597688" cy="1783584"/>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10" name="Google Shape;110;p53"/>
          <p:cNvPicPr preferRelativeResize="0"/>
          <p:nvPr/>
        </p:nvPicPr>
        <p:blipFill rotWithShape="1">
          <a:blip r:embed="rId2">
            <a:alphaModFix/>
          </a:blip>
          <a:srcRect b="0" l="0" r="0" t="0"/>
          <a:stretch/>
        </p:blipFill>
        <p:spPr>
          <a:xfrm>
            <a:off x="11099172" y="5725289"/>
            <a:ext cx="1042588" cy="1012044"/>
          </a:xfrm>
          <a:prstGeom prst="rect">
            <a:avLst/>
          </a:prstGeom>
          <a:noFill/>
          <a:ln>
            <a:noFill/>
          </a:ln>
        </p:spPr>
      </p:pic>
      <p:pic>
        <p:nvPicPr>
          <p:cNvPr id="111" name="Google Shape;111;p53"/>
          <p:cNvPicPr preferRelativeResize="0"/>
          <p:nvPr/>
        </p:nvPicPr>
        <p:blipFill rotWithShape="1">
          <a:blip r:embed="rId3">
            <a:alphaModFix/>
          </a:blip>
          <a:srcRect b="0" l="0" r="0" t="0"/>
          <a:stretch/>
        </p:blipFill>
        <p:spPr>
          <a:xfrm>
            <a:off x="-120581" y="5864994"/>
            <a:ext cx="1403488" cy="99300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
          <p:cNvSpPr txBox="1"/>
          <p:nvPr>
            <p:ph type="title"/>
          </p:nvPr>
        </p:nvSpPr>
        <p:spPr>
          <a:xfrm>
            <a:off x="838200" y="2010671"/>
            <a:ext cx="10515600" cy="234929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6"/>
              </a:buClr>
              <a:buSzPts val="6000"/>
              <a:buFont typeface="Calibri"/>
              <a:buNone/>
            </a:pPr>
            <a:r>
              <a:rPr b="1" lang="en-ID" sz="6000">
                <a:solidFill>
                  <a:schemeClr val="accent6"/>
                </a:solidFill>
              </a:rPr>
              <a:t>BASIS DATA 1</a:t>
            </a:r>
            <a:endParaRPr sz="6000">
              <a:solidFill>
                <a:schemeClr val="accent6"/>
              </a:solidFill>
            </a:endParaRPr>
          </a:p>
        </p:txBody>
      </p:sp>
      <p:sp>
        <p:nvSpPr>
          <p:cNvPr id="119" name="Google Shape;119;p1"/>
          <p:cNvSpPr txBox="1"/>
          <p:nvPr/>
        </p:nvSpPr>
        <p:spPr>
          <a:xfrm>
            <a:off x="4647490" y="3995897"/>
            <a:ext cx="3321090" cy="72813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3600"/>
              <a:buFont typeface="Arial"/>
              <a:buNone/>
            </a:pPr>
            <a:r>
              <a:rPr b="1" lang="en-ID" sz="3600">
                <a:solidFill>
                  <a:schemeClr val="dk1"/>
                </a:solidFill>
                <a:latin typeface="Calibri"/>
                <a:ea typeface="Calibri"/>
                <a:cs typeface="Calibri"/>
                <a:sym typeface="Calibri"/>
              </a:rPr>
              <a:t>PERTEMUAN 1</a:t>
            </a:r>
            <a:endParaRPr b="1" sz="36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
          <p:cNvSpPr txBox="1"/>
          <p:nvPr/>
        </p:nvSpPr>
        <p:spPr>
          <a:xfrm>
            <a:off x="4343400" y="2199719"/>
            <a:ext cx="6102626" cy="1664879"/>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i="0" lang="en-ID" sz="3600">
                <a:solidFill>
                  <a:srgbClr val="F7CAAC"/>
                </a:solidFill>
                <a:latin typeface="Arial Narrow"/>
                <a:ea typeface="Arial Narrow"/>
                <a:cs typeface="Arial Narrow"/>
                <a:sym typeface="Arial Narrow"/>
              </a:rPr>
              <a:t>PENGERTIAN SISTEM MANAJEMEN BASIS DATA</a:t>
            </a:r>
            <a:r>
              <a:rPr b="1" lang="en-ID" sz="3600">
                <a:solidFill>
                  <a:srgbClr val="F7CAAC"/>
                </a:solidFill>
                <a:latin typeface="Calibri"/>
                <a:ea typeface="Calibri"/>
                <a:cs typeface="Calibri"/>
                <a:sym typeface="Calibri"/>
              </a:rPr>
              <a:t> </a:t>
            </a:r>
            <a:endParaRPr/>
          </a:p>
        </p:txBody>
      </p:sp>
      <p:pic>
        <p:nvPicPr>
          <p:cNvPr id="125" name="Google Shape;125;p2"/>
          <p:cNvPicPr preferRelativeResize="0"/>
          <p:nvPr/>
        </p:nvPicPr>
        <p:blipFill rotWithShape="1">
          <a:blip r:embed="rId3">
            <a:alphaModFix/>
          </a:blip>
          <a:srcRect b="0" l="0" r="0" t="0"/>
          <a:stretch/>
        </p:blipFill>
        <p:spPr>
          <a:xfrm>
            <a:off x="-1" y="1446301"/>
            <a:ext cx="4341051" cy="36557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Calibri"/>
              <a:buNone/>
            </a:pPr>
            <a:r>
              <a:rPr lang="en-ID"/>
              <a:t>Basis Data</a:t>
            </a:r>
            <a:endParaRPr/>
          </a:p>
        </p:txBody>
      </p:sp>
      <p:sp>
        <p:nvSpPr>
          <p:cNvPr id="131" name="Google Shape;131;p3"/>
          <p:cNvSpPr txBox="1"/>
          <p:nvPr>
            <p:ph idx="1" type="body"/>
          </p:nvPr>
        </p:nvSpPr>
        <p:spPr>
          <a:xfrm>
            <a:off x="1371600" y="1484671"/>
            <a:ext cx="9601200" cy="4382729"/>
          </a:xfrm>
          <a:prstGeom prst="rect">
            <a:avLst/>
          </a:prstGeom>
          <a:noFill/>
          <a:ln>
            <a:noFill/>
          </a:ln>
        </p:spPr>
        <p:txBody>
          <a:bodyPr anchorCtr="0" anchor="t" bIns="45700" lIns="91425" spcFirstLastPara="1" rIns="91425" wrap="square" tIns="45700">
            <a:normAutofit fontScale="92500" lnSpcReduction="10000"/>
          </a:bodyPr>
          <a:lstStyle/>
          <a:p>
            <a:pPr indent="-64135" lvl="0" marL="228600" rtl="0" algn="l">
              <a:lnSpc>
                <a:spcPct val="90000"/>
              </a:lnSpc>
              <a:spcBef>
                <a:spcPts val="0"/>
              </a:spcBef>
              <a:spcAft>
                <a:spcPts val="0"/>
              </a:spcAft>
              <a:buClr>
                <a:schemeClr val="dk1"/>
              </a:buClr>
              <a:buSzPct val="100000"/>
              <a:buNone/>
            </a:pPr>
            <a:r>
              <a:t/>
            </a:r>
            <a:endParaRPr/>
          </a:p>
          <a:p>
            <a:pPr indent="-228600" lvl="0" marL="228600" rtl="0" algn="l">
              <a:lnSpc>
                <a:spcPct val="90000"/>
              </a:lnSpc>
              <a:spcBef>
                <a:spcPts val="1000"/>
              </a:spcBef>
              <a:spcAft>
                <a:spcPts val="0"/>
              </a:spcAft>
              <a:buClr>
                <a:srgbClr val="000000"/>
              </a:buClr>
              <a:buSzPct val="100000"/>
              <a:buChar char="•"/>
            </a:pPr>
            <a:r>
              <a:rPr b="0" i="0" lang="en-ID">
                <a:solidFill>
                  <a:srgbClr val="000000"/>
                </a:solidFill>
                <a:latin typeface="Open Sans"/>
                <a:ea typeface="Open Sans"/>
                <a:cs typeface="Open Sans"/>
                <a:sym typeface="Open Sans"/>
              </a:rPr>
              <a:t>Basis Data terdiri dari kata </a:t>
            </a:r>
            <a:r>
              <a:rPr b="1" i="0" lang="en-ID">
                <a:solidFill>
                  <a:srgbClr val="000000"/>
                </a:solidFill>
                <a:latin typeface="Open Sans"/>
                <a:ea typeface="Open Sans"/>
                <a:cs typeface="Open Sans"/>
                <a:sym typeface="Open Sans"/>
              </a:rPr>
              <a:t>basis</a:t>
            </a:r>
            <a:r>
              <a:rPr b="0" i="0" lang="en-ID">
                <a:solidFill>
                  <a:srgbClr val="000000"/>
                </a:solidFill>
                <a:latin typeface="Open Sans"/>
                <a:ea typeface="Open Sans"/>
                <a:cs typeface="Open Sans"/>
                <a:sym typeface="Open Sans"/>
              </a:rPr>
              <a:t> dan </a:t>
            </a:r>
            <a:r>
              <a:rPr b="1" i="0" lang="en-ID">
                <a:solidFill>
                  <a:srgbClr val="000000"/>
                </a:solidFill>
                <a:latin typeface="Open Sans"/>
                <a:ea typeface="Open Sans"/>
                <a:cs typeface="Open Sans"/>
                <a:sym typeface="Open Sans"/>
              </a:rPr>
              <a:t>data</a:t>
            </a:r>
            <a:endParaRPr/>
          </a:p>
          <a:p>
            <a:pPr indent="-228600" lvl="0" marL="228600" rtl="0" algn="l">
              <a:lnSpc>
                <a:spcPct val="90000"/>
              </a:lnSpc>
              <a:spcBef>
                <a:spcPts val="1000"/>
              </a:spcBef>
              <a:spcAft>
                <a:spcPts val="0"/>
              </a:spcAft>
              <a:buClr>
                <a:srgbClr val="000000"/>
              </a:buClr>
              <a:buSzPct val="100000"/>
              <a:buChar char="•"/>
            </a:pPr>
            <a:r>
              <a:rPr b="1" i="0" lang="en-ID">
                <a:solidFill>
                  <a:srgbClr val="000000"/>
                </a:solidFill>
                <a:latin typeface="Open Sans"/>
                <a:ea typeface="Open Sans"/>
                <a:cs typeface="Open Sans"/>
                <a:sym typeface="Open Sans"/>
              </a:rPr>
              <a:t>Basis</a:t>
            </a:r>
            <a:r>
              <a:rPr b="0" i="0" lang="en-ID">
                <a:solidFill>
                  <a:srgbClr val="000000"/>
                </a:solidFill>
                <a:latin typeface="Open Sans"/>
                <a:ea typeface="Open Sans"/>
                <a:cs typeface="Open Sans"/>
                <a:sym typeface="Open Sans"/>
              </a:rPr>
              <a:t> dapat diartikan sebagai markas atau Gudang</a:t>
            </a:r>
            <a:endParaRPr/>
          </a:p>
          <a:p>
            <a:pPr indent="-228600" lvl="0" marL="228600" rtl="0" algn="just">
              <a:lnSpc>
                <a:spcPct val="150000"/>
              </a:lnSpc>
              <a:spcBef>
                <a:spcPts val="1000"/>
              </a:spcBef>
              <a:spcAft>
                <a:spcPts val="0"/>
              </a:spcAft>
              <a:buClr>
                <a:srgbClr val="000000"/>
              </a:buClr>
              <a:buSzPct val="100000"/>
              <a:buChar char="•"/>
            </a:pPr>
            <a:r>
              <a:rPr b="1" lang="en-ID">
                <a:solidFill>
                  <a:srgbClr val="000000"/>
                </a:solidFill>
                <a:latin typeface="Open Sans"/>
                <a:ea typeface="Open Sans"/>
                <a:cs typeface="Open Sans"/>
                <a:sym typeface="Open Sans"/>
              </a:rPr>
              <a:t>D</a:t>
            </a:r>
            <a:r>
              <a:rPr b="1" i="0" lang="en-ID">
                <a:solidFill>
                  <a:srgbClr val="000000"/>
                </a:solidFill>
                <a:latin typeface="Open Sans"/>
                <a:ea typeface="Open Sans"/>
                <a:cs typeface="Open Sans"/>
                <a:sym typeface="Open Sans"/>
              </a:rPr>
              <a:t>ata</a:t>
            </a:r>
            <a:r>
              <a:rPr b="0" i="0" lang="en-ID">
                <a:solidFill>
                  <a:srgbClr val="000000"/>
                </a:solidFill>
                <a:latin typeface="Open Sans"/>
                <a:ea typeface="Open Sans"/>
                <a:cs typeface="Open Sans"/>
                <a:sym typeface="Open Sans"/>
              </a:rPr>
              <a:t> adalah catatan atas kumpulan fakta dunia nyata yang mewakili objek seperti manusia, barang, hewan, konsep, peristiwa dan sebagainya yang diwujudkan dalam bentuk huruf, angka, simbol, gambar, teks, bunyi atau kombinasinya</a:t>
            </a:r>
            <a:r>
              <a:rPr lang="en-ID"/>
              <a:t>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4"/>
          <p:cNvSpPr txBox="1"/>
          <p:nvPr/>
        </p:nvSpPr>
        <p:spPr>
          <a:xfrm>
            <a:off x="1051891" y="1477472"/>
            <a:ext cx="10088218" cy="3903056"/>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i="0" lang="en-ID" sz="2800">
                <a:solidFill>
                  <a:srgbClr val="000000"/>
                </a:solidFill>
                <a:latin typeface="Open Sans"/>
                <a:ea typeface="Open Sans"/>
                <a:cs typeface="Open Sans"/>
                <a:sym typeface="Open Sans"/>
              </a:rPr>
              <a:t>Basis Data </a:t>
            </a:r>
            <a:r>
              <a:rPr lang="en-ID" sz="2800">
                <a:solidFill>
                  <a:srgbClr val="000000"/>
                </a:solidFill>
                <a:latin typeface="Open Sans"/>
                <a:ea typeface="Open Sans"/>
                <a:cs typeface="Open Sans"/>
                <a:sym typeface="Open Sans"/>
              </a:rPr>
              <a:t>adalah </a:t>
            </a:r>
            <a:r>
              <a:rPr b="1" lang="en-ID" sz="2800">
                <a:solidFill>
                  <a:srgbClr val="000000"/>
                </a:solidFill>
                <a:latin typeface="Open Sans"/>
                <a:ea typeface="Open Sans"/>
                <a:cs typeface="Open Sans"/>
                <a:sym typeface="Open Sans"/>
              </a:rPr>
              <a:t>k</a:t>
            </a:r>
            <a:r>
              <a:rPr b="1" i="0" lang="en-ID" sz="2800">
                <a:solidFill>
                  <a:srgbClr val="000000"/>
                </a:solidFill>
                <a:latin typeface="Open Sans"/>
                <a:ea typeface="Open Sans"/>
                <a:cs typeface="Open Sans"/>
                <a:sym typeface="Open Sans"/>
              </a:rPr>
              <a:t>umpulan data </a:t>
            </a:r>
            <a:r>
              <a:rPr b="0" i="0" lang="en-ID" sz="2800">
                <a:solidFill>
                  <a:srgbClr val="000000"/>
                </a:solidFill>
                <a:latin typeface="Open Sans"/>
                <a:ea typeface="Open Sans"/>
                <a:cs typeface="Open Sans"/>
                <a:sym typeface="Open Sans"/>
              </a:rPr>
              <a:t>dalam bentuk file/tabel/arsip yang </a:t>
            </a:r>
            <a:r>
              <a:rPr b="1" i="0" lang="en-ID" sz="2800">
                <a:solidFill>
                  <a:srgbClr val="000000"/>
                </a:solidFill>
                <a:latin typeface="Open Sans"/>
                <a:ea typeface="Open Sans"/>
                <a:cs typeface="Open Sans"/>
                <a:sym typeface="Open Sans"/>
              </a:rPr>
              <a:t>saling berhubungan </a:t>
            </a:r>
            <a:r>
              <a:rPr b="0" i="0" lang="en-ID" sz="2800">
                <a:solidFill>
                  <a:srgbClr val="000000"/>
                </a:solidFill>
                <a:latin typeface="Open Sans"/>
                <a:ea typeface="Open Sans"/>
                <a:cs typeface="Open Sans"/>
                <a:sym typeface="Open Sans"/>
              </a:rPr>
              <a:t>dan </a:t>
            </a:r>
            <a:r>
              <a:rPr b="1" i="0" lang="en-ID" sz="2800">
                <a:solidFill>
                  <a:srgbClr val="000000"/>
                </a:solidFill>
                <a:latin typeface="Open Sans"/>
                <a:ea typeface="Open Sans"/>
                <a:cs typeface="Open Sans"/>
                <a:sym typeface="Open Sans"/>
              </a:rPr>
              <a:t>tersimpan dalam media penyimpanan elektronis</a:t>
            </a:r>
            <a:r>
              <a:rPr b="0" i="0" lang="en-ID" sz="2800">
                <a:solidFill>
                  <a:srgbClr val="000000"/>
                </a:solidFill>
                <a:latin typeface="Open Sans"/>
                <a:ea typeface="Open Sans"/>
                <a:cs typeface="Open Sans"/>
                <a:sym typeface="Open Sans"/>
              </a:rPr>
              <a:t>, untuk kemudahan dalam pengaturan, pemilahan,  pengelompokan dan pengorganisasian data </a:t>
            </a:r>
            <a:r>
              <a:rPr b="1" i="0" lang="en-ID" sz="2800">
                <a:solidFill>
                  <a:srgbClr val="000000"/>
                </a:solidFill>
                <a:latin typeface="Open Sans"/>
                <a:ea typeface="Open Sans"/>
                <a:cs typeface="Open Sans"/>
                <a:sym typeface="Open Sans"/>
              </a:rPr>
              <a:t>sesuai tujuan</a:t>
            </a:r>
            <a:endParaRPr sz="2800">
              <a:solidFill>
                <a:schemeClr val="dk1"/>
              </a:solidFill>
              <a:latin typeface="Calibri"/>
              <a:ea typeface="Calibri"/>
              <a:cs typeface="Calibri"/>
              <a:sym typeface="Calibri"/>
            </a:endParaRPr>
          </a:p>
        </p:txBody>
      </p:sp>
      <p:cxnSp>
        <p:nvCxnSpPr>
          <p:cNvPr id="137" name="Google Shape;137;p4"/>
          <p:cNvCxnSpPr/>
          <p:nvPr/>
        </p:nvCxnSpPr>
        <p:spPr>
          <a:xfrm flipH="1" rot="10800000">
            <a:off x="742121" y="1033694"/>
            <a:ext cx="2173500" cy="1987800"/>
          </a:xfrm>
          <a:prstGeom prst="bentConnector3">
            <a:avLst>
              <a:gd fmla="val 0" name="adj1"/>
            </a:avLst>
          </a:prstGeom>
          <a:noFill/>
          <a:ln cap="flat" cmpd="sng" w="104775">
            <a:solidFill>
              <a:schemeClr val="accent1"/>
            </a:solidFill>
            <a:prstDash val="solid"/>
            <a:miter lim="800000"/>
            <a:headEnd len="sm" w="sm" type="none"/>
            <a:tailEnd len="sm" w="sm" type="none"/>
          </a:ln>
        </p:spPr>
      </p:cxnSp>
      <p:cxnSp>
        <p:nvCxnSpPr>
          <p:cNvPr id="138" name="Google Shape;138;p4"/>
          <p:cNvCxnSpPr/>
          <p:nvPr/>
        </p:nvCxnSpPr>
        <p:spPr>
          <a:xfrm flipH="1" rot="10800000">
            <a:off x="9137373" y="3392728"/>
            <a:ext cx="2173500" cy="1987800"/>
          </a:xfrm>
          <a:prstGeom prst="bentConnector3">
            <a:avLst>
              <a:gd fmla="val 99993" name="adj1"/>
            </a:avLst>
          </a:prstGeom>
          <a:noFill/>
          <a:ln cap="flat" cmpd="sng" w="104775">
            <a:solidFill>
              <a:schemeClr val="accent1"/>
            </a:solidFill>
            <a:prstDash val="solid"/>
            <a:miter lim="800000"/>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4400"/>
              <a:buFont typeface="Raleway"/>
              <a:buNone/>
            </a:pPr>
            <a:r>
              <a:rPr b="1" i="0" lang="en-ID" sz="4400">
                <a:solidFill>
                  <a:srgbClr val="000000"/>
                </a:solidFill>
                <a:latin typeface="Raleway"/>
                <a:ea typeface="Raleway"/>
                <a:cs typeface="Raleway"/>
                <a:sym typeface="Raleway"/>
              </a:rPr>
              <a:t>Fungsi dan Tujuan Basis Data</a:t>
            </a:r>
            <a:endParaRPr b="0" i="0" sz="4400">
              <a:solidFill>
                <a:srgbClr val="333333"/>
              </a:solidFill>
              <a:latin typeface="Raleway"/>
              <a:ea typeface="Raleway"/>
              <a:cs typeface="Raleway"/>
              <a:sym typeface="Raleway"/>
            </a:endParaRPr>
          </a:p>
        </p:txBody>
      </p:sp>
      <p:sp>
        <p:nvSpPr>
          <p:cNvPr id="144" name="Google Shape;144;p5"/>
          <p:cNvSpPr txBox="1"/>
          <p:nvPr/>
        </p:nvSpPr>
        <p:spPr>
          <a:xfrm>
            <a:off x="473765" y="1729469"/>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1800">
                <a:solidFill>
                  <a:srgbClr val="000000"/>
                </a:solidFill>
                <a:latin typeface="Raleway"/>
                <a:ea typeface="Raleway"/>
                <a:cs typeface="Raleway"/>
                <a:sym typeface="Raleway"/>
              </a:rPr>
              <a:t>Ketersediaan/ Availability</a:t>
            </a:r>
            <a:endParaRPr b="0" i="0" sz="1800">
              <a:solidFill>
                <a:srgbClr val="333333"/>
              </a:solidFill>
              <a:latin typeface="Raleway"/>
              <a:ea typeface="Raleway"/>
              <a:cs typeface="Raleway"/>
              <a:sym typeface="Raleway"/>
            </a:endParaRPr>
          </a:p>
        </p:txBody>
      </p:sp>
      <p:sp>
        <p:nvSpPr>
          <p:cNvPr id="145" name="Google Shape;145;p5"/>
          <p:cNvSpPr txBox="1"/>
          <p:nvPr/>
        </p:nvSpPr>
        <p:spPr>
          <a:xfrm>
            <a:off x="1371600" y="2376246"/>
            <a:ext cx="10396330" cy="116185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ID" sz="1600">
                <a:solidFill>
                  <a:srgbClr val="000000"/>
                </a:solidFill>
                <a:latin typeface="Open Sans"/>
                <a:ea typeface="Open Sans"/>
                <a:cs typeface="Open Sans"/>
                <a:sym typeface="Open Sans"/>
              </a:rPr>
              <a:t>U</a:t>
            </a:r>
            <a:r>
              <a:rPr b="0" i="0" lang="en-ID" sz="1600">
                <a:solidFill>
                  <a:srgbClr val="000000"/>
                </a:solidFill>
                <a:latin typeface="Open Sans"/>
                <a:ea typeface="Open Sans"/>
                <a:cs typeface="Open Sans"/>
                <a:sym typeface="Open Sans"/>
              </a:rPr>
              <a:t>ntuk menyediakan data-data penting saat sedang diperlukan. ini adalah fungsi penting dari basis data yang meskipun tidak terletak dalam satu lokasi, dan tersimpan dalam bentuk disk, akan tetapi dengan cara penyimpanan yang sistematik, informasi tersebut mudah untuk didapatkan.</a:t>
            </a:r>
            <a:endParaRPr sz="1600">
              <a:solidFill>
                <a:schemeClr val="dk1"/>
              </a:solidFill>
              <a:latin typeface="Calibri"/>
              <a:ea typeface="Calibri"/>
              <a:cs typeface="Calibri"/>
              <a:sym typeface="Calibri"/>
            </a:endParaRPr>
          </a:p>
        </p:txBody>
      </p:sp>
      <p:sp>
        <p:nvSpPr>
          <p:cNvPr id="146" name="Google Shape;146;p5"/>
          <p:cNvSpPr txBox="1"/>
          <p:nvPr/>
        </p:nvSpPr>
        <p:spPr>
          <a:xfrm>
            <a:off x="473765" y="4323670"/>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1800">
                <a:solidFill>
                  <a:srgbClr val="000000"/>
                </a:solidFill>
                <a:latin typeface="Raleway"/>
                <a:ea typeface="Raleway"/>
                <a:cs typeface="Raleway"/>
                <a:sym typeface="Raleway"/>
              </a:rPr>
              <a:t>Mudah dan Cepat/ Speed</a:t>
            </a:r>
            <a:endParaRPr b="0" i="0" sz="1800">
              <a:solidFill>
                <a:srgbClr val="333333"/>
              </a:solidFill>
              <a:latin typeface="Raleway"/>
              <a:ea typeface="Raleway"/>
              <a:cs typeface="Raleway"/>
              <a:sym typeface="Raleway"/>
            </a:endParaRPr>
          </a:p>
        </p:txBody>
      </p:sp>
      <p:sp>
        <p:nvSpPr>
          <p:cNvPr id="147" name="Google Shape;147;p5"/>
          <p:cNvSpPr txBox="1"/>
          <p:nvPr/>
        </p:nvSpPr>
        <p:spPr>
          <a:xfrm>
            <a:off x="1371600" y="4853106"/>
            <a:ext cx="10502348" cy="7925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D" sz="1600">
                <a:solidFill>
                  <a:srgbClr val="000000"/>
                </a:solidFill>
                <a:latin typeface="Open Sans"/>
                <a:ea typeface="Open Sans"/>
                <a:cs typeface="Open Sans"/>
                <a:sym typeface="Open Sans"/>
              </a:rPr>
              <a:t>agar pengguna bisa dengan mudah mengaksesnya saat sedang membutuhkan. Tidak perlu tunggu nanti, apalagi harus mengalokasikan waktu tertentu untuk memanggilnya.</a:t>
            </a:r>
            <a:endParaRPr sz="16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4400"/>
              <a:buFont typeface="Raleway"/>
              <a:buNone/>
            </a:pPr>
            <a:r>
              <a:rPr b="1" i="0" lang="en-ID" sz="4400">
                <a:solidFill>
                  <a:srgbClr val="000000"/>
                </a:solidFill>
                <a:latin typeface="Raleway"/>
                <a:ea typeface="Raleway"/>
                <a:cs typeface="Raleway"/>
                <a:sym typeface="Raleway"/>
              </a:rPr>
              <a:t>Fungsi dan Tujuan Basis Data</a:t>
            </a:r>
            <a:endParaRPr b="0" i="0" sz="4400">
              <a:solidFill>
                <a:srgbClr val="333333"/>
              </a:solidFill>
              <a:latin typeface="Raleway"/>
              <a:ea typeface="Raleway"/>
              <a:cs typeface="Raleway"/>
              <a:sym typeface="Raleway"/>
            </a:endParaRPr>
          </a:p>
        </p:txBody>
      </p:sp>
      <p:sp>
        <p:nvSpPr>
          <p:cNvPr id="153" name="Google Shape;153;p6"/>
          <p:cNvSpPr txBox="1"/>
          <p:nvPr/>
        </p:nvSpPr>
        <p:spPr>
          <a:xfrm>
            <a:off x="473765" y="1775345"/>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1800">
                <a:solidFill>
                  <a:srgbClr val="000000"/>
                </a:solidFill>
                <a:latin typeface="Raleway"/>
                <a:ea typeface="Raleway"/>
                <a:cs typeface="Raleway"/>
                <a:sym typeface="Raleway"/>
              </a:rPr>
              <a:t>Kelengkapan/ Completeness</a:t>
            </a:r>
            <a:endParaRPr b="0" i="0" sz="1800">
              <a:solidFill>
                <a:srgbClr val="333333"/>
              </a:solidFill>
              <a:latin typeface="Raleway"/>
              <a:ea typeface="Raleway"/>
              <a:cs typeface="Raleway"/>
              <a:sym typeface="Raleway"/>
            </a:endParaRPr>
          </a:p>
        </p:txBody>
      </p:sp>
      <p:sp>
        <p:nvSpPr>
          <p:cNvPr id="154" name="Google Shape;154;p6"/>
          <p:cNvSpPr txBox="1"/>
          <p:nvPr/>
        </p:nvSpPr>
        <p:spPr>
          <a:xfrm>
            <a:off x="1371600" y="2165866"/>
            <a:ext cx="10528852" cy="153118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D" sz="1600">
                <a:solidFill>
                  <a:srgbClr val="000000"/>
                </a:solidFill>
                <a:latin typeface="Open Sans"/>
                <a:ea typeface="Open Sans"/>
                <a:cs typeface="Open Sans"/>
                <a:sym typeface="Open Sans"/>
              </a:rPr>
              <a:t>Basis data harus menyimpan data yang lengkap, yang bisa melayani keperluan penggunanya secara keseluruhan. Meski kata lengkap yang dipakai disini sifatnya relatif, namun setidaknya data tersebut membantu memudahkan untuk menambah koleksi data, dan menjamin mudahnya pengguna untuk memodifikasi struktur data yang ada, sebut saja field-field data yang tersedia.</a:t>
            </a:r>
            <a:endParaRPr sz="1600">
              <a:solidFill>
                <a:schemeClr val="dk1"/>
              </a:solidFill>
              <a:latin typeface="Calibri"/>
              <a:ea typeface="Calibri"/>
              <a:cs typeface="Calibri"/>
              <a:sym typeface="Calibri"/>
            </a:endParaRPr>
          </a:p>
        </p:txBody>
      </p:sp>
      <p:sp>
        <p:nvSpPr>
          <p:cNvPr id="155" name="Google Shape;155;p6"/>
          <p:cNvSpPr txBox="1"/>
          <p:nvPr/>
        </p:nvSpPr>
        <p:spPr>
          <a:xfrm>
            <a:off x="473765" y="4259354"/>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1800">
                <a:solidFill>
                  <a:srgbClr val="000000"/>
                </a:solidFill>
                <a:latin typeface="Raleway"/>
                <a:ea typeface="Raleway"/>
                <a:cs typeface="Raleway"/>
                <a:sym typeface="Raleway"/>
              </a:rPr>
              <a:t>Accuracy dan Security</a:t>
            </a:r>
            <a:endParaRPr b="0" i="0" sz="1800">
              <a:solidFill>
                <a:srgbClr val="333333"/>
              </a:solidFill>
              <a:latin typeface="Raleway"/>
              <a:ea typeface="Raleway"/>
              <a:cs typeface="Raleway"/>
              <a:sym typeface="Raleway"/>
            </a:endParaRPr>
          </a:p>
        </p:txBody>
      </p:sp>
      <p:sp>
        <p:nvSpPr>
          <p:cNvPr id="156" name="Google Shape;156;p6"/>
          <p:cNvSpPr txBox="1"/>
          <p:nvPr/>
        </p:nvSpPr>
        <p:spPr>
          <a:xfrm>
            <a:off x="1371600" y="4628686"/>
            <a:ext cx="10396331" cy="116185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D" sz="1600">
                <a:solidFill>
                  <a:srgbClr val="000000"/>
                </a:solidFill>
                <a:latin typeface="Open Sans"/>
                <a:ea typeface="Open Sans"/>
                <a:cs typeface="Open Sans"/>
                <a:sym typeface="Open Sans"/>
              </a:rPr>
              <a:t>agar kesalahan dapat ditekan semaksimal mungkin, Anda bisa lakukan pengorganisasian file-file database dengan baik untuk menghindari kesalahan pada proses data entry dan juga dalam proses penyimpanan atau datastore.</a:t>
            </a:r>
            <a:endParaRPr sz="16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4400"/>
              <a:buFont typeface="Raleway"/>
              <a:buNone/>
            </a:pPr>
            <a:r>
              <a:rPr b="1" i="0" lang="en-ID" sz="4400">
                <a:solidFill>
                  <a:srgbClr val="000000"/>
                </a:solidFill>
                <a:latin typeface="Raleway"/>
                <a:ea typeface="Raleway"/>
                <a:cs typeface="Raleway"/>
                <a:sym typeface="Raleway"/>
              </a:rPr>
              <a:t>Fungsi dan Tujuan Basis Data</a:t>
            </a:r>
            <a:endParaRPr b="0" i="0" sz="4400">
              <a:solidFill>
                <a:srgbClr val="333333"/>
              </a:solidFill>
              <a:latin typeface="Raleway"/>
              <a:ea typeface="Raleway"/>
              <a:cs typeface="Raleway"/>
              <a:sym typeface="Raleway"/>
            </a:endParaRPr>
          </a:p>
        </p:txBody>
      </p:sp>
      <p:sp>
        <p:nvSpPr>
          <p:cNvPr id="162" name="Google Shape;162;p7"/>
          <p:cNvSpPr txBox="1"/>
          <p:nvPr/>
        </p:nvSpPr>
        <p:spPr>
          <a:xfrm>
            <a:off x="602974" y="1673332"/>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1800">
                <a:solidFill>
                  <a:srgbClr val="000000"/>
                </a:solidFill>
                <a:latin typeface="Raleway"/>
                <a:ea typeface="Raleway"/>
                <a:cs typeface="Raleway"/>
                <a:sym typeface="Raleway"/>
              </a:rPr>
              <a:t>Storage Efficiency</a:t>
            </a:r>
            <a:endParaRPr b="0" i="0" sz="1800">
              <a:solidFill>
                <a:srgbClr val="333333"/>
              </a:solidFill>
              <a:latin typeface="Raleway"/>
              <a:ea typeface="Raleway"/>
              <a:cs typeface="Raleway"/>
              <a:sym typeface="Raleway"/>
            </a:endParaRPr>
          </a:p>
        </p:txBody>
      </p:sp>
      <p:sp>
        <p:nvSpPr>
          <p:cNvPr id="163" name="Google Shape;163;p7"/>
          <p:cNvSpPr txBox="1"/>
          <p:nvPr/>
        </p:nvSpPr>
        <p:spPr>
          <a:xfrm>
            <a:off x="1371599" y="2309984"/>
            <a:ext cx="10422835" cy="116185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D" sz="1600">
                <a:solidFill>
                  <a:srgbClr val="000000"/>
                </a:solidFill>
                <a:latin typeface="Open Sans"/>
                <a:ea typeface="Open Sans"/>
                <a:cs typeface="Open Sans"/>
                <a:sym typeface="Open Sans"/>
              </a:rPr>
              <a:t>Pengorganisasian data dilakukan dengan baik dengan tujuan untuk menghindari duplikasi data yang berpengaruh pada bertambahnya ruang penyimpanan dari basis data tersebut. pengkodean dan juga relasi data bermanfaat untuk menghemat space penyimpanan dalam basis data.</a:t>
            </a:r>
            <a:endParaRPr sz="16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8"/>
          <p:cNvPicPr preferRelativeResize="0"/>
          <p:nvPr/>
        </p:nvPicPr>
        <p:blipFill rotWithShape="1">
          <a:blip r:embed="rId3">
            <a:alphaModFix/>
          </a:blip>
          <a:srcRect b="0" l="0" r="0" t="0"/>
          <a:stretch/>
        </p:blipFill>
        <p:spPr>
          <a:xfrm>
            <a:off x="2246864" y="981223"/>
            <a:ext cx="7480232" cy="4895554"/>
          </a:xfrm>
          <a:prstGeom prst="rect">
            <a:avLst/>
          </a:prstGeom>
          <a:noFill/>
          <a:ln>
            <a:noFill/>
          </a:ln>
        </p:spPr>
      </p:pic>
      <p:sp>
        <p:nvSpPr>
          <p:cNvPr id="169" name="Google Shape;169;p8"/>
          <p:cNvSpPr txBox="1"/>
          <p:nvPr/>
        </p:nvSpPr>
        <p:spPr>
          <a:xfrm>
            <a:off x="7670007" y="126176"/>
            <a:ext cx="463826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2400">
                <a:solidFill>
                  <a:schemeClr val="dk1"/>
                </a:solidFill>
                <a:latin typeface="Raleway"/>
                <a:ea typeface="Raleway"/>
                <a:cs typeface="Raleway"/>
                <a:sym typeface="Raleway"/>
              </a:rPr>
              <a:t>Contoh Penerapan basis data</a:t>
            </a:r>
            <a:endParaRPr b="0" i="0" sz="2400">
              <a:solidFill>
                <a:schemeClr val="dk1"/>
              </a:solidFill>
              <a:latin typeface="Raleway"/>
              <a:ea typeface="Raleway"/>
              <a:cs typeface="Raleway"/>
              <a:sym typeface="Ralew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9"/>
          <p:cNvPicPr preferRelativeResize="0"/>
          <p:nvPr/>
        </p:nvPicPr>
        <p:blipFill rotWithShape="1">
          <a:blip r:embed="rId3">
            <a:alphaModFix/>
          </a:blip>
          <a:srcRect b="0" l="0" r="0" t="0"/>
          <a:stretch/>
        </p:blipFill>
        <p:spPr>
          <a:xfrm>
            <a:off x="6454408" y="1258956"/>
            <a:ext cx="5273966" cy="3451629"/>
          </a:xfrm>
          <a:prstGeom prst="rect">
            <a:avLst/>
          </a:prstGeom>
          <a:noFill/>
          <a:ln>
            <a:noFill/>
          </a:ln>
        </p:spPr>
      </p:pic>
      <p:sp>
        <p:nvSpPr>
          <p:cNvPr id="175" name="Google Shape;175;p9"/>
          <p:cNvSpPr txBox="1"/>
          <p:nvPr/>
        </p:nvSpPr>
        <p:spPr>
          <a:xfrm>
            <a:off x="7670007" y="126176"/>
            <a:ext cx="463826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2400">
                <a:solidFill>
                  <a:schemeClr val="dk1"/>
                </a:solidFill>
                <a:latin typeface="Raleway"/>
                <a:ea typeface="Raleway"/>
                <a:cs typeface="Raleway"/>
                <a:sym typeface="Raleway"/>
              </a:rPr>
              <a:t>Contoh Penerapan basis data</a:t>
            </a:r>
            <a:endParaRPr b="0" i="0" sz="2400">
              <a:solidFill>
                <a:schemeClr val="dk1"/>
              </a:solidFill>
              <a:latin typeface="Raleway"/>
              <a:ea typeface="Raleway"/>
              <a:cs typeface="Raleway"/>
              <a:sym typeface="Raleway"/>
            </a:endParaRPr>
          </a:p>
        </p:txBody>
      </p:sp>
      <p:sp>
        <p:nvSpPr>
          <p:cNvPr id="176" name="Google Shape;176;p9"/>
          <p:cNvSpPr txBox="1"/>
          <p:nvPr/>
        </p:nvSpPr>
        <p:spPr>
          <a:xfrm>
            <a:off x="250893" y="1709530"/>
            <a:ext cx="5076481" cy="212506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ID" sz="1800">
                <a:solidFill>
                  <a:schemeClr val="dk1"/>
                </a:solidFill>
                <a:latin typeface="Arial Narrow"/>
                <a:ea typeface="Arial Narrow"/>
                <a:cs typeface="Arial Narrow"/>
                <a:sym typeface="Arial Narrow"/>
              </a:rPr>
              <a:t>T</a:t>
            </a:r>
            <a:r>
              <a:rPr b="0" i="0" lang="en-ID" sz="1800">
                <a:solidFill>
                  <a:schemeClr val="dk1"/>
                </a:solidFill>
                <a:latin typeface="Arial Narrow"/>
                <a:ea typeface="Arial Narrow"/>
                <a:cs typeface="Arial Narrow"/>
                <a:sym typeface="Arial Narrow"/>
              </a:rPr>
              <a:t>erlihat bahwa pada gambar disamping, itu bukan basis data melainkan lemari arsip, dimana pada setiap rak dalam lemari tersebut dapat menyimpan dokumen – dokumen manual yang terdiri dari lembaran – lembaran kertas</a:t>
            </a:r>
            <a:r>
              <a:rPr lang="en-ID" sz="1800">
                <a:solidFill>
                  <a:schemeClr val="dk1"/>
                </a:solidFill>
                <a:latin typeface="Calibri"/>
                <a:ea typeface="Calibri"/>
                <a:cs typeface="Calibri"/>
                <a:sym typeface="Calibri"/>
              </a:rPr>
              <a:t> </a:t>
            </a:r>
            <a:endParaRPr/>
          </a:p>
        </p:txBody>
      </p:sp>
      <p:sp>
        <p:nvSpPr>
          <p:cNvPr id="177" name="Google Shape;177;p9"/>
          <p:cNvSpPr/>
          <p:nvPr/>
        </p:nvSpPr>
        <p:spPr>
          <a:xfrm>
            <a:off x="5737593" y="1550504"/>
            <a:ext cx="822233" cy="901148"/>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10"/>
          <p:cNvPicPr preferRelativeResize="0"/>
          <p:nvPr/>
        </p:nvPicPr>
        <p:blipFill rotWithShape="1">
          <a:blip r:embed="rId3">
            <a:alphaModFix/>
          </a:blip>
          <a:srcRect b="0" l="0" r="0" t="0"/>
          <a:stretch/>
        </p:blipFill>
        <p:spPr>
          <a:xfrm>
            <a:off x="6454408" y="1258956"/>
            <a:ext cx="5273966" cy="3451629"/>
          </a:xfrm>
          <a:prstGeom prst="rect">
            <a:avLst/>
          </a:prstGeom>
          <a:noFill/>
          <a:ln>
            <a:noFill/>
          </a:ln>
        </p:spPr>
      </p:pic>
      <p:sp>
        <p:nvSpPr>
          <p:cNvPr id="183" name="Google Shape;183;p10"/>
          <p:cNvSpPr txBox="1"/>
          <p:nvPr/>
        </p:nvSpPr>
        <p:spPr>
          <a:xfrm>
            <a:off x="7670007" y="126176"/>
            <a:ext cx="463826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2400">
                <a:solidFill>
                  <a:schemeClr val="dk1"/>
                </a:solidFill>
                <a:latin typeface="Raleway"/>
                <a:ea typeface="Raleway"/>
                <a:cs typeface="Raleway"/>
                <a:sym typeface="Raleway"/>
              </a:rPr>
              <a:t>Contoh Penerapan basis data</a:t>
            </a:r>
            <a:endParaRPr b="0" i="0" sz="2400">
              <a:solidFill>
                <a:schemeClr val="dk1"/>
              </a:solidFill>
              <a:latin typeface="Raleway"/>
              <a:ea typeface="Raleway"/>
              <a:cs typeface="Raleway"/>
              <a:sym typeface="Raleway"/>
            </a:endParaRPr>
          </a:p>
        </p:txBody>
      </p:sp>
      <p:sp>
        <p:nvSpPr>
          <p:cNvPr id="184" name="Google Shape;184;p10"/>
          <p:cNvSpPr txBox="1"/>
          <p:nvPr/>
        </p:nvSpPr>
        <p:spPr>
          <a:xfrm>
            <a:off x="356612" y="1258956"/>
            <a:ext cx="4904500" cy="286232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ID" sz="1800">
                <a:solidFill>
                  <a:schemeClr val="dk1"/>
                </a:solidFill>
                <a:latin typeface="Arial Narrow"/>
                <a:ea typeface="Arial Narrow"/>
                <a:cs typeface="Arial Narrow"/>
                <a:sym typeface="Arial Narrow"/>
              </a:rPr>
              <a:t>Masalah yang dihadapi pada lemari arsip adalah </a:t>
            </a:r>
            <a:r>
              <a:rPr b="1" i="0" lang="en-ID" sz="1800">
                <a:solidFill>
                  <a:schemeClr val="dk1"/>
                </a:solidFill>
                <a:latin typeface="Arial Narrow"/>
                <a:ea typeface="Arial Narrow"/>
                <a:cs typeface="Arial Narrow"/>
                <a:sym typeface="Arial Narrow"/>
              </a:rPr>
              <a:t>kelambatan dalam menelusuri data – data </a:t>
            </a:r>
            <a:r>
              <a:rPr b="0" i="0" lang="en-ID" sz="1800">
                <a:solidFill>
                  <a:schemeClr val="dk1"/>
                </a:solidFill>
                <a:latin typeface="Arial Narrow"/>
                <a:ea typeface="Arial Narrow"/>
                <a:cs typeface="Arial Narrow"/>
                <a:sym typeface="Arial Narrow"/>
              </a:rPr>
              <a:t>yang ada pada lemari arsip tersebut,  misalkan kita ingin mencari arsip untuk pegawai tertentu dihasilkan dengan lambat dikarenakan petugas harus mencari lembaran – lembaran yang ada pada dokumen tersebut dan ini </a:t>
            </a:r>
            <a:r>
              <a:rPr b="1" i="0" lang="en-ID" sz="1800">
                <a:solidFill>
                  <a:schemeClr val="dk1"/>
                </a:solidFill>
                <a:latin typeface="Arial Narrow"/>
                <a:ea typeface="Arial Narrow"/>
                <a:cs typeface="Arial Narrow"/>
                <a:sym typeface="Arial Narrow"/>
              </a:rPr>
              <a:t>sangat menyita waktu.</a:t>
            </a:r>
            <a:endParaRPr/>
          </a:p>
          <a:p>
            <a:pPr indent="0" lvl="0" marL="0" marR="0" rtl="0" algn="l">
              <a:spcBef>
                <a:spcPts val="0"/>
              </a:spcBef>
              <a:spcAft>
                <a:spcPts val="0"/>
              </a:spcAft>
              <a:buNone/>
            </a:pPr>
            <a:br>
              <a:rPr lang="en-ID"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
        <p:nvSpPr>
          <p:cNvPr id="185" name="Google Shape;185;p10"/>
          <p:cNvSpPr/>
          <p:nvPr/>
        </p:nvSpPr>
        <p:spPr>
          <a:xfrm>
            <a:off x="5737593" y="1550504"/>
            <a:ext cx="822233" cy="901148"/>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11"/>
          <p:cNvPicPr preferRelativeResize="0"/>
          <p:nvPr/>
        </p:nvPicPr>
        <p:blipFill rotWithShape="1">
          <a:blip r:embed="rId3">
            <a:alphaModFix/>
          </a:blip>
          <a:srcRect b="0" l="0" r="0" t="0"/>
          <a:stretch/>
        </p:blipFill>
        <p:spPr>
          <a:xfrm>
            <a:off x="6454408" y="1258956"/>
            <a:ext cx="5273966" cy="3451629"/>
          </a:xfrm>
          <a:prstGeom prst="rect">
            <a:avLst/>
          </a:prstGeom>
          <a:noFill/>
          <a:ln>
            <a:noFill/>
          </a:ln>
        </p:spPr>
      </p:pic>
      <p:sp>
        <p:nvSpPr>
          <p:cNvPr id="191" name="Google Shape;191;p11"/>
          <p:cNvSpPr txBox="1"/>
          <p:nvPr/>
        </p:nvSpPr>
        <p:spPr>
          <a:xfrm>
            <a:off x="7670007" y="126176"/>
            <a:ext cx="463826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2400">
                <a:solidFill>
                  <a:schemeClr val="dk1"/>
                </a:solidFill>
                <a:latin typeface="Raleway"/>
                <a:ea typeface="Raleway"/>
                <a:cs typeface="Raleway"/>
                <a:sym typeface="Raleway"/>
              </a:rPr>
              <a:t>Contoh Penerapan basis data</a:t>
            </a:r>
            <a:endParaRPr b="0" i="0" sz="2400">
              <a:solidFill>
                <a:schemeClr val="dk1"/>
              </a:solidFill>
              <a:latin typeface="Raleway"/>
              <a:ea typeface="Raleway"/>
              <a:cs typeface="Raleway"/>
              <a:sym typeface="Raleway"/>
            </a:endParaRPr>
          </a:p>
        </p:txBody>
      </p:sp>
      <p:sp>
        <p:nvSpPr>
          <p:cNvPr id="192" name="Google Shape;192;p11"/>
          <p:cNvSpPr/>
          <p:nvPr/>
        </p:nvSpPr>
        <p:spPr>
          <a:xfrm>
            <a:off x="5777350" y="3313043"/>
            <a:ext cx="822233" cy="901148"/>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11"/>
          <p:cNvSpPr txBox="1"/>
          <p:nvPr/>
        </p:nvSpPr>
        <p:spPr>
          <a:xfrm>
            <a:off x="463626" y="1001325"/>
            <a:ext cx="4797286" cy="429194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ID" sz="1800">
                <a:solidFill>
                  <a:schemeClr val="dk1"/>
                </a:solidFill>
                <a:latin typeface="Arial Narrow"/>
                <a:ea typeface="Arial Narrow"/>
                <a:cs typeface="Arial Narrow"/>
                <a:sym typeface="Arial Narrow"/>
              </a:rPr>
              <a:t>Sedangkan kalau kita bicara basis data, maka seluruh data – data disimpan dalam basis data pada </a:t>
            </a:r>
            <a:r>
              <a:rPr b="1" i="0" lang="en-ID" sz="1800">
                <a:solidFill>
                  <a:schemeClr val="dk1"/>
                </a:solidFill>
                <a:latin typeface="Arial Narrow"/>
                <a:ea typeface="Arial Narrow"/>
                <a:cs typeface="Arial Narrow"/>
                <a:sym typeface="Arial Narrow"/>
              </a:rPr>
              <a:t>masing – masing </a:t>
            </a:r>
            <a:r>
              <a:rPr b="1" i="1" lang="en-ID" sz="1800">
                <a:solidFill>
                  <a:schemeClr val="dk1"/>
                </a:solidFill>
                <a:latin typeface="Arial Narrow"/>
                <a:ea typeface="Arial Narrow"/>
                <a:cs typeface="Arial Narrow"/>
                <a:sym typeface="Arial Narrow"/>
              </a:rPr>
              <a:t>table / file </a:t>
            </a:r>
            <a:r>
              <a:rPr b="1" i="0" lang="en-ID" sz="1800">
                <a:solidFill>
                  <a:schemeClr val="dk1"/>
                </a:solidFill>
                <a:latin typeface="Arial Narrow"/>
                <a:ea typeface="Arial Narrow"/>
                <a:cs typeface="Arial Narrow"/>
                <a:sym typeface="Arial Narrow"/>
              </a:rPr>
              <a:t>sesuai dengan fungsinya</a:t>
            </a:r>
            <a:r>
              <a:rPr b="0" i="0" lang="en-ID" sz="1800">
                <a:solidFill>
                  <a:schemeClr val="dk1"/>
                </a:solidFill>
                <a:latin typeface="Arial Narrow"/>
                <a:ea typeface="Arial Narrow"/>
                <a:cs typeface="Arial Narrow"/>
                <a:sym typeface="Arial Narrow"/>
              </a:rPr>
              <a:t>, sehingga kita dengan mudah dapat melakukan penelusuran data yang diinginkan hal ini akan mengakibatkan pada  </a:t>
            </a:r>
            <a:r>
              <a:rPr b="1" i="0" lang="en-ID" sz="1800">
                <a:solidFill>
                  <a:schemeClr val="dk1"/>
                </a:solidFill>
                <a:latin typeface="Arial Narrow"/>
                <a:ea typeface="Arial Narrow"/>
                <a:cs typeface="Arial Narrow"/>
                <a:sym typeface="Arial Narrow"/>
              </a:rPr>
              <a:t>kecepatan atas informasi yang disajikan</a:t>
            </a:r>
            <a:endParaRPr b="1" sz="1800">
              <a:solidFill>
                <a:schemeClr val="dk1"/>
              </a:solidFill>
              <a:latin typeface="Arial Narrow"/>
              <a:ea typeface="Arial Narrow"/>
              <a:cs typeface="Arial Narrow"/>
              <a:sym typeface="Arial Narrow"/>
            </a:endParaRPr>
          </a:p>
          <a:p>
            <a:pPr indent="0" lvl="0" marL="0" marR="0" rtl="0" algn="l">
              <a:lnSpc>
                <a:spcPct val="150000"/>
              </a:lnSpc>
              <a:spcBef>
                <a:spcPts val="0"/>
              </a:spcBef>
              <a:spcAft>
                <a:spcPts val="0"/>
              </a:spcAft>
              <a:buNone/>
            </a:pPr>
            <a:r>
              <a:rPr lang="en-ID" sz="2000">
                <a:solidFill>
                  <a:schemeClr val="dk1"/>
                </a:solidFill>
                <a:latin typeface="Calibri"/>
                <a:ea typeface="Calibri"/>
                <a:cs typeface="Calibri"/>
                <a:sym typeface="Calibri"/>
              </a:rPr>
              <a:t> </a:t>
            </a:r>
            <a:br>
              <a:rPr lang="en-ID"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nvSpPr>
        <p:spPr>
          <a:xfrm>
            <a:off x="808383" y="1906803"/>
            <a:ext cx="9872870" cy="301621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0" i="0" lang="en-ID" sz="2000">
                <a:solidFill>
                  <a:schemeClr val="dk1"/>
                </a:solidFill>
                <a:latin typeface="Arial Narrow"/>
                <a:ea typeface="Arial Narrow"/>
                <a:cs typeface="Arial Narrow"/>
                <a:sym typeface="Arial Narrow"/>
              </a:rPr>
              <a:t>Yang diutamakan dalam basis data adalah pengaturan / pemilahan / pengelompokan / pengorganisasian data yang akan disimpan sesuai dengan fungsi / jenisnya. </a:t>
            </a:r>
            <a:endParaRPr/>
          </a:p>
          <a:p>
            <a:pPr indent="0" lvl="0" marL="0" marR="0" rtl="0" algn="ctr">
              <a:lnSpc>
                <a:spcPct val="150000"/>
              </a:lnSpc>
              <a:spcBef>
                <a:spcPts val="0"/>
              </a:spcBef>
              <a:spcAft>
                <a:spcPts val="0"/>
              </a:spcAft>
              <a:buNone/>
            </a:pPr>
            <a:r>
              <a:t/>
            </a:r>
            <a:endParaRPr sz="2000">
              <a:solidFill>
                <a:schemeClr val="dk1"/>
              </a:solidFill>
              <a:latin typeface="Arial Narrow"/>
              <a:ea typeface="Arial Narrow"/>
              <a:cs typeface="Arial Narrow"/>
              <a:sym typeface="Arial Narrow"/>
            </a:endParaRPr>
          </a:p>
          <a:p>
            <a:pPr indent="0" lvl="0" marL="0" marR="0" rtl="0" algn="ctr">
              <a:lnSpc>
                <a:spcPct val="150000"/>
              </a:lnSpc>
              <a:spcBef>
                <a:spcPts val="0"/>
              </a:spcBef>
              <a:spcAft>
                <a:spcPts val="0"/>
              </a:spcAft>
              <a:buNone/>
            </a:pPr>
            <a:r>
              <a:rPr b="0" i="0" lang="en-ID" sz="2000">
                <a:solidFill>
                  <a:schemeClr val="dk1"/>
                </a:solidFill>
                <a:latin typeface="Arial Narrow"/>
                <a:ea typeface="Arial Narrow"/>
                <a:cs typeface="Arial Narrow"/>
                <a:sym typeface="Arial Narrow"/>
              </a:rPr>
              <a:t>Hal tersebut bisa berbentuk sejumlah </a:t>
            </a:r>
            <a:r>
              <a:rPr b="0" i="1" lang="en-ID" sz="2000">
                <a:solidFill>
                  <a:schemeClr val="dk1"/>
                </a:solidFill>
                <a:latin typeface="Arial Narrow"/>
                <a:ea typeface="Arial Narrow"/>
                <a:cs typeface="Arial Narrow"/>
                <a:sym typeface="Arial Narrow"/>
              </a:rPr>
              <a:t>file / table </a:t>
            </a:r>
            <a:r>
              <a:rPr b="0" i="0" lang="en-ID" sz="2000">
                <a:solidFill>
                  <a:schemeClr val="dk1"/>
                </a:solidFill>
                <a:latin typeface="Arial Narrow"/>
                <a:ea typeface="Arial Narrow"/>
                <a:cs typeface="Arial Narrow"/>
                <a:sym typeface="Arial Narrow"/>
              </a:rPr>
              <a:t>terpisah atau dalam bentuk pendefinisian kolom / </a:t>
            </a:r>
            <a:r>
              <a:rPr b="0" i="1" lang="en-ID" sz="2000">
                <a:solidFill>
                  <a:schemeClr val="dk1"/>
                </a:solidFill>
                <a:latin typeface="Arial Narrow"/>
                <a:ea typeface="Arial Narrow"/>
                <a:cs typeface="Arial Narrow"/>
                <a:sym typeface="Arial Narrow"/>
              </a:rPr>
              <a:t>field </a:t>
            </a:r>
            <a:r>
              <a:rPr b="0" i="0" lang="en-ID" sz="2000">
                <a:solidFill>
                  <a:schemeClr val="dk1"/>
                </a:solidFill>
                <a:latin typeface="Arial Narrow"/>
                <a:ea typeface="Arial Narrow"/>
                <a:cs typeface="Arial Narrow"/>
                <a:sym typeface="Arial Narrow"/>
              </a:rPr>
              <a:t>data dalam setiap </a:t>
            </a:r>
            <a:r>
              <a:rPr b="0" i="1" lang="en-ID" sz="2000">
                <a:solidFill>
                  <a:schemeClr val="dk1"/>
                </a:solidFill>
                <a:latin typeface="Arial Narrow"/>
                <a:ea typeface="Arial Narrow"/>
                <a:cs typeface="Arial Narrow"/>
                <a:sym typeface="Arial Narrow"/>
              </a:rPr>
              <a:t>file / table </a:t>
            </a:r>
            <a:r>
              <a:rPr b="0" i="0" lang="en-ID" sz="2000">
                <a:solidFill>
                  <a:schemeClr val="dk1"/>
                </a:solidFill>
                <a:latin typeface="Arial Narrow"/>
                <a:ea typeface="Arial Narrow"/>
                <a:cs typeface="Arial Narrow"/>
                <a:sym typeface="Arial Narrow"/>
              </a:rPr>
              <a:t>tersebut.</a:t>
            </a:r>
            <a:r>
              <a:rPr lang="en-ID" sz="2000">
                <a:solidFill>
                  <a:schemeClr val="dk1"/>
                </a:solidFill>
                <a:latin typeface="Calibri"/>
                <a:ea typeface="Calibri"/>
                <a:cs typeface="Calibri"/>
                <a:sym typeface="Calibri"/>
              </a:rPr>
              <a:t> </a:t>
            </a:r>
            <a:endParaRPr/>
          </a:p>
          <a:p>
            <a:pPr indent="0" lvl="0" marL="0" marR="0" rtl="0" algn="just">
              <a:spcBef>
                <a:spcPts val="0"/>
              </a:spcBef>
              <a:spcAft>
                <a:spcPts val="0"/>
              </a:spcAft>
              <a:buNone/>
            </a:pPr>
            <a:br>
              <a:rPr lang="en-ID"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3"/>
          <p:cNvSpPr txBox="1"/>
          <p:nvPr>
            <p:ph type="title"/>
          </p:nvPr>
        </p:nvSpPr>
        <p:spPr>
          <a:xfrm>
            <a:off x="589722" y="374319"/>
            <a:ext cx="11164956" cy="72021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00"/>
              </a:buClr>
              <a:buSzPts val="4400"/>
              <a:buFont typeface="Raleway"/>
              <a:buNone/>
            </a:pPr>
            <a:r>
              <a:rPr b="1" i="0" lang="en-ID" sz="4400">
                <a:solidFill>
                  <a:srgbClr val="000000"/>
                </a:solidFill>
                <a:latin typeface="Raleway"/>
                <a:ea typeface="Raleway"/>
                <a:cs typeface="Raleway"/>
                <a:sym typeface="Raleway"/>
              </a:rPr>
              <a:t>Sistem Basis Data</a:t>
            </a:r>
            <a:endParaRPr b="0" i="0" sz="4400">
              <a:solidFill>
                <a:srgbClr val="333333"/>
              </a:solidFill>
              <a:latin typeface="Raleway"/>
              <a:ea typeface="Raleway"/>
              <a:cs typeface="Raleway"/>
              <a:sym typeface="Raleway"/>
            </a:endParaRPr>
          </a:p>
        </p:txBody>
      </p:sp>
      <p:sp>
        <p:nvSpPr>
          <p:cNvPr id="204" name="Google Shape;204;p13"/>
          <p:cNvSpPr txBox="1"/>
          <p:nvPr/>
        </p:nvSpPr>
        <p:spPr>
          <a:xfrm>
            <a:off x="589722" y="2260773"/>
            <a:ext cx="6314661" cy="2806281"/>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0" i="0" lang="en-ID" sz="2000">
                <a:solidFill>
                  <a:srgbClr val="000000"/>
                </a:solidFill>
                <a:latin typeface="Georgia"/>
                <a:ea typeface="Georgia"/>
                <a:cs typeface="Georgia"/>
                <a:sym typeface="Georgia"/>
              </a:rPr>
              <a:t>Sistem basis data merupakan sistem yang terdiri atas </a:t>
            </a:r>
            <a:r>
              <a:rPr b="1" i="0" lang="en-ID" sz="2000">
                <a:solidFill>
                  <a:srgbClr val="000000"/>
                </a:solidFill>
                <a:latin typeface="Georgia"/>
                <a:ea typeface="Georgia"/>
                <a:cs typeface="Georgia"/>
                <a:sym typeface="Georgia"/>
              </a:rPr>
              <a:t>kumpulan file</a:t>
            </a:r>
            <a:r>
              <a:rPr b="0" i="0" lang="en-ID" sz="2000">
                <a:solidFill>
                  <a:srgbClr val="000000"/>
                </a:solidFill>
                <a:latin typeface="Georgia"/>
                <a:ea typeface="Georgia"/>
                <a:cs typeface="Georgia"/>
                <a:sym typeface="Georgia"/>
              </a:rPr>
              <a:t> yang </a:t>
            </a:r>
            <a:r>
              <a:rPr b="1" i="0" lang="en-ID" sz="2000">
                <a:solidFill>
                  <a:srgbClr val="000000"/>
                </a:solidFill>
                <a:latin typeface="Georgia"/>
                <a:ea typeface="Georgia"/>
                <a:cs typeface="Georgia"/>
                <a:sym typeface="Georgia"/>
              </a:rPr>
              <a:t>saling berhubungan </a:t>
            </a:r>
            <a:r>
              <a:rPr b="0" i="0" lang="en-ID" sz="2000">
                <a:solidFill>
                  <a:srgbClr val="000000"/>
                </a:solidFill>
                <a:latin typeface="Georgia"/>
                <a:ea typeface="Georgia"/>
                <a:cs typeface="Georgia"/>
                <a:sym typeface="Georgia"/>
              </a:rPr>
              <a:t>dan memungkinkan beberapa pemakai atau program lain untuk </a:t>
            </a:r>
            <a:r>
              <a:rPr b="1" i="0" lang="en-ID" sz="2000">
                <a:solidFill>
                  <a:srgbClr val="000000"/>
                </a:solidFill>
                <a:latin typeface="Georgia"/>
                <a:ea typeface="Georgia"/>
                <a:cs typeface="Georgia"/>
                <a:sym typeface="Georgia"/>
              </a:rPr>
              <a:t>mengakses dan memanipulasi</a:t>
            </a:r>
            <a:r>
              <a:rPr b="0" i="0" lang="en-ID" sz="2000">
                <a:solidFill>
                  <a:srgbClr val="000000"/>
                </a:solidFill>
                <a:latin typeface="Georgia"/>
                <a:ea typeface="Georgia"/>
                <a:cs typeface="Georgia"/>
                <a:sym typeface="Georgia"/>
              </a:rPr>
              <a:t> file-file tersebut. </a:t>
            </a:r>
            <a:endParaRPr/>
          </a:p>
          <a:p>
            <a:pPr indent="0" lvl="0" marL="0" marR="0" rtl="0" algn="ctr">
              <a:lnSpc>
                <a:spcPct val="150000"/>
              </a:lnSpc>
              <a:spcBef>
                <a:spcPts val="0"/>
              </a:spcBef>
              <a:spcAft>
                <a:spcPts val="0"/>
              </a:spcAft>
              <a:buNone/>
            </a:pPr>
            <a:r>
              <a:t/>
            </a:r>
            <a:endParaRPr sz="2000">
              <a:solidFill>
                <a:srgbClr val="000000"/>
              </a:solidFill>
              <a:latin typeface="Georgia"/>
              <a:ea typeface="Georgia"/>
              <a:cs typeface="Georgia"/>
              <a:sym typeface="Georgia"/>
            </a:endParaRPr>
          </a:p>
        </p:txBody>
      </p:sp>
      <p:pic>
        <p:nvPicPr>
          <p:cNvPr id="205" name="Google Shape;205;p13"/>
          <p:cNvPicPr preferRelativeResize="0"/>
          <p:nvPr/>
        </p:nvPicPr>
        <p:blipFill rotWithShape="1">
          <a:blip r:embed="rId3">
            <a:alphaModFix/>
          </a:blip>
          <a:srcRect b="0" l="0" r="0" t="0"/>
          <a:stretch/>
        </p:blipFill>
        <p:spPr>
          <a:xfrm>
            <a:off x="7409142" y="1502820"/>
            <a:ext cx="3815450" cy="432218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4"/>
          <p:cNvSpPr txBox="1"/>
          <p:nvPr>
            <p:ph type="title"/>
          </p:nvPr>
        </p:nvSpPr>
        <p:spPr>
          <a:xfrm>
            <a:off x="589722" y="374319"/>
            <a:ext cx="11164956" cy="72021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00"/>
              </a:buClr>
              <a:buSzPts val="4400"/>
              <a:buFont typeface="Raleway"/>
              <a:buNone/>
            </a:pPr>
            <a:r>
              <a:rPr b="1" i="0" lang="en-ID" sz="4400">
                <a:solidFill>
                  <a:srgbClr val="000000"/>
                </a:solidFill>
                <a:latin typeface="Raleway"/>
                <a:ea typeface="Raleway"/>
                <a:cs typeface="Raleway"/>
                <a:sym typeface="Raleway"/>
              </a:rPr>
              <a:t>Sistem Basis Data</a:t>
            </a:r>
            <a:endParaRPr b="0" i="0" sz="4400">
              <a:solidFill>
                <a:srgbClr val="333333"/>
              </a:solidFill>
              <a:latin typeface="Raleway"/>
              <a:ea typeface="Raleway"/>
              <a:cs typeface="Raleway"/>
              <a:sym typeface="Raleway"/>
            </a:endParaRPr>
          </a:p>
        </p:txBody>
      </p:sp>
      <p:pic>
        <p:nvPicPr>
          <p:cNvPr id="211" name="Google Shape;211;p14"/>
          <p:cNvPicPr preferRelativeResize="0"/>
          <p:nvPr/>
        </p:nvPicPr>
        <p:blipFill rotWithShape="1">
          <a:blip r:embed="rId3">
            <a:alphaModFix/>
          </a:blip>
          <a:srcRect b="0" l="0" r="0" t="0"/>
          <a:stretch/>
        </p:blipFill>
        <p:spPr>
          <a:xfrm>
            <a:off x="7462151" y="1502820"/>
            <a:ext cx="3815450" cy="4322189"/>
          </a:xfrm>
          <a:prstGeom prst="rect">
            <a:avLst/>
          </a:prstGeom>
          <a:noFill/>
          <a:ln>
            <a:noFill/>
          </a:ln>
        </p:spPr>
      </p:pic>
      <p:sp>
        <p:nvSpPr>
          <p:cNvPr id="212" name="Google Shape;212;p14"/>
          <p:cNvSpPr txBox="1"/>
          <p:nvPr/>
        </p:nvSpPr>
        <p:spPr>
          <a:xfrm>
            <a:off x="372749" y="1986690"/>
            <a:ext cx="6754091" cy="24622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D" sz="1800">
                <a:solidFill>
                  <a:schemeClr val="dk1"/>
                </a:solidFill>
                <a:latin typeface="Calibri"/>
                <a:ea typeface="Calibri"/>
                <a:cs typeface="Calibri"/>
                <a:sym typeface="Calibri"/>
              </a:rPr>
              <a:t>Komponen – komponen utama dari sebuah sistem basis data adalah sebagai berikut :</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ID" sz="1600">
                <a:solidFill>
                  <a:schemeClr val="dk1"/>
                </a:solidFill>
                <a:latin typeface="Calibri"/>
                <a:ea typeface="Calibri"/>
                <a:cs typeface="Calibri"/>
                <a:sym typeface="Calibri"/>
              </a:rPr>
              <a:t>1). Perangkat keras (hardware)</a:t>
            </a:r>
            <a:endParaRPr/>
          </a:p>
          <a:p>
            <a:pPr indent="0" lvl="0" marL="0" marR="0" rtl="0" algn="l">
              <a:spcBef>
                <a:spcPts val="0"/>
              </a:spcBef>
              <a:spcAft>
                <a:spcPts val="0"/>
              </a:spcAft>
              <a:buNone/>
            </a:pPr>
            <a:r>
              <a:rPr b="1" lang="en-ID" sz="1600">
                <a:solidFill>
                  <a:schemeClr val="dk1"/>
                </a:solidFill>
                <a:latin typeface="Calibri"/>
                <a:ea typeface="Calibri"/>
                <a:cs typeface="Calibri"/>
                <a:sym typeface="Calibri"/>
              </a:rPr>
              <a:t>2). Sistem operasi (operating system)</a:t>
            </a:r>
            <a:endParaRPr/>
          </a:p>
          <a:p>
            <a:pPr indent="0" lvl="0" marL="0" marR="0" rtl="0" algn="l">
              <a:spcBef>
                <a:spcPts val="0"/>
              </a:spcBef>
              <a:spcAft>
                <a:spcPts val="0"/>
              </a:spcAft>
              <a:buNone/>
            </a:pPr>
            <a:r>
              <a:rPr b="1" lang="en-ID" sz="1600">
                <a:solidFill>
                  <a:schemeClr val="dk1"/>
                </a:solidFill>
                <a:latin typeface="Calibri"/>
                <a:ea typeface="Calibri"/>
                <a:cs typeface="Calibri"/>
                <a:sym typeface="Calibri"/>
              </a:rPr>
              <a:t>3). Basis data (database)</a:t>
            </a:r>
            <a:endParaRPr/>
          </a:p>
          <a:p>
            <a:pPr indent="0" lvl="0" marL="0" marR="0" rtl="0" algn="l">
              <a:spcBef>
                <a:spcPts val="0"/>
              </a:spcBef>
              <a:spcAft>
                <a:spcPts val="0"/>
              </a:spcAft>
              <a:buNone/>
            </a:pPr>
            <a:r>
              <a:rPr b="1" lang="en-ID" sz="1600">
                <a:solidFill>
                  <a:schemeClr val="dk1"/>
                </a:solidFill>
                <a:latin typeface="Calibri"/>
                <a:ea typeface="Calibri"/>
                <a:cs typeface="Calibri"/>
                <a:sym typeface="Calibri"/>
              </a:rPr>
              <a:t>4). Sistem (aplikasi/perangkat lunak) pengelola basis data (DBMS)</a:t>
            </a:r>
            <a:endParaRPr/>
          </a:p>
          <a:p>
            <a:pPr indent="0" lvl="0" marL="0" marR="0" rtl="0" algn="l">
              <a:spcBef>
                <a:spcPts val="0"/>
              </a:spcBef>
              <a:spcAft>
                <a:spcPts val="0"/>
              </a:spcAft>
              <a:buNone/>
            </a:pPr>
            <a:r>
              <a:rPr b="1" lang="en-ID" sz="1600">
                <a:solidFill>
                  <a:schemeClr val="dk1"/>
                </a:solidFill>
                <a:latin typeface="Calibri"/>
                <a:ea typeface="Calibri"/>
                <a:cs typeface="Calibri"/>
                <a:sym typeface="Calibri"/>
              </a:rPr>
              <a:t>5). Pemakai (user)</a:t>
            </a:r>
            <a:endParaRPr/>
          </a:p>
          <a:p>
            <a:pPr indent="0" lvl="0" marL="0" marR="0" rtl="0" algn="l">
              <a:spcBef>
                <a:spcPts val="0"/>
              </a:spcBef>
              <a:spcAft>
                <a:spcPts val="0"/>
              </a:spcAft>
              <a:buNone/>
            </a:pPr>
            <a:r>
              <a:rPr b="1" lang="en-ID" sz="1600">
                <a:solidFill>
                  <a:schemeClr val="dk1"/>
                </a:solidFill>
                <a:latin typeface="Calibri"/>
                <a:ea typeface="Calibri"/>
                <a:cs typeface="Calibri"/>
                <a:sym typeface="Calibri"/>
              </a:rPr>
              <a:t>6). Aplikasi (perangkat lunak) lain (bersifat optional)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5"/>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4400"/>
              <a:buFont typeface="Raleway"/>
              <a:buNone/>
            </a:pPr>
            <a:r>
              <a:rPr b="1" i="0" lang="en-ID" sz="4400">
                <a:solidFill>
                  <a:srgbClr val="000000"/>
                </a:solidFill>
                <a:latin typeface="Raleway"/>
                <a:ea typeface="Raleway"/>
                <a:cs typeface="Raleway"/>
                <a:sym typeface="Raleway"/>
              </a:rPr>
              <a:t>Sistem Basis Data</a:t>
            </a:r>
            <a:endParaRPr i="0" sz="4400">
              <a:solidFill>
                <a:srgbClr val="333333"/>
              </a:solidFill>
              <a:latin typeface="Raleway"/>
              <a:ea typeface="Raleway"/>
              <a:cs typeface="Raleway"/>
              <a:sym typeface="Raleway"/>
            </a:endParaRPr>
          </a:p>
        </p:txBody>
      </p:sp>
      <p:sp>
        <p:nvSpPr>
          <p:cNvPr id="218" name="Google Shape;218;p15"/>
          <p:cNvSpPr txBox="1"/>
          <p:nvPr/>
        </p:nvSpPr>
        <p:spPr>
          <a:xfrm>
            <a:off x="571650" y="1844235"/>
            <a:ext cx="6096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2000">
                <a:solidFill>
                  <a:srgbClr val="000000"/>
                </a:solidFill>
                <a:latin typeface="Arial Narrow"/>
                <a:ea typeface="Arial Narrow"/>
                <a:cs typeface="Arial Narrow"/>
                <a:sym typeface="Arial Narrow"/>
              </a:rPr>
              <a:t>Perangkat Keras</a:t>
            </a:r>
            <a:r>
              <a:rPr b="1" lang="en-ID" sz="2000">
                <a:solidFill>
                  <a:schemeClr val="dk1"/>
                </a:solidFill>
                <a:latin typeface="Calibri"/>
                <a:ea typeface="Calibri"/>
                <a:cs typeface="Calibri"/>
                <a:sym typeface="Calibri"/>
              </a:rPr>
              <a:t> </a:t>
            </a:r>
            <a:endParaRPr/>
          </a:p>
        </p:txBody>
      </p:sp>
      <p:sp>
        <p:nvSpPr>
          <p:cNvPr id="219" name="Google Shape;219;p15"/>
          <p:cNvSpPr txBox="1"/>
          <p:nvPr/>
        </p:nvSpPr>
        <p:spPr>
          <a:xfrm>
            <a:off x="1142999" y="2495127"/>
            <a:ext cx="10058401" cy="211852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ID" sz="1800">
                <a:solidFill>
                  <a:schemeClr val="dk1"/>
                </a:solidFill>
                <a:latin typeface="Calibri"/>
                <a:ea typeface="Calibri"/>
                <a:cs typeface="Calibri"/>
                <a:sym typeface="Calibri"/>
              </a:rPr>
              <a:t>Perangkat keras yang biasanya terdapat dalam sistem basis data adalah :</a:t>
            </a:r>
            <a:endParaRPr/>
          </a:p>
          <a:p>
            <a:pPr indent="0" lvl="0" marL="0" marR="0" rtl="0" algn="l">
              <a:lnSpc>
                <a:spcPct val="150000"/>
              </a:lnSpc>
              <a:spcBef>
                <a:spcPts val="0"/>
              </a:spcBef>
              <a:spcAft>
                <a:spcPts val="0"/>
              </a:spcAft>
              <a:buNone/>
            </a:pPr>
            <a:r>
              <a:rPr b="1" lang="en-ID" sz="1800">
                <a:solidFill>
                  <a:schemeClr val="dk1"/>
                </a:solidFill>
                <a:latin typeface="Calibri"/>
                <a:ea typeface="Calibri"/>
                <a:cs typeface="Calibri"/>
                <a:sym typeface="Calibri"/>
              </a:rPr>
              <a:t>1). Komputer (satu untuk yang stand-alone atau lebih dari satu untuk system jaringan).</a:t>
            </a:r>
            <a:endParaRPr/>
          </a:p>
          <a:p>
            <a:pPr indent="0" lvl="0" marL="0" marR="0" rtl="0" algn="l">
              <a:lnSpc>
                <a:spcPct val="150000"/>
              </a:lnSpc>
              <a:spcBef>
                <a:spcPts val="0"/>
              </a:spcBef>
              <a:spcAft>
                <a:spcPts val="0"/>
              </a:spcAft>
              <a:buNone/>
            </a:pPr>
            <a:r>
              <a:rPr b="1" lang="en-ID" sz="1800">
                <a:solidFill>
                  <a:schemeClr val="dk1"/>
                </a:solidFill>
                <a:latin typeface="Calibri"/>
                <a:ea typeface="Calibri"/>
                <a:cs typeface="Calibri"/>
                <a:sym typeface="Calibri"/>
              </a:rPr>
              <a:t>1). Memori sekunder yang on-line (harddisk).</a:t>
            </a:r>
            <a:endParaRPr/>
          </a:p>
          <a:p>
            <a:pPr indent="0" lvl="0" marL="0" marR="0" rtl="0" algn="l">
              <a:lnSpc>
                <a:spcPct val="150000"/>
              </a:lnSpc>
              <a:spcBef>
                <a:spcPts val="0"/>
              </a:spcBef>
              <a:spcAft>
                <a:spcPts val="0"/>
              </a:spcAft>
              <a:buNone/>
            </a:pPr>
            <a:r>
              <a:rPr b="1" lang="en-ID" sz="1800">
                <a:solidFill>
                  <a:schemeClr val="dk1"/>
                </a:solidFill>
                <a:latin typeface="Calibri"/>
                <a:ea typeface="Calibri"/>
                <a:cs typeface="Calibri"/>
                <a:sym typeface="Calibri"/>
              </a:rPr>
              <a:t>3). Memori sekunder yang off-line (tape) untuk keperluan backup data.</a:t>
            </a:r>
            <a:endParaRPr/>
          </a:p>
          <a:p>
            <a:pPr indent="0" lvl="0" marL="0" marR="0" rtl="0" algn="l">
              <a:lnSpc>
                <a:spcPct val="150000"/>
              </a:lnSpc>
              <a:spcBef>
                <a:spcPts val="0"/>
              </a:spcBef>
              <a:spcAft>
                <a:spcPts val="0"/>
              </a:spcAft>
              <a:buNone/>
            </a:pPr>
            <a:r>
              <a:rPr b="1" lang="en-ID" sz="1800">
                <a:solidFill>
                  <a:schemeClr val="dk1"/>
                </a:solidFill>
                <a:latin typeface="Calibri"/>
                <a:ea typeface="Calibri"/>
                <a:cs typeface="Calibri"/>
                <a:sym typeface="Calibri"/>
              </a:rPr>
              <a:t>4). Media / perangkat komunikasi (untuk sistem jaringan)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6"/>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4400"/>
              <a:buFont typeface="Raleway"/>
              <a:buNone/>
            </a:pPr>
            <a:r>
              <a:rPr b="1" i="0" lang="en-ID" sz="4400">
                <a:solidFill>
                  <a:srgbClr val="000000"/>
                </a:solidFill>
                <a:latin typeface="Raleway"/>
                <a:ea typeface="Raleway"/>
                <a:cs typeface="Raleway"/>
                <a:sym typeface="Raleway"/>
              </a:rPr>
              <a:t>Sistem Basis Data</a:t>
            </a:r>
            <a:endParaRPr i="0" sz="4400">
              <a:solidFill>
                <a:srgbClr val="333333"/>
              </a:solidFill>
              <a:latin typeface="Raleway"/>
              <a:ea typeface="Raleway"/>
              <a:cs typeface="Raleway"/>
              <a:sym typeface="Raleway"/>
            </a:endParaRPr>
          </a:p>
        </p:txBody>
      </p:sp>
      <p:sp>
        <p:nvSpPr>
          <p:cNvPr id="225" name="Google Shape;225;p16"/>
          <p:cNvSpPr txBox="1"/>
          <p:nvPr/>
        </p:nvSpPr>
        <p:spPr>
          <a:xfrm>
            <a:off x="394854" y="1779905"/>
            <a:ext cx="6096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2000">
                <a:solidFill>
                  <a:srgbClr val="000000"/>
                </a:solidFill>
                <a:latin typeface="Arial Narrow"/>
                <a:ea typeface="Arial Narrow"/>
                <a:cs typeface="Arial Narrow"/>
                <a:sym typeface="Arial Narrow"/>
              </a:rPr>
              <a:t>Sistem Operasi</a:t>
            </a:r>
            <a:r>
              <a:rPr b="1" lang="en-ID" sz="2000">
                <a:solidFill>
                  <a:schemeClr val="dk1"/>
                </a:solidFill>
                <a:latin typeface="Calibri"/>
                <a:ea typeface="Calibri"/>
                <a:cs typeface="Calibri"/>
                <a:sym typeface="Calibri"/>
              </a:rPr>
              <a:t> </a:t>
            </a:r>
            <a:endParaRPr/>
          </a:p>
        </p:txBody>
      </p:sp>
      <p:sp>
        <p:nvSpPr>
          <p:cNvPr id="226" name="Google Shape;226;p16"/>
          <p:cNvSpPr txBox="1"/>
          <p:nvPr/>
        </p:nvSpPr>
        <p:spPr>
          <a:xfrm>
            <a:off x="789709" y="2553907"/>
            <a:ext cx="10764982" cy="17030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ID" sz="1800">
                <a:solidFill>
                  <a:schemeClr val="dk1"/>
                </a:solidFill>
                <a:latin typeface="Calibri"/>
                <a:ea typeface="Calibri"/>
                <a:cs typeface="Calibri"/>
                <a:sym typeface="Calibri"/>
              </a:rPr>
              <a:t>Merupakan program yang mengaktifkan / memfungsikan sistem komputer, mengendalikan seluruh sumber daya dalam komputer dan melakukan operasi – operasi dasar dalam komputer (operasi input/output), pengelolaan file, dan lain sebagainya. Program pengelola basis data (DBMS) akan aktif (running) jika sistem operasi yang dikehendakinya (sesuai) telah aktif</a:t>
            </a:r>
            <a:endParaRPr b="1"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7"/>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4400"/>
              <a:buFont typeface="Raleway"/>
              <a:buNone/>
            </a:pPr>
            <a:r>
              <a:rPr b="1" i="0" lang="en-ID" sz="4400">
                <a:solidFill>
                  <a:srgbClr val="000000"/>
                </a:solidFill>
                <a:latin typeface="Raleway"/>
                <a:ea typeface="Raleway"/>
                <a:cs typeface="Raleway"/>
                <a:sym typeface="Raleway"/>
              </a:rPr>
              <a:t>Sistem Basis Data</a:t>
            </a:r>
            <a:endParaRPr i="0" sz="4400">
              <a:solidFill>
                <a:srgbClr val="333333"/>
              </a:solidFill>
              <a:latin typeface="Raleway"/>
              <a:ea typeface="Raleway"/>
              <a:cs typeface="Raleway"/>
              <a:sym typeface="Raleway"/>
            </a:endParaRPr>
          </a:p>
        </p:txBody>
      </p:sp>
      <p:sp>
        <p:nvSpPr>
          <p:cNvPr id="232" name="Google Shape;232;p17"/>
          <p:cNvSpPr txBox="1"/>
          <p:nvPr/>
        </p:nvSpPr>
        <p:spPr>
          <a:xfrm>
            <a:off x="536714" y="2078399"/>
            <a:ext cx="6096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2000">
                <a:solidFill>
                  <a:srgbClr val="000000"/>
                </a:solidFill>
                <a:latin typeface="Arial Narrow"/>
                <a:ea typeface="Arial Narrow"/>
                <a:cs typeface="Arial Narrow"/>
                <a:sym typeface="Arial Narrow"/>
              </a:rPr>
              <a:t>Basis Data</a:t>
            </a:r>
            <a:r>
              <a:rPr b="1" lang="en-ID" sz="2000">
                <a:solidFill>
                  <a:schemeClr val="dk1"/>
                </a:solidFill>
                <a:latin typeface="Calibri"/>
                <a:ea typeface="Calibri"/>
                <a:cs typeface="Calibri"/>
                <a:sym typeface="Calibri"/>
              </a:rPr>
              <a:t> </a:t>
            </a:r>
            <a:endParaRPr/>
          </a:p>
        </p:txBody>
      </p:sp>
      <p:sp>
        <p:nvSpPr>
          <p:cNvPr id="233" name="Google Shape;233;p17"/>
          <p:cNvSpPr txBox="1"/>
          <p:nvPr/>
        </p:nvSpPr>
        <p:spPr>
          <a:xfrm>
            <a:off x="1106557" y="2584049"/>
            <a:ext cx="10584873" cy="17030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D" sz="1800">
                <a:solidFill>
                  <a:srgbClr val="000000"/>
                </a:solidFill>
                <a:latin typeface="Arial Narrow"/>
                <a:ea typeface="Arial Narrow"/>
                <a:cs typeface="Arial Narrow"/>
                <a:sym typeface="Arial Narrow"/>
              </a:rPr>
              <a:t>Sebuah sistem basis data dapat memiliki beberapa basis data. Setiap basis data dapat memiliki sejumlah </a:t>
            </a:r>
            <a:r>
              <a:rPr b="1" i="0" lang="en-ID" sz="1800">
                <a:solidFill>
                  <a:srgbClr val="000000"/>
                </a:solidFill>
                <a:latin typeface="Arial Narrow"/>
                <a:ea typeface="Arial Narrow"/>
                <a:cs typeface="Arial Narrow"/>
                <a:sym typeface="Arial Narrow"/>
              </a:rPr>
              <a:t>objek basis data </a:t>
            </a:r>
            <a:r>
              <a:rPr b="0" i="0" lang="en-ID" sz="1800">
                <a:solidFill>
                  <a:srgbClr val="000000"/>
                </a:solidFill>
                <a:latin typeface="Arial Narrow"/>
                <a:ea typeface="Arial Narrow"/>
                <a:cs typeface="Arial Narrow"/>
                <a:sym typeface="Arial Narrow"/>
              </a:rPr>
              <a:t>(seperti </a:t>
            </a:r>
            <a:r>
              <a:rPr b="0" i="1" lang="en-ID" sz="1800">
                <a:solidFill>
                  <a:srgbClr val="000000"/>
                </a:solidFill>
                <a:latin typeface="Arial Narrow"/>
                <a:ea typeface="Arial Narrow"/>
                <a:cs typeface="Arial Narrow"/>
                <a:sym typeface="Arial Narrow"/>
              </a:rPr>
              <a:t>file/table, store procedure, indeks</a:t>
            </a:r>
            <a:r>
              <a:rPr b="0" i="0" lang="en-ID" sz="1800">
                <a:solidFill>
                  <a:srgbClr val="000000"/>
                </a:solidFill>
                <a:latin typeface="Arial Narrow"/>
                <a:ea typeface="Arial Narrow"/>
                <a:cs typeface="Arial Narrow"/>
                <a:sym typeface="Arial Narrow"/>
              </a:rPr>
              <a:t>, dan lainya). Disamping berisi / menyimpan data, setiap basis data juga </a:t>
            </a:r>
            <a:r>
              <a:rPr b="1" i="0" lang="en-ID" sz="1800">
                <a:solidFill>
                  <a:srgbClr val="000000"/>
                </a:solidFill>
                <a:latin typeface="Arial Narrow"/>
                <a:ea typeface="Arial Narrow"/>
                <a:cs typeface="Arial Narrow"/>
                <a:sym typeface="Arial Narrow"/>
              </a:rPr>
              <a:t>mengandung / menyimpan definisi struktur </a:t>
            </a:r>
            <a:r>
              <a:rPr b="0" i="0" lang="en-ID" sz="1800">
                <a:solidFill>
                  <a:srgbClr val="000000"/>
                </a:solidFill>
                <a:latin typeface="Arial Narrow"/>
                <a:ea typeface="Arial Narrow"/>
                <a:cs typeface="Arial Narrow"/>
                <a:sym typeface="Arial Narrow"/>
              </a:rPr>
              <a:t>(baik untuk basis data maupun objekobjeknya secara detail)</a:t>
            </a:r>
            <a:r>
              <a:rPr lang="en-ID" sz="1800">
                <a:solidFill>
                  <a:schemeClr val="dk1"/>
                </a:solidFill>
                <a:latin typeface="Calibri"/>
                <a:ea typeface="Calibri"/>
                <a:cs typeface="Calibri"/>
                <a:sym typeface="Calibri"/>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8"/>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4400"/>
              <a:buFont typeface="Raleway"/>
              <a:buNone/>
            </a:pPr>
            <a:r>
              <a:rPr b="1" i="0" lang="en-ID" sz="4400">
                <a:solidFill>
                  <a:srgbClr val="000000"/>
                </a:solidFill>
                <a:latin typeface="Raleway"/>
                <a:ea typeface="Raleway"/>
                <a:cs typeface="Raleway"/>
                <a:sym typeface="Raleway"/>
              </a:rPr>
              <a:t>Sistem Basis Data</a:t>
            </a:r>
            <a:endParaRPr i="0" sz="4400">
              <a:solidFill>
                <a:srgbClr val="333333"/>
              </a:solidFill>
              <a:latin typeface="Raleway"/>
              <a:ea typeface="Raleway"/>
              <a:cs typeface="Raleway"/>
              <a:sym typeface="Raleway"/>
            </a:endParaRPr>
          </a:p>
        </p:txBody>
      </p:sp>
      <p:sp>
        <p:nvSpPr>
          <p:cNvPr id="239" name="Google Shape;239;p18"/>
          <p:cNvSpPr txBox="1"/>
          <p:nvPr/>
        </p:nvSpPr>
        <p:spPr>
          <a:xfrm>
            <a:off x="404192" y="1908339"/>
            <a:ext cx="6096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2000">
                <a:solidFill>
                  <a:srgbClr val="000000"/>
                </a:solidFill>
                <a:latin typeface="Arial Narrow"/>
                <a:ea typeface="Arial Narrow"/>
                <a:cs typeface="Arial Narrow"/>
                <a:sym typeface="Arial Narrow"/>
              </a:rPr>
              <a:t>Sistem pengelola basis data (DBMS)</a:t>
            </a:r>
            <a:r>
              <a:rPr b="1" lang="en-ID" sz="2000">
                <a:solidFill>
                  <a:schemeClr val="dk1"/>
                </a:solidFill>
                <a:latin typeface="Calibri"/>
                <a:ea typeface="Calibri"/>
                <a:cs typeface="Calibri"/>
                <a:sym typeface="Calibri"/>
              </a:rPr>
              <a:t> </a:t>
            </a:r>
            <a:endParaRPr/>
          </a:p>
        </p:txBody>
      </p:sp>
      <p:sp>
        <p:nvSpPr>
          <p:cNvPr id="240" name="Google Shape;240;p18"/>
          <p:cNvSpPr txBox="1"/>
          <p:nvPr/>
        </p:nvSpPr>
        <p:spPr>
          <a:xfrm>
            <a:off x="1371600" y="2608837"/>
            <a:ext cx="1047403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D" sz="1800">
                <a:solidFill>
                  <a:srgbClr val="000000"/>
                </a:solidFill>
                <a:latin typeface="Arial Narrow"/>
                <a:ea typeface="Arial Narrow"/>
                <a:cs typeface="Arial Narrow"/>
                <a:sym typeface="Arial Narrow"/>
              </a:rPr>
              <a:t>Pengelolaan basis data secara fisik tidak ditangani langsung oleh user (pemakai), tetapi ditangani oleh sebuah perangkat lunak (sistem) yang khusus / spesifik.</a:t>
            </a:r>
            <a:endParaRPr/>
          </a:p>
          <a:p>
            <a:pPr indent="0" lvl="0" marL="0" marR="0" rtl="0" algn="l">
              <a:spcBef>
                <a:spcPts val="0"/>
              </a:spcBef>
              <a:spcAft>
                <a:spcPts val="0"/>
              </a:spcAft>
              <a:buNone/>
            </a:pPr>
            <a:br>
              <a:rPr b="0" i="0" lang="en-ID" sz="1800">
                <a:solidFill>
                  <a:srgbClr val="000000"/>
                </a:solidFill>
                <a:latin typeface="Arial Narrow"/>
                <a:ea typeface="Arial Narrow"/>
                <a:cs typeface="Arial Narrow"/>
                <a:sym typeface="Arial Narrow"/>
              </a:rPr>
            </a:br>
            <a:r>
              <a:rPr b="0" i="0" lang="en-ID" sz="1800">
                <a:solidFill>
                  <a:srgbClr val="000000"/>
                </a:solidFill>
                <a:latin typeface="Arial Narrow"/>
                <a:ea typeface="Arial Narrow"/>
                <a:cs typeface="Arial Narrow"/>
                <a:sym typeface="Arial Narrow"/>
              </a:rPr>
              <a:t>Perangkat inilah disebut DBMS, yang akan menentukan bagaimana data diorganisasi, disimpan, diubah, dan diambil kembali. Perangkat tersebut juga menerapkan mekanisme pengamanan data (</a:t>
            </a:r>
            <a:r>
              <a:rPr b="0" i="1" lang="en-ID" sz="1800">
                <a:solidFill>
                  <a:srgbClr val="000000"/>
                </a:solidFill>
                <a:latin typeface="Arial Narrow"/>
                <a:ea typeface="Arial Narrow"/>
                <a:cs typeface="Arial Narrow"/>
                <a:sym typeface="Arial Narrow"/>
              </a:rPr>
              <a:t>security</a:t>
            </a:r>
            <a:r>
              <a:rPr b="0" i="0" lang="en-ID" sz="1800">
                <a:solidFill>
                  <a:srgbClr val="000000"/>
                </a:solidFill>
                <a:latin typeface="Arial Narrow"/>
                <a:ea typeface="Arial Narrow"/>
                <a:cs typeface="Arial Narrow"/>
                <a:sym typeface="Arial Narrow"/>
              </a:rPr>
              <a:t>), pemakaian data secara bersama (</a:t>
            </a:r>
            <a:r>
              <a:rPr b="0" i="1" lang="en-ID" sz="1800">
                <a:solidFill>
                  <a:srgbClr val="000000"/>
                </a:solidFill>
                <a:latin typeface="Arial Narrow"/>
                <a:ea typeface="Arial Narrow"/>
                <a:cs typeface="Arial Narrow"/>
                <a:sym typeface="Arial Narrow"/>
              </a:rPr>
              <a:t>sharing </a:t>
            </a:r>
            <a:r>
              <a:rPr b="0" i="0" lang="en-ID" sz="1800">
                <a:solidFill>
                  <a:srgbClr val="000000"/>
                </a:solidFill>
                <a:latin typeface="Arial Narrow"/>
                <a:ea typeface="Arial Narrow"/>
                <a:cs typeface="Arial Narrow"/>
                <a:sym typeface="Arial Narrow"/>
              </a:rPr>
              <a:t>data), pemaksaan keakuratan / konsistensi data, dan sebagainya.</a:t>
            </a:r>
            <a:r>
              <a:rPr lang="en-ID" sz="1800">
                <a:solidFill>
                  <a:schemeClr val="dk1"/>
                </a:solidFill>
                <a:latin typeface="Calibri"/>
                <a:ea typeface="Calibri"/>
                <a:cs typeface="Calibri"/>
                <a:sym typeface="Calibri"/>
              </a:rPr>
              <a:t> </a:t>
            </a:r>
            <a:br>
              <a:rPr lang="en-ID"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9"/>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4400"/>
              <a:buFont typeface="Raleway"/>
              <a:buNone/>
            </a:pPr>
            <a:r>
              <a:rPr b="1" i="0" lang="en-ID" sz="4400">
                <a:solidFill>
                  <a:srgbClr val="000000"/>
                </a:solidFill>
                <a:latin typeface="Raleway"/>
                <a:ea typeface="Raleway"/>
                <a:cs typeface="Raleway"/>
                <a:sym typeface="Raleway"/>
              </a:rPr>
              <a:t>Sistem Basis Data</a:t>
            </a:r>
            <a:endParaRPr i="0" sz="4400">
              <a:solidFill>
                <a:srgbClr val="333333"/>
              </a:solidFill>
              <a:latin typeface="Raleway"/>
              <a:ea typeface="Raleway"/>
              <a:cs typeface="Raleway"/>
              <a:sym typeface="Raleway"/>
            </a:endParaRPr>
          </a:p>
        </p:txBody>
      </p:sp>
      <p:sp>
        <p:nvSpPr>
          <p:cNvPr id="246" name="Google Shape;246;p19"/>
          <p:cNvSpPr txBox="1"/>
          <p:nvPr/>
        </p:nvSpPr>
        <p:spPr>
          <a:xfrm>
            <a:off x="498763" y="1699598"/>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1800">
                <a:solidFill>
                  <a:srgbClr val="000000"/>
                </a:solidFill>
                <a:latin typeface="Arial Narrow"/>
                <a:ea typeface="Arial Narrow"/>
                <a:cs typeface="Arial Narrow"/>
                <a:sym typeface="Arial Narrow"/>
              </a:rPr>
              <a:t>Pemakai (</a:t>
            </a:r>
            <a:r>
              <a:rPr b="1" i="1" lang="en-ID" sz="1800">
                <a:solidFill>
                  <a:srgbClr val="000000"/>
                </a:solidFill>
                <a:latin typeface="Arial Narrow"/>
                <a:ea typeface="Arial Narrow"/>
                <a:cs typeface="Arial Narrow"/>
                <a:sym typeface="Arial Narrow"/>
              </a:rPr>
              <a:t>Users</a:t>
            </a:r>
            <a:r>
              <a:rPr b="1" i="0" lang="en-ID" sz="1800">
                <a:solidFill>
                  <a:srgbClr val="000000"/>
                </a:solidFill>
                <a:latin typeface="Arial Narrow"/>
                <a:ea typeface="Arial Narrow"/>
                <a:cs typeface="Arial Narrow"/>
                <a:sym typeface="Arial Narrow"/>
              </a:rPr>
              <a:t>)</a:t>
            </a:r>
            <a:r>
              <a:rPr b="1" lang="en-ID" sz="1800">
                <a:solidFill>
                  <a:schemeClr val="dk1"/>
                </a:solidFill>
                <a:latin typeface="Calibri"/>
                <a:ea typeface="Calibri"/>
                <a:cs typeface="Calibri"/>
                <a:sym typeface="Calibri"/>
              </a:rPr>
              <a:t> </a:t>
            </a:r>
            <a:endParaRPr/>
          </a:p>
        </p:txBody>
      </p:sp>
      <p:sp>
        <p:nvSpPr>
          <p:cNvPr id="247" name="Google Shape;247;p19"/>
          <p:cNvSpPr txBox="1"/>
          <p:nvPr/>
        </p:nvSpPr>
        <p:spPr>
          <a:xfrm>
            <a:off x="821636" y="2161986"/>
            <a:ext cx="11052312" cy="253402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D" sz="1800">
                <a:solidFill>
                  <a:srgbClr val="000000"/>
                </a:solidFill>
                <a:latin typeface="Arial Narrow"/>
                <a:ea typeface="Arial Narrow"/>
                <a:cs typeface="Arial Narrow"/>
                <a:sym typeface="Arial Narrow"/>
              </a:rPr>
              <a:t>Untuk sebuah sistem basis data yang </a:t>
            </a:r>
            <a:r>
              <a:rPr b="1" i="1" lang="en-ID" sz="1800">
                <a:solidFill>
                  <a:srgbClr val="000000"/>
                </a:solidFill>
                <a:latin typeface="Arial Narrow"/>
                <a:ea typeface="Arial Narrow"/>
                <a:cs typeface="Arial Narrow"/>
                <a:sym typeface="Arial Narrow"/>
              </a:rPr>
              <a:t>stand-alone</a:t>
            </a:r>
            <a:r>
              <a:rPr b="0" i="0" lang="en-ID" sz="1800">
                <a:solidFill>
                  <a:srgbClr val="000000"/>
                </a:solidFill>
                <a:latin typeface="Arial Narrow"/>
                <a:ea typeface="Arial Narrow"/>
                <a:cs typeface="Arial Narrow"/>
                <a:sym typeface="Arial Narrow"/>
              </a:rPr>
              <a:t>, maka pada suatu saat hanya ada satu pemakai, sedangkan untuk </a:t>
            </a:r>
            <a:r>
              <a:rPr b="1" i="0" lang="en-ID" sz="1800">
                <a:solidFill>
                  <a:srgbClr val="000000"/>
                </a:solidFill>
                <a:latin typeface="Arial Narrow"/>
                <a:ea typeface="Arial Narrow"/>
                <a:cs typeface="Arial Narrow"/>
                <a:sym typeface="Arial Narrow"/>
              </a:rPr>
              <a:t>jaringan (</a:t>
            </a:r>
            <a:r>
              <a:rPr b="1" i="1" lang="en-ID" sz="1800">
                <a:solidFill>
                  <a:srgbClr val="000000"/>
                </a:solidFill>
                <a:latin typeface="Arial Narrow"/>
                <a:ea typeface="Arial Narrow"/>
                <a:cs typeface="Arial Narrow"/>
                <a:sym typeface="Arial Narrow"/>
              </a:rPr>
              <a:t>multiuser</a:t>
            </a:r>
            <a:r>
              <a:rPr b="1" i="0" lang="en-ID" sz="1800">
                <a:solidFill>
                  <a:srgbClr val="000000"/>
                </a:solidFill>
                <a:latin typeface="Arial Narrow"/>
                <a:ea typeface="Arial Narrow"/>
                <a:cs typeface="Arial Narrow"/>
                <a:sym typeface="Arial Narrow"/>
              </a:rPr>
              <a:t>)</a:t>
            </a:r>
            <a:r>
              <a:rPr b="0" i="0" lang="en-ID" sz="1800">
                <a:solidFill>
                  <a:srgbClr val="000000"/>
                </a:solidFill>
                <a:latin typeface="Arial Narrow"/>
                <a:ea typeface="Arial Narrow"/>
                <a:cs typeface="Arial Narrow"/>
                <a:sym typeface="Arial Narrow"/>
              </a:rPr>
              <a:t> pada suatu saat ada banyak pemakai yang dapat berhubungan (menggunakan) basis data yang sama. Pilihan untuk </a:t>
            </a:r>
            <a:r>
              <a:rPr b="0" i="1" lang="en-ID" sz="1800">
                <a:solidFill>
                  <a:srgbClr val="000000"/>
                </a:solidFill>
                <a:latin typeface="Arial Narrow"/>
                <a:ea typeface="Arial Narrow"/>
                <a:cs typeface="Arial Narrow"/>
                <a:sym typeface="Arial Narrow"/>
              </a:rPr>
              <a:t>stand-alone </a:t>
            </a:r>
            <a:r>
              <a:rPr b="0" i="0" lang="en-ID" sz="1800">
                <a:solidFill>
                  <a:srgbClr val="000000"/>
                </a:solidFill>
                <a:latin typeface="Arial Narrow"/>
                <a:ea typeface="Arial Narrow"/>
                <a:cs typeface="Arial Narrow"/>
                <a:sym typeface="Arial Narrow"/>
              </a:rPr>
              <a:t>atau jaringan (</a:t>
            </a:r>
            <a:r>
              <a:rPr b="0" i="1" lang="en-ID" sz="1800">
                <a:solidFill>
                  <a:srgbClr val="000000"/>
                </a:solidFill>
                <a:latin typeface="Arial Narrow"/>
                <a:ea typeface="Arial Narrow"/>
                <a:cs typeface="Arial Narrow"/>
                <a:sym typeface="Arial Narrow"/>
              </a:rPr>
              <a:t>multiuser</a:t>
            </a:r>
            <a:r>
              <a:rPr b="0" i="0" lang="en-ID" sz="1800">
                <a:solidFill>
                  <a:srgbClr val="000000"/>
                </a:solidFill>
                <a:latin typeface="Arial Narrow"/>
                <a:ea typeface="Arial Narrow"/>
                <a:cs typeface="Arial Narrow"/>
                <a:sym typeface="Arial Narrow"/>
              </a:rPr>
              <a:t>) tergantung pada (ditentukan oleh) kebutuhan pemakai, perangkat keras yang tersedia, sistem operasi yang digunakan, serta DBMS yang dipilih.</a:t>
            </a:r>
            <a:r>
              <a:rPr lang="en-ID" sz="1800">
                <a:solidFill>
                  <a:schemeClr val="dk1"/>
                </a:solidFill>
                <a:latin typeface="Calibri"/>
                <a:ea typeface="Calibri"/>
                <a:cs typeface="Calibri"/>
                <a:sym typeface="Calibri"/>
              </a:rPr>
              <a:t> </a:t>
            </a:r>
            <a:br>
              <a:rPr lang="en-ID"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
        <p:nvSpPr>
          <p:cNvPr id="248" name="Google Shape;248;p19"/>
          <p:cNvSpPr txBox="1"/>
          <p:nvPr/>
        </p:nvSpPr>
        <p:spPr>
          <a:xfrm>
            <a:off x="2590800" y="4696013"/>
            <a:ext cx="6096000"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000000"/>
              </a:buClr>
              <a:buSzPts val="1800"/>
              <a:buFont typeface="Noto Sans Symbols"/>
              <a:buChar char="▪"/>
            </a:pPr>
            <a:r>
              <a:rPr b="0" i="0" lang="en-ID" sz="1800">
                <a:solidFill>
                  <a:srgbClr val="000000"/>
                </a:solidFill>
                <a:latin typeface="Arial Narrow"/>
                <a:ea typeface="Arial Narrow"/>
                <a:cs typeface="Arial Narrow"/>
                <a:sym typeface="Arial Narrow"/>
              </a:rPr>
              <a:t>Programmer Aplikasi</a:t>
            </a:r>
            <a:r>
              <a:rPr lang="en-ID" sz="1800">
                <a:solidFill>
                  <a:schemeClr val="dk1"/>
                </a:solidFill>
                <a:latin typeface="Calibri"/>
                <a:ea typeface="Calibri"/>
                <a:cs typeface="Calibri"/>
                <a:sym typeface="Calibri"/>
              </a:rPr>
              <a:t> </a:t>
            </a:r>
            <a:endParaRPr/>
          </a:p>
          <a:p>
            <a:pPr indent="-285750" lvl="0" marL="285750" marR="0" rtl="0" algn="l">
              <a:spcBef>
                <a:spcPts val="0"/>
              </a:spcBef>
              <a:spcAft>
                <a:spcPts val="0"/>
              </a:spcAft>
              <a:buClr>
                <a:srgbClr val="000000"/>
              </a:buClr>
              <a:buSzPts val="1800"/>
              <a:buFont typeface="Noto Sans Symbols"/>
              <a:buChar char="▪"/>
            </a:pPr>
            <a:r>
              <a:rPr b="0" i="0" lang="en-ID" sz="1800">
                <a:solidFill>
                  <a:srgbClr val="000000"/>
                </a:solidFill>
                <a:latin typeface="Arial Narrow"/>
                <a:ea typeface="Arial Narrow"/>
                <a:cs typeface="Arial Narrow"/>
                <a:sym typeface="Arial Narrow"/>
              </a:rPr>
              <a:t>User Mahir</a:t>
            </a:r>
            <a:r>
              <a:rPr lang="en-ID" sz="1800">
                <a:solidFill>
                  <a:schemeClr val="dk1"/>
                </a:solidFill>
                <a:latin typeface="Calibri"/>
                <a:ea typeface="Calibri"/>
                <a:cs typeface="Calibri"/>
                <a:sym typeface="Calibri"/>
              </a:rPr>
              <a:t>  (</a:t>
            </a:r>
            <a:r>
              <a:rPr b="0" i="1" lang="en-ID" sz="1800">
                <a:solidFill>
                  <a:srgbClr val="000000"/>
                </a:solidFill>
                <a:latin typeface="Arial Narrow"/>
                <a:ea typeface="Arial Narrow"/>
                <a:cs typeface="Arial Narrow"/>
                <a:sym typeface="Arial Narrow"/>
              </a:rPr>
              <a:t>casual user</a:t>
            </a:r>
            <a:r>
              <a:rPr lang="en-ID" sz="1800">
                <a:solidFill>
                  <a:schemeClr val="dk1"/>
                </a:solidFill>
                <a:latin typeface="Calibri"/>
                <a:ea typeface="Calibri"/>
                <a:cs typeface="Calibri"/>
                <a:sym typeface="Calibri"/>
              </a:rPr>
              <a:t> )</a:t>
            </a:r>
            <a:endParaRPr/>
          </a:p>
          <a:p>
            <a:pPr indent="-285750" lvl="0" marL="285750" marR="0" rtl="0" algn="l">
              <a:spcBef>
                <a:spcPts val="0"/>
              </a:spcBef>
              <a:spcAft>
                <a:spcPts val="0"/>
              </a:spcAft>
              <a:buClr>
                <a:srgbClr val="000000"/>
              </a:buClr>
              <a:buSzPts val="1800"/>
              <a:buFont typeface="Noto Sans Symbols"/>
              <a:buChar char="▪"/>
            </a:pPr>
            <a:r>
              <a:rPr b="0" i="0" lang="en-ID" sz="1800">
                <a:solidFill>
                  <a:srgbClr val="000000"/>
                </a:solidFill>
                <a:latin typeface="Arial Narrow"/>
                <a:ea typeface="Arial Narrow"/>
                <a:cs typeface="Arial Narrow"/>
                <a:sym typeface="Arial Narrow"/>
              </a:rPr>
              <a:t>User Umum</a:t>
            </a:r>
            <a:r>
              <a:rPr lang="en-ID" sz="1800">
                <a:solidFill>
                  <a:schemeClr val="dk1"/>
                </a:solidFill>
                <a:latin typeface="Calibri"/>
                <a:ea typeface="Calibri"/>
                <a:cs typeface="Calibri"/>
                <a:sym typeface="Calibri"/>
              </a:rPr>
              <a:t>  (End User)</a:t>
            </a:r>
            <a:endParaRPr/>
          </a:p>
          <a:p>
            <a:pPr indent="-285750" lvl="0" marL="285750" marR="0" rtl="0" algn="l">
              <a:spcBef>
                <a:spcPts val="0"/>
              </a:spcBef>
              <a:spcAft>
                <a:spcPts val="0"/>
              </a:spcAft>
              <a:buClr>
                <a:srgbClr val="000000"/>
              </a:buClr>
              <a:buSzPts val="1800"/>
              <a:buFont typeface="Noto Sans Symbols"/>
              <a:buChar char="▪"/>
            </a:pPr>
            <a:r>
              <a:rPr b="0" i="0" lang="en-ID" sz="1800">
                <a:solidFill>
                  <a:srgbClr val="000000"/>
                </a:solidFill>
                <a:latin typeface="Arial Narrow"/>
                <a:ea typeface="Arial Narrow"/>
                <a:cs typeface="Arial Narrow"/>
                <a:sym typeface="Arial Narrow"/>
              </a:rPr>
              <a:t>User Khusus</a:t>
            </a:r>
            <a:r>
              <a:rPr lang="en-ID" sz="1800">
                <a:solidFill>
                  <a:schemeClr val="dk1"/>
                </a:solidFill>
                <a:latin typeface="Calibri"/>
                <a:ea typeface="Calibri"/>
                <a:cs typeface="Calibri"/>
                <a:sym typeface="Calibri"/>
              </a:rPr>
              <a:t> (</a:t>
            </a:r>
            <a:r>
              <a:rPr b="0" i="1" lang="en-ID" sz="1800">
                <a:solidFill>
                  <a:srgbClr val="000000"/>
                </a:solidFill>
                <a:latin typeface="Arial Narrow"/>
                <a:ea typeface="Arial Narrow"/>
                <a:cs typeface="Arial Narrow"/>
                <a:sym typeface="Arial Narrow"/>
              </a:rPr>
              <a:t>Specialized User</a:t>
            </a:r>
            <a:r>
              <a:rPr lang="en-ID" sz="1800">
                <a:solidFill>
                  <a:schemeClr val="dk1"/>
                </a:solidFill>
                <a:latin typeface="Calibri"/>
                <a:ea typeface="Calibri"/>
                <a:cs typeface="Calibri"/>
                <a:sym typeface="Calibri"/>
              </a:rPr>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0"/>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just">
              <a:lnSpc>
                <a:spcPct val="90000"/>
              </a:lnSpc>
              <a:spcBef>
                <a:spcPts val="0"/>
              </a:spcBef>
              <a:spcAft>
                <a:spcPts val="0"/>
              </a:spcAft>
              <a:buClr>
                <a:srgbClr val="000000"/>
              </a:buClr>
              <a:buSzPts val="4400"/>
              <a:buFont typeface="Georgia"/>
              <a:buNone/>
            </a:pPr>
            <a:r>
              <a:rPr b="1" i="0" lang="en-ID" sz="4400">
                <a:solidFill>
                  <a:srgbClr val="000000"/>
                </a:solidFill>
                <a:latin typeface="Georgia"/>
                <a:ea typeface="Georgia"/>
                <a:cs typeface="Georgia"/>
                <a:sym typeface="Georgia"/>
              </a:rPr>
              <a:t>Hirarki Basis Data</a:t>
            </a:r>
            <a:endParaRPr/>
          </a:p>
        </p:txBody>
      </p:sp>
      <p:sp>
        <p:nvSpPr>
          <p:cNvPr id="254" name="Google Shape;254;p20"/>
          <p:cNvSpPr txBox="1"/>
          <p:nvPr/>
        </p:nvSpPr>
        <p:spPr>
          <a:xfrm>
            <a:off x="496956" y="1795124"/>
            <a:ext cx="10169236" cy="114069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D" sz="2400">
                <a:solidFill>
                  <a:srgbClr val="657184"/>
                </a:solidFill>
                <a:latin typeface="Fira Sans"/>
                <a:ea typeface="Fira Sans"/>
                <a:cs typeface="Fira Sans"/>
                <a:sym typeface="Fira Sans"/>
              </a:rPr>
              <a:t>Hirarki merupakan unsur – unsur dari suatu database yang meliputi kumpulan Database, file (berkas), record , field, byte, bit. </a:t>
            </a:r>
            <a:endParaRPr sz="2400">
              <a:solidFill>
                <a:schemeClr val="dk1"/>
              </a:solidFill>
              <a:latin typeface="Calibri"/>
              <a:ea typeface="Calibri"/>
              <a:cs typeface="Calibri"/>
              <a:sym typeface="Calibri"/>
            </a:endParaRPr>
          </a:p>
        </p:txBody>
      </p:sp>
      <p:sp>
        <p:nvSpPr>
          <p:cNvPr id="255" name="Google Shape;255;p20"/>
          <p:cNvSpPr txBox="1"/>
          <p:nvPr/>
        </p:nvSpPr>
        <p:spPr>
          <a:xfrm>
            <a:off x="879763" y="3363325"/>
            <a:ext cx="5825837" cy="225106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D" sz="2400">
                <a:solidFill>
                  <a:srgbClr val="657184"/>
                </a:solidFill>
                <a:latin typeface="Fira Sans"/>
                <a:ea typeface="Fira Sans"/>
                <a:cs typeface="Fira Sans"/>
                <a:sym typeface="Fira Sans"/>
              </a:rPr>
              <a:t>Hirarki juga di sebut sebagai model pohon karena membentuk seperti struktur pohon. Hirarki kategori dapat mengelompokkan data – data, sehingga menjadi kompleks. </a:t>
            </a:r>
            <a:endParaRPr sz="2400">
              <a:solidFill>
                <a:schemeClr val="dk1"/>
              </a:solidFill>
              <a:latin typeface="Calibri"/>
              <a:ea typeface="Calibri"/>
              <a:cs typeface="Calibri"/>
              <a:sym typeface="Calibri"/>
            </a:endParaRPr>
          </a:p>
        </p:txBody>
      </p:sp>
      <p:pic>
        <p:nvPicPr>
          <p:cNvPr id="256" name="Google Shape;256;p20"/>
          <p:cNvPicPr preferRelativeResize="0"/>
          <p:nvPr/>
        </p:nvPicPr>
        <p:blipFill rotWithShape="1">
          <a:blip r:embed="rId3">
            <a:alphaModFix/>
          </a:blip>
          <a:srcRect b="0" l="0" r="0" t="0"/>
          <a:stretch/>
        </p:blipFill>
        <p:spPr>
          <a:xfrm>
            <a:off x="7156174" y="3113357"/>
            <a:ext cx="4156063" cy="22561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1"/>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just">
              <a:lnSpc>
                <a:spcPct val="90000"/>
              </a:lnSpc>
              <a:spcBef>
                <a:spcPts val="0"/>
              </a:spcBef>
              <a:spcAft>
                <a:spcPts val="0"/>
              </a:spcAft>
              <a:buClr>
                <a:srgbClr val="000000"/>
              </a:buClr>
              <a:buSzPts val="4400"/>
              <a:buFont typeface="Georgia"/>
              <a:buNone/>
            </a:pPr>
            <a:r>
              <a:rPr b="1" i="0" lang="en-ID" sz="4400">
                <a:solidFill>
                  <a:srgbClr val="000000"/>
                </a:solidFill>
                <a:latin typeface="Georgia"/>
                <a:ea typeface="Georgia"/>
                <a:cs typeface="Georgia"/>
                <a:sym typeface="Georgia"/>
              </a:rPr>
              <a:t>Hirarki Basis Data</a:t>
            </a:r>
            <a:endParaRPr/>
          </a:p>
        </p:txBody>
      </p:sp>
      <p:sp>
        <p:nvSpPr>
          <p:cNvPr id="262" name="Google Shape;262;p21"/>
          <p:cNvSpPr txBox="1"/>
          <p:nvPr/>
        </p:nvSpPr>
        <p:spPr>
          <a:xfrm>
            <a:off x="505689" y="1950231"/>
            <a:ext cx="6096000" cy="400110"/>
          </a:xfrm>
          <a:prstGeom prst="rect">
            <a:avLst/>
          </a:prstGeom>
          <a:noFill/>
          <a:ln>
            <a:noFill/>
          </a:ln>
        </p:spPr>
        <p:txBody>
          <a:bodyPr anchorCtr="0" anchor="t" bIns="45700" lIns="91425" spcFirstLastPara="1" rIns="91425" wrap="square" tIns="45700">
            <a:spAutoFit/>
          </a:bodyPr>
          <a:lstStyle/>
          <a:p>
            <a:pPr indent="-127000" lvl="0" marL="0" marR="0" rtl="0" algn="l">
              <a:spcBef>
                <a:spcPts val="0"/>
              </a:spcBef>
              <a:spcAft>
                <a:spcPts val="0"/>
              </a:spcAft>
              <a:buClr>
                <a:srgbClr val="657184"/>
              </a:buClr>
              <a:buSzPts val="2000"/>
              <a:buFont typeface="Calibri"/>
              <a:buAutoNum type="arabicPeriod"/>
            </a:pPr>
            <a:r>
              <a:rPr b="1" i="0" lang="en-ID" sz="2000">
                <a:solidFill>
                  <a:srgbClr val="657184"/>
                </a:solidFill>
                <a:latin typeface="Fira Sans"/>
                <a:ea typeface="Fira Sans"/>
                <a:cs typeface="Fira Sans"/>
                <a:sym typeface="Fira Sans"/>
              </a:rPr>
              <a:t>Database</a:t>
            </a:r>
            <a:endParaRPr b="0" i="0" sz="2000">
              <a:solidFill>
                <a:srgbClr val="657184"/>
              </a:solidFill>
              <a:latin typeface="Fira Sans"/>
              <a:ea typeface="Fira Sans"/>
              <a:cs typeface="Fira Sans"/>
              <a:sym typeface="Fira Sans"/>
            </a:endParaRPr>
          </a:p>
        </p:txBody>
      </p:sp>
      <p:sp>
        <p:nvSpPr>
          <p:cNvPr id="263" name="Google Shape;263;p21"/>
          <p:cNvSpPr txBox="1"/>
          <p:nvPr/>
        </p:nvSpPr>
        <p:spPr>
          <a:xfrm>
            <a:off x="942109" y="2630887"/>
            <a:ext cx="1046018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rgbClr val="657184"/>
                </a:solidFill>
                <a:latin typeface="Fira Sans"/>
                <a:ea typeface="Fira Sans"/>
                <a:cs typeface="Fira Sans"/>
                <a:sym typeface="Fira Sans"/>
              </a:rPr>
              <a:t>A</a:t>
            </a:r>
            <a:r>
              <a:rPr b="0" i="0" lang="en-ID" sz="1800">
                <a:solidFill>
                  <a:srgbClr val="657184"/>
                </a:solidFill>
                <a:latin typeface="Fira Sans"/>
                <a:ea typeface="Fira Sans"/>
                <a:cs typeface="Fira Sans"/>
                <a:sym typeface="Fira Sans"/>
              </a:rPr>
              <a:t>dalah kumpulan dari beberapa table dan field atau juga bisa kumpulan informasi untuk memperoleh informasi dari database tersebut dimana tersimpan  pada komputer yang bisa di lihat menggunakan suatu program komputer.</a:t>
            </a:r>
            <a:endParaRPr sz="1800">
              <a:solidFill>
                <a:schemeClr val="dk1"/>
              </a:solidFill>
              <a:latin typeface="Calibri"/>
              <a:ea typeface="Calibri"/>
              <a:cs typeface="Calibri"/>
              <a:sym typeface="Calibri"/>
            </a:endParaRPr>
          </a:p>
        </p:txBody>
      </p:sp>
      <p:sp>
        <p:nvSpPr>
          <p:cNvPr id="264" name="Google Shape;264;p21"/>
          <p:cNvSpPr txBox="1"/>
          <p:nvPr/>
        </p:nvSpPr>
        <p:spPr>
          <a:xfrm>
            <a:off x="1371598" y="3997180"/>
            <a:ext cx="1046018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D" sz="1800">
                <a:solidFill>
                  <a:srgbClr val="657184"/>
                </a:solidFill>
                <a:latin typeface="Fira Sans"/>
                <a:ea typeface="Fira Sans"/>
                <a:cs typeface="Fira Sans"/>
                <a:sym typeface="Fira Sans"/>
              </a:rPr>
              <a:t>Adapun beberapa contoh – contoh  database seperti : Clipper, MySQL, Microsoft Access, XBase, Force, Quicksilver, Microsoft SQL Server, dBase III, Recital, Oracle, PostgreSQL,  Visual FoxPro, Firebird, Sybase, dbFast, Interbase, dbXL, Paradox, Arago, dan FoxPro.</a:t>
            </a:r>
            <a:endParaRPr sz="1800">
              <a:solidFill>
                <a:schemeClr val="dk1"/>
              </a:solidFill>
              <a:latin typeface="Calibri"/>
              <a:ea typeface="Calibri"/>
              <a:cs typeface="Calibri"/>
              <a:sym typeface="Calibri"/>
            </a:endParaRPr>
          </a:p>
        </p:txBody>
      </p:sp>
      <p:pic>
        <p:nvPicPr>
          <p:cNvPr id="265" name="Google Shape;265;p21"/>
          <p:cNvPicPr preferRelativeResize="0"/>
          <p:nvPr/>
        </p:nvPicPr>
        <p:blipFill rotWithShape="1">
          <a:blip r:embed="rId3">
            <a:alphaModFix/>
          </a:blip>
          <a:srcRect b="0" l="0" r="0" t="0"/>
          <a:stretch/>
        </p:blipFill>
        <p:spPr>
          <a:xfrm>
            <a:off x="9104762" y="313960"/>
            <a:ext cx="2318612" cy="165492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2"/>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just">
              <a:lnSpc>
                <a:spcPct val="90000"/>
              </a:lnSpc>
              <a:spcBef>
                <a:spcPts val="0"/>
              </a:spcBef>
              <a:spcAft>
                <a:spcPts val="0"/>
              </a:spcAft>
              <a:buClr>
                <a:srgbClr val="000000"/>
              </a:buClr>
              <a:buSzPts val="4400"/>
              <a:buFont typeface="Georgia"/>
              <a:buNone/>
            </a:pPr>
            <a:r>
              <a:rPr b="1" i="0" lang="en-ID" sz="4400">
                <a:solidFill>
                  <a:srgbClr val="000000"/>
                </a:solidFill>
                <a:latin typeface="Georgia"/>
                <a:ea typeface="Georgia"/>
                <a:cs typeface="Georgia"/>
                <a:sym typeface="Georgia"/>
              </a:rPr>
              <a:t>Hirarki Basis Data</a:t>
            </a:r>
            <a:endParaRPr/>
          </a:p>
        </p:txBody>
      </p:sp>
      <p:sp>
        <p:nvSpPr>
          <p:cNvPr id="271" name="Google Shape;271;p22"/>
          <p:cNvSpPr txBox="1"/>
          <p:nvPr/>
        </p:nvSpPr>
        <p:spPr>
          <a:xfrm>
            <a:off x="642730" y="1836713"/>
            <a:ext cx="6096000" cy="369332"/>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657184"/>
              </a:buClr>
              <a:buSzPts val="1800"/>
              <a:buFont typeface="Calibri"/>
              <a:buAutoNum type="arabicPeriod" startAt="2"/>
            </a:pPr>
            <a:r>
              <a:rPr b="1" i="0" lang="en-ID" sz="1800">
                <a:solidFill>
                  <a:srgbClr val="657184"/>
                </a:solidFill>
                <a:latin typeface="Fira Sans"/>
                <a:ea typeface="Fira Sans"/>
                <a:cs typeface="Fira Sans"/>
                <a:sym typeface="Fira Sans"/>
              </a:rPr>
              <a:t>File</a:t>
            </a:r>
            <a:endParaRPr b="0" i="0" sz="1800">
              <a:solidFill>
                <a:srgbClr val="657184"/>
              </a:solidFill>
              <a:latin typeface="Fira Sans"/>
              <a:ea typeface="Fira Sans"/>
              <a:cs typeface="Fira Sans"/>
              <a:sym typeface="Fira Sans"/>
            </a:endParaRPr>
          </a:p>
        </p:txBody>
      </p:sp>
      <p:sp>
        <p:nvSpPr>
          <p:cNvPr id="272" name="Google Shape;272;p22"/>
          <p:cNvSpPr txBox="1"/>
          <p:nvPr/>
        </p:nvSpPr>
        <p:spPr>
          <a:xfrm>
            <a:off x="976745" y="2288600"/>
            <a:ext cx="10698420" cy="170957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D" sz="1800">
                <a:solidFill>
                  <a:srgbClr val="657184"/>
                </a:solidFill>
                <a:latin typeface="Fira Sans"/>
                <a:ea typeface="Fira Sans"/>
                <a:cs typeface="Fira Sans"/>
                <a:sym typeface="Fira Sans"/>
              </a:rPr>
              <a:t>File merupakan data yang tersimpan di komputer atau arsip. Atau define lain dari file ialah informasi – informasi yang terkumpul dan saling berhubungan yang di simpan ke dalam secondary storage. Beberapa tipe yang di miliki konsep file, seperti yang bertipe data binary, bertipe data numeric, dan ada juga character. Ada pun yang bertipe program.</a:t>
            </a:r>
            <a:endParaRPr sz="1800">
              <a:solidFill>
                <a:schemeClr val="dk1"/>
              </a:solidFill>
              <a:latin typeface="Calibri"/>
              <a:ea typeface="Calibri"/>
              <a:cs typeface="Calibri"/>
              <a:sym typeface="Calibri"/>
            </a:endParaRPr>
          </a:p>
        </p:txBody>
      </p:sp>
      <p:pic>
        <p:nvPicPr>
          <p:cNvPr id="273" name="Google Shape;273;p22"/>
          <p:cNvPicPr preferRelativeResize="0"/>
          <p:nvPr/>
        </p:nvPicPr>
        <p:blipFill rotWithShape="1">
          <a:blip r:embed="rId3">
            <a:alphaModFix/>
          </a:blip>
          <a:srcRect b="0" l="0" r="0" t="0"/>
          <a:stretch/>
        </p:blipFill>
        <p:spPr>
          <a:xfrm>
            <a:off x="9379527" y="308437"/>
            <a:ext cx="1707572" cy="1549463"/>
          </a:xfrm>
          <a:prstGeom prst="rect">
            <a:avLst/>
          </a:prstGeom>
          <a:noFill/>
          <a:ln>
            <a:noFill/>
          </a:ln>
        </p:spPr>
      </p:pic>
      <p:sp>
        <p:nvSpPr>
          <p:cNvPr id="274" name="Google Shape;274;p22"/>
          <p:cNvSpPr txBox="1"/>
          <p:nvPr/>
        </p:nvSpPr>
        <p:spPr>
          <a:xfrm>
            <a:off x="2299251" y="4201543"/>
            <a:ext cx="6733309"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D" sz="1800">
                <a:solidFill>
                  <a:srgbClr val="657184"/>
                </a:solidFill>
                <a:latin typeface="Fira Sans"/>
                <a:ea typeface="Fira Sans"/>
                <a:cs typeface="Fira Sans"/>
                <a:sym typeface="Fira Sans"/>
              </a:rPr>
              <a:t>Beberapa contoh file yaitu :</a:t>
            </a:r>
            <a:endParaRPr/>
          </a:p>
          <a:p>
            <a:pPr indent="-285750" lvl="0" marL="285750" marR="0" rtl="0" algn="l">
              <a:spcBef>
                <a:spcPts val="0"/>
              </a:spcBef>
              <a:spcAft>
                <a:spcPts val="0"/>
              </a:spcAft>
              <a:buClr>
                <a:srgbClr val="657184"/>
              </a:buClr>
              <a:buSzPts val="1800"/>
              <a:buFont typeface="Noto Sans Symbols"/>
              <a:buChar char="⮚"/>
            </a:pPr>
            <a:r>
              <a:rPr b="1" i="0" lang="en-ID" sz="1800">
                <a:solidFill>
                  <a:srgbClr val="657184"/>
                </a:solidFill>
                <a:latin typeface="Fira Sans"/>
                <a:ea typeface="Fira Sans"/>
                <a:cs typeface="Fira Sans"/>
                <a:sym typeface="Fira Sans"/>
              </a:rPr>
              <a:t>Dokumen</a:t>
            </a:r>
            <a:r>
              <a:rPr b="0" i="0" lang="en-ID" sz="1800">
                <a:solidFill>
                  <a:srgbClr val="657184"/>
                </a:solidFill>
                <a:latin typeface="Fira Sans"/>
                <a:ea typeface="Fira Sans"/>
                <a:cs typeface="Fira Sans"/>
                <a:sym typeface="Fira Sans"/>
              </a:rPr>
              <a:t> : pdf, doc, ods, html, odt, xls</a:t>
            </a:r>
            <a:endParaRPr b="0" i="0" sz="1800">
              <a:solidFill>
                <a:srgbClr val="657184"/>
              </a:solidFill>
              <a:latin typeface="Fira Sans"/>
              <a:ea typeface="Fira Sans"/>
              <a:cs typeface="Fira Sans"/>
              <a:sym typeface="Fira Sans"/>
            </a:endParaRPr>
          </a:p>
          <a:p>
            <a:pPr indent="-285750" lvl="0" marL="285750" marR="0" rtl="0" algn="l">
              <a:spcBef>
                <a:spcPts val="0"/>
              </a:spcBef>
              <a:spcAft>
                <a:spcPts val="0"/>
              </a:spcAft>
              <a:buClr>
                <a:srgbClr val="657184"/>
              </a:buClr>
              <a:buSzPts val="1800"/>
              <a:buFont typeface="Noto Sans Symbols"/>
              <a:buChar char="⮚"/>
            </a:pPr>
            <a:r>
              <a:rPr b="1" i="0" lang="en-ID" sz="1800">
                <a:solidFill>
                  <a:srgbClr val="657184"/>
                </a:solidFill>
                <a:latin typeface="Fira Sans"/>
                <a:ea typeface="Fira Sans"/>
                <a:cs typeface="Fira Sans"/>
                <a:sym typeface="Fira Sans"/>
              </a:rPr>
              <a:t>Gambar</a:t>
            </a:r>
            <a:r>
              <a:rPr b="0" i="0" lang="en-ID" sz="1800">
                <a:solidFill>
                  <a:srgbClr val="657184"/>
                </a:solidFill>
                <a:latin typeface="Fira Sans"/>
                <a:ea typeface="Fira Sans"/>
                <a:cs typeface="Fira Sans"/>
                <a:sym typeface="Fira Sans"/>
              </a:rPr>
              <a:t>    : tiff, jpeg, gif, jpg, png dan tif</a:t>
            </a:r>
            <a:endParaRPr b="0" i="0" sz="1800">
              <a:solidFill>
                <a:srgbClr val="657184"/>
              </a:solidFill>
              <a:latin typeface="Fira Sans"/>
              <a:ea typeface="Fira Sans"/>
              <a:cs typeface="Fira Sans"/>
              <a:sym typeface="Fira Sans"/>
            </a:endParaRPr>
          </a:p>
          <a:p>
            <a:pPr indent="-285750" lvl="0" marL="285750" marR="0" rtl="0" algn="l">
              <a:spcBef>
                <a:spcPts val="0"/>
              </a:spcBef>
              <a:spcAft>
                <a:spcPts val="0"/>
              </a:spcAft>
              <a:buClr>
                <a:srgbClr val="657184"/>
              </a:buClr>
              <a:buSzPts val="1800"/>
              <a:buFont typeface="Noto Sans Symbols"/>
              <a:buChar char="⮚"/>
            </a:pPr>
            <a:r>
              <a:rPr b="1" i="0" lang="en-ID" sz="1800">
                <a:solidFill>
                  <a:srgbClr val="657184"/>
                </a:solidFill>
                <a:latin typeface="Fira Sans"/>
                <a:ea typeface="Fira Sans"/>
                <a:cs typeface="Fira Sans"/>
                <a:sym typeface="Fira Sans"/>
              </a:rPr>
              <a:t>Suara</a:t>
            </a:r>
            <a:r>
              <a:rPr b="0" i="0" lang="en-ID" sz="1800">
                <a:solidFill>
                  <a:srgbClr val="657184"/>
                </a:solidFill>
                <a:latin typeface="Fira Sans"/>
                <a:ea typeface="Fira Sans"/>
                <a:cs typeface="Fira Sans"/>
                <a:sym typeface="Fira Sans"/>
              </a:rPr>
              <a:t>        : midi, wav, mp3, dan rm</a:t>
            </a:r>
            <a:endParaRPr/>
          </a:p>
          <a:p>
            <a:pPr indent="-285750" lvl="0" marL="285750" marR="0" rtl="0" algn="l">
              <a:spcBef>
                <a:spcPts val="0"/>
              </a:spcBef>
              <a:spcAft>
                <a:spcPts val="0"/>
              </a:spcAft>
              <a:buClr>
                <a:srgbClr val="657184"/>
              </a:buClr>
              <a:buSzPts val="1800"/>
              <a:buFont typeface="Noto Sans Symbols"/>
              <a:buChar char="⮚"/>
            </a:pPr>
            <a:r>
              <a:rPr b="1" i="0" lang="en-ID" sz="1800">
                <a:solidFill>
                  <a:srgbClr val="657184"/>
                </a:solidFill>
                <a:latin typeface="Fira Sans"/>
                <a:ea typeface="Fira Sans"/>
                <a:cs typeface="Fira Sans"/>
                <a:sym typeface="Fira Sans"/>
              </a:rPr>
              <a:t>Video</a:t>
            </a:r>
            <a:r>
              <a:rPr b="0" i="0" lang="en-ID" sz="1800">
                <a:solidFill>
                  <a:srgbClr val="657184"/>
                </a:solidFill>
                <a:latin typeface="Fira Sans"/>
                <a:ea typeface="Fira Sans"/>
                <a:cs typeface="Fira Sans"/>
                <a:sym typeface="Fira Sans"/>
              </a:rPr>
              <a:t>        : flv, avi, 3gp, KV, wmv, mpeg, mpg</a:t>
            </a:r>
            <a:endParaRPr/>
          </a:p>
          <a:p>
            <a:pPr indent="-285750" lvl="0" marL="285750" marR="0" rtl="0" algn="l">
              <a:spcBef>
                <a:spcPts val="0"/>
              </a:spcBef>
              <a:spcAft>
                <a:spcPts val="0"/>
              </a:spcAft>
              <a:buClr>
                <a:srgbClr val="657184"/>
              </a:buClr>
              <a:buSzPts val="1800"/>
              <a:buFont typeface="Noto Sans Symbols"/>
              <a:buChar char="⮚"/>
            </a:pPr>
            <a:r>
              <a:rPr b="1" i="0" lang="en-ID" sz="1800">
                <a:solidFill>
                  <a:srgbClr val="657184"/>
                </a:solidFill>
                <a:latin typeface="Fira Sans"/>
                <a:ea typeface="Fira Sans"/>
                <a:cs typeface="Fira Sans"/>
                <a:sym typeface="Fira Sans"/>
              </a:rPr>
              <a:t>System</a:t>
            </a:r>
            <a:r>
              <a:rPr b="0" i="0" lang="en-ID" sz="1800">
                <a:solidFill>
                  <a:srgbClr val="657184"/>
                </a:solidFill>
                <a:latin typeface="Fira Sans"/>
                <a:ea typeface="Fira Sans"/>
                <a:cs typeface="Fira Sans"/>
                <a:sym typeface="Fira Sans"/>
              </a:rPr>
              <a:t>     : exe, sys, tmp, com, bat, dan bak.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3"/>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just">
              <a:lnSpc>
                <a:spcPct val="90000"/>
              </a:lnSpc>
              <a:spcBef>
                <a:spcPts val="0"/>
              </a:spcBef>
              <a:spcAft>
                <a:spcPts val="0"/>
              </a:spcAft>
              <a:buClr>
                <a:srgbClr val="000000"/>
              </a:buClr>
              <a:buSzPts val="4400"/>
              <a:buFont typeface="Georgia"/>
              <a:buNone/>
            </a:pPr>
            <a:r>
              <a:rPr b="1" i="0" lang="en-ID" sz="4400">
                <a:solidFill>
                  <a:srgbClr val="000000"/>
                </a:solidFill>
                <a:latin typeface="Georgia"/>
                <a:ea typeface="Georgia"/>
                <a:cs typeface="Georgia"/>
                <a:sym typeface="Georgia"/>
              </a:rPr>
              <a:t>Hirarki Basis Data</a:t>
            </a:r>
            <a:endParaRPr/>
          </a:p>
        </p:txBody>
      </p:sp>
      <p:sp>
        <p:nvSpPr>
          <p:cNvPr id="280" name="Google Shape;280;p23"/>
          <p:cNvSpPr txBox="1"/>
          <p:nvPr/>
        </p:nvSpPr>
        <p:spPr>
          <a:xfrm>
            <a:off x="463223" y="1707696"/>
            <a:ext cx="6096000" cy="369332"/>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657184"/>
              </a:buClr>
              <a:buSzPts val="1800"/>
              <a:buFont typeface="Calibri"/>
              <a:buAutoNum type="arabicPeriod" startAt="3"/>
            </a:pPr>
            <a:r>
              <a:rPr b="1" i="0" lang="en-ID" sz="1800">
                <a:solidFill>
                  <a:srgbClr val="657184"/>
                </a:solidFill>
                <a:latin typeface="Fira Sans"/>
                <a:ea typeface="Fira Sans"/>
                <a:cs typeface="Fira Sans"/>
                <a:sym typeface="Fira Sans"/>
              </a:rPr>
              <a:t>Record</a:t>
            </a:r>
            <a:endParaRPr b="0" i="0" sz="1800">
              <a:solidFill>
                <a:srgbClr val="657184"/>
              </a:solidFill>
              <a:latin typeface="Fira Sans"/>
              <a:ea typeface="Fira Sans"/>
              <a:cs typeface="Fira Sans"/>
              <a:sym typeface="Fira Sans"/>
            </a:endParaRPr>
          </a:p>
        </p:txBody>
      </p:sp>
      <p:sp>
        <p:nvSpPr>
          <p:cNvPr id="281" name="Google Shape;281;p23"/>
          <p:cNvSpPr txBox="1"/>
          <p:nvPr/>
        </p:nvSpPr>
        <p:spPr>
          <a:xfrm>
            <a:off x="921026" y="2213682"/>
            <a:ext cx="9809018" cy="87857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D" sz="1800">
                <a:solidFill>
                  <a:srgbClr val="657184"/>
                </a:solidFill>
                <a:latin typeface="Fira Sans"/>
                <a:ea typeface="Fira Sans"/>
                <a:cs typeface="Fira Sans"/>
                <a:sym typeface="Fira Sans"/>
              </a:rPr>
              <a:t>Record merupakan suatu file yang telah terbentuk dari kumpulan record atau kumpulan dari file. Record juga menggambarkan data dari individu – individu.</a:t>
            </a:r>
            <a:endParaRPr sz="1800">
              <a:solidFill>
                <a:schemeClr val="dk1"/>
              </a:solidFill>
              <a:latin typeface="Calibri"/>
              <a:ea typeface="Calibri"/>
              <a:cs typeface="Calibri"/>
              <a:sym typeface="Calibri"/>
            </a:endParaRPr>
          </a:p>
        </p:txBody>
      </p:sp>
      <p:sp>
        <p:nvSpPr>
          <p:cNvPr id="282" name="Google Shape;282;p23"/>
          <p:cNvSpPr txBox="1"/>
          <p:nvPr/>
        </p:nvSpPr>
        <p:spPr>
          <a:xfrm>
            <a:off x="1371600" y="3729466"/>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D" sz="1800">
                <a:solidFill>
                  <a:srgbClr val="657184"/>
                </a:solidFill>
                <a:latin typeface="Fira Sans"/>
                <a:ea typeface="Fira Sans"/>
                <a:cs typeface="Fira Sans"/>
                <a:sym typeface="Fira Sans"/>
              </a:rPr>
              <a:t>Contohnya : file dokumen.</a:t>
            </a:r>
            <a:endParaRPr sz="1800">
              <a:solidFill>
                <a:schemeClr val="dk1"/>
              </a:solidFill>
              <a:latin typeface="Calibri"/>
              <a:ea typeface="Calibri"/>
              <a:cs typeface="Calibri"/>
              <a:sym typeface="Calibri"/>
            </a:endParaRPr>
          </a:p>
        </p:txBody>
      </p:sp>
      <p:pic>
        <p:nvPicPr>
          <p:cNvPr id="283" name="Google Shape;283;p23"/>
          <p:cNvPicPr preferRelativeResize="0"/>
          <p:nvPr/>
        </p:nvPicPr>
        <p:blipFill rotWithShape="1">
          <a:blip r:embed="rId3">
            <a:alphaModFix/>
          </a:blip>
          <a:srcRect b="0" l="0" r="0" t="0"/>
          <a:stretch/>
        </p:blipFill>
        <p:spPr>
          <a:xfrm>
            <a:off x="1686677" y="4183293"/>
            <a:ext cx="3295262" cy="9008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4"/>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just">
              <a:lnSpc>
                <a:spcPct val="90000"/>
              </a:lnSpc>
              <a:spcBef>
                <a:spcPts val="0"/>
              </a:spcBef>
              <a:spcAft>
                <a:spcPts val="0"/>
              </a:spcAft>
              <a:buClr>
                <a:srgbClr val="000000"/>
              </a:buClr>
              <a:buSzPts val="4400"/>
              <a:buFont typeface="Georgia"/>
              <a:buNone/>
            </a:pPr>
            <a:r>
              <a:rPr b="1" i="0" lang="en-ID" sz="4400">
                <a:solidFill>
                  <a:srgbClr val="000000"/>
                </a:solidFill>
                <a:latin typeface="Georgia"/>
                <a:ea typeface="Georgia"/>
                <a:cs typeface="Georgia"/>
                <a:sym typeface="Georgia"/>
              </a:rPr>
              <a:t>Hirarki Basis Data</a:t>
            </a:r>
            <a:endParaRPr/>
          </a:p>
        </p:txBody>
      </p:sp>
      <p:sp>
        <p:nvSpPr>
          <p:cNvPr id="289" name="Google Shape;289;p24"/>
          <p:cNvSpPr txBox="1"/>
          <p:nvPr/>
        </p:nvSpPr>
        <p:spPr>
          <a:xfrm>
            <a:off x="571650" y="1757380"/>
            <a:ext cx="6096000" cy="369332"/>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657184"/>
              </a:buClr>
              <a:buSzPts val="1800"/>
              <a:buFont typeface="Calibri"/>
              <a:buAutoNum type="arabicPeriod" startAt="4"/>
            </a:pPr>
            <a:r>
              <a:rPr b="1" i="0" lang="en-ID" sz="1800">
                <a:solidFill>
                  <a:srgbClr val="657184"/>
                </a:solidFill>
                <a:latin typeface="Fira Sans"/>
                <a:ea typeface="Fira Sans"/>
                <a:cs typeface="Fira Sans"/>
                <a:sym typeface="Fira Sans"/>
              </a:rPr>
              <a:t>Field</a:t>
            </a:r>
            <a:endParaRPr b="0" i="0" sz="1800">
              <a:solidFill>
                <a:srgbClr val="657184"/>
              </a:solidFill>
              <a:latin typeface="Fira Sans"/>
              <a:ea typeface="Fira Sans"/>
              <a:cs typeface="Fira Sans"/>
              <a:sym typeface="Fira Sans"/>
            </a:endParaRPr>
          </a:p>
        </p:txBody>
      </p:sp>
      <p:sp>
        <p:nvSpPr>
          <p:cNvPr id="290" name="Google Shape;290;p24"/>
          <p:cNvSpPr txBox="1"/>
          <p:nvPr/>
        </p:nvSpPr>
        <p:spPr>
          <a:xfrm>
            <a:off x="1371600" y="2154601"/>
            <a:ext cx="9601199" cy="129407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D" sz="1800">
                <a:solidFill>
                  <a:srgbClr val="657184"/>
                </a:solidFill>
                <a:latin typeface="Fira Sans"/>
                <a:ea typeface="Fira Sans"/>
                <a:cs typeface="Fira Sans"/>
                <a:sym typeface="Fira Sans"/>
              </a:rPr>
              <a:t>Field merupakan data yang sejenis, yang terbentuk dari kumpulan record – record yang menggambar kan kesatuan data. Misalnya pada matakuliah. yang berisi tentang semua data tentang matakuliah tersebut.</a:t>
            </a:r>
            <a:endParaRPr sz="1800">
              <a:solidFill>
                <a:schemeClr val="dk1"/>
              </a:solidFill>
              <a:latin typeface="Calibri"/>
              <a:ea typeface="Calibri"/>
              <a:cs typeface="Calibri"/>
              <a:sym typeface="Calibri"/>
            </a:endParaRPr>
          </a:p>
        </p:txBody>
      </p:sp>
      <p:sp>
        <p:nvSpPr>
          <p:cNvPr id="291" name="Google Shape;291;p24"/>
          <p:cNvSpPr txBox="1"/>
          <p:nvPr/>
        </p:nvSpPr>
        <p:spPr>
          <a:xfrm>
            <a:off x="682487" y="4310770"/>
            <a:ext cx="6096000" cy="369332"/>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657184"/>
              </a:buClr>
              <a:buSzPts val="1800"/>
              <a:buFont typeface="Calibri"/>
              <a:buAutoNum type="arabicPeriod" startAt="5"/>
            </a:pPr>
            <a:r>
              <a:rPr b="1" i="0" lang="en-ID" sz="1800">
                <a:solidFill>
                  <a:srgbClr val="657184"/>
                </a:solidFill>
                <a:latin typeface="Fira Sans"/>
                <a:ea typeface="Fira Sans"/>
                <a:cs typeface="Fira Sans"/>
                <a:sym typeface="Fira Sans"/>
              </a:rPr>
              <a:t>Byte</a:t>
            </a:r>
            <a:endParaRPr b="0" i="0" sz="1800">
              <a:solidFill>
                <a:srgbClr val="657184"/>
              </a:solidFill>
              <a:latin typeface="Fira Sans"/>
              <a:ea typeface="Fira Sans"/>
              <a:cs typeface="Fira Sans"/>
              <a:sym typeface="Fira Sans"/>
            </a:endParaRPr>
          </a:p>
        </p:txBody>
      </p:sp>
      <p:sp>
        <p:nvSpPr>
          <p:cNvPr id="292" name="Google Shape;292;p24"/>
          <p:cNvSpPr txBox="1"/>
          <p:nvPr/>
        </p:nvSpPr>
        <p:spPr>
          <a:xfrm>
            <a:off x="1371600" y="4784730"/>
            <a:ext cx="998912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D" sz="1800">
                <a:solidFill>
                  <a:srgbClr val="657184"/>
                </a:solidFill>
                <a:latin typeface="Fira Sans"/>
                <a:ea typeface="Fira Sans"/>
                <a:cs typeface="Fira Sans"/>
                <a:sym typeface="Fira Sans"/>
              </a:rPr>
              <a:t>Byte merupakan satuan pada informasi yang lebih besar kapasitas nya dari pada bit dan 8 satuan bit yang di gabungkan sehingga menjadi satu. Contohnya seperti : 65,66,61 untuk A,B,C</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5"/>
          <p:cNvSpPr txBox="1"/>
          <p:nvPr>
            <p:ph type="title"/>
          </p:nvPr>
        </p:nvSpPr>
        <p:spPr>
          <a:xfrm>
            <a:off x="1371600" y="685800"/>
            <a:ext cx="9601200" cy="720213"/>
          </a:xfrm>
          <a:prstGeom prst="rect">
            <a:avLst/>
          </a:prstGeom>
          <a:noFill/>
          <a:ln>
            <a:noFill/>
          </a:ln>
        </p:spPr>
        <p:txBody>
          <a:bodyPr anchorCtr="0" anchor="ctr" bIns="45700" lIns="91425" spcFirstLastPara="1" rIns="91425" wrap="square" tIns="45700">
            <a:noAutofit/>
          </a:bodyPr>
          <a:lstStyle/>
          <a:p>
            <a:pPr indent="0" lvl="0" marL="0" rtl="0" algn="just">
              <a:lnSpc>
                <a:spcPct val="90000"/>
              </a:lnSpc>
              <a:spcBef>
                <a:spcPts val="0"/>
              </a:spcBef>
              <a:spcAft>
                <a:spcPts val="0"/>
              </a:spcAft>
              <a:buClr>
                <a:srgbClr val="000000"/>
              </a:buClr>
              <a:buSzPts val="4400"/>
              <a:buFont typeface="Georgia"/>
              <a:buNone/>
            </a:pPr>
            <a:r>
              <a:rPr b="1" i="0" lang="en-ID" sz="4400">
                <a:solidFill>
                  <a:srgbClr val="000000"/>
                </a:solidFill>
                <a:latin typeface="Georgia"/>
                <a:ea typeface="Georgia"/>
                <a:cs typeface="Georgia"/>
                <a:sym typeface="Georgia"/>
              </a:rPr>
              <a:t>Hirarki Basis Data</a:t>
            </a:r>
            <a:endParaRPr/>
          </a:p>
        </p:txBody>
      </p:sp>
      <p:sp>
        <p:nvSpPr>
          <p:cNvPr id="298" name="Google Shape;298;p25"/>
          <p:cNvSpPr txBox="1"/>
          <p:nvPr/>
        </p:nvSpPr>
        <p:spPr>
          <a:xfrm>
            <a:off x="616226" y="1765596"/>
            <a:ext cx="6096000" cy="369332"/>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657184"/>
              </a:buClr>
              <a:buSzPts val="1800"/>
              <a:buFont typeface="Calibri"/>
              <a:buAutoNum type="arabicPeriod" startAt="6"/>
            </a:pPr>
            <a:r>
              <a:rPr b="1" i="0" lang="en-ID" sz="1800">
                <a:solidFill>
                  <a:srgbClr val="657184"/>
                </a:solidFill>
                <a:latin typeface="Fira Sans"/>
                <a:ea typeface="Fira Sans"/>
                <a:cs typeface="Fira Sans"/>
                <a:sym typeface="Fira Sans"/>
              </a:rPr>
              <a:t>Bit</a:t>
            </a:r>
            <a:endParaRPr b="0" i="0" sz="1800">
              <a:solidFill>
                <a:srgbClr val="657184"/>
              </a:solidFill>
              <a:latin typeface="Fira Sans"/>
              <a:ea typeface="Fira Sans"/>
              <a:cs typeface="Fira Sans"/>
              <a:sym typeface="Fira Sans"/>
            </a:endParaRPr>
          </a:p>
        </p:txBody>
      </p:sp>
      <p:sp>
        <p:nvSpPr>
          <p:cNvPr id="299" name="Google Shape;299;p25"/>
          <p:cNvSpPr txBox="1"/>
          <p:nvPr/>
        </p:nvSpPr>
        <p:spPr>
          <a:xfrm>
            <a:off x="1371600" y="2134928"/>
            <a:ext cx="10307783" cy="129407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D" sz="1800">
                <a:solidFill>
                  <a:srgbClr val="657184"/>
                </a:solidFill>
                <a:latin typeface="Fira Sans"/>
                <a:ea typeface="Fira Sans"/>
                <a:cs typeface="Fira Sans"/>
                <a:sym typeface="Fira Sans"/>
              </a:rPr>
              <a:t>Bit atau binary digit ialah komputasi digital yang merupakan unit satuan terkecil atau yang berarti digit digital. Komputer tidak menyimpan dan tidak mengerti data desimal, semua data yang ada di computer tersimpan dalam bentuk angka biner. Yaitu 0 dan  1</a:t>
            </a:r>
            <a:endParaRPr sz="1800">
              <a:solidFill>
                <a:schemeClr val="dk1"/>
              </a:solidFill>
              <a:latin typeface="Calibri"/>
              <a:ea typeface="Calibri"/>
              <a:cs typeface="Calibri"/>
              <a:sym typeface="Calibri"/>
            </a:endParaRPr>
          </a:p>
        </p:txBody>
      </p:sp>
      <p:sp>
        <p:nvSpPr>
          <p:cNvPr id="300" name="Google Shape;300;p25"/>
          <p:cNvSpPr txBox="1"/>
          <p:nvPr/>
        </p:nvSpPr>
        <p:spPr>
          <a:xfrm>
            <a:off x="1371599" y="4157915"/>
            <a:ext cx="1008610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1800">
                <a:solidFill>
                  <a:srgbClr val="606666"/>
                </a:solidFill>
                <a:latin typeface="Vollkorn"/>
                <a:ea typeface="Vollkorn"/>
                <a:cs typeface="Vollkorn"/>
                <a:sym typeface="Vollkorn"/>
              </a:rPr>
              <a:t>Data Value/Nilai Data</a:t>
            </a:r>
            <a:endParaRPr sz="1800">
              <a:solidFill>
                <a:srgbClr val="606666"/>
              </a:solidFill>
              <a:latin typeface="Vollkorn"/>
              <a:ea typeface="Vollkorn"/>
              <a:cs typeface="Vollkorn"/>
              <a:sym typeface="Vollkorn"/>
            </a:endParaRPr>
          </a:p>
          <a:p>
            <a:pPr indent="0" lvl="0" marL="0" marR="0" rtl="0" algn="l">
              <a:spcBef>
                <a:spcPts val="0"/>
              </a:spcBef>
              <a:spcAft>
                <a:spcPts val="0"/>
              </a:spcAft>
              <a:buNone/>
            </a:pPr>
            <a:r>
              <a:t/>
            </a:r>
            <a:endParaRPr b="0" i="0" sz="1800">
              <a:solidFill>
                <a:srgbClr val="606666"/>
              </a:solidFill>
              <a:latin typeface="Vollkorn"/>
              <a:ea typeface="Vollkorn"/>
              <a:cs typeface="Vollkorn"/>
              <a:sym typeface="Vollkorn"/>
            </a:endParaRPr>
          </a:p>
          <a:p>
            <a:pPr indent="0" lvl="0" marL="0" marR="0" rtl="0" algn="l">
              <a:spcBef>
                <a:spcPts val="0"/>
              </a:spcBef>
              <a:spcAft>
                <a:spcPts val="0"/>
              </a:spcAft>
              <a:buNone/>
            </a:pPr>
            <a:r>
              <a:rPr b="0" i="0" lang="en-ID" sz="1800">
                <a:solidFill>
                  <a:srgbClr val="606666"/>
                </a:solidFill>
                <a:latin typeface="Vollkorn"/>
                <a:ea typeface="Vollkorn"/>
                <a:cs typeface="Vollkorn"/>
                <a:sym typeface="Vollkorn"/>
              </a:rPr>
              <a:t>Adalah data aktual atau informasi yang disimpan pada tiap data, elemen, atau atribut.</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6"/>
          <p:cNvSpPr txBox="1"/>
          <p:nvPr/>
        </p:nvSpPr>
        <p:spPr>
          <a:xfrm>
            <a:off x="460512" y="208218"/>
            <a:ext cx="824616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2000">
                <a:solidFill>
                  <a:srgbClr val="000000"/>
                </a:solidFill>
                <a:latin typeface="Arial Narrow"/>
                <a:ea typeface="Arial Narrow"/>
                <a:cs typeface="Arial Narrow"/>
                <a:sym typeface="Arial Narrow"/>
              </a:rPr>
              <a:t>il</a:t>
            </a:r>
            <a:r>
              <a:rPr b="0" i="0" lang="en-ID" sz="2000">
                <a:solidFill>
                  <a:srgbClr val="000000"/>
                </a:solidFill>
                <a:latin typeface="Arial Narrow"/>
                <a:ea typeface="Arial Narrow"/>
                <a:cs typeface="Arial Narrow"/>
                <a:sym typeface="Arial Narrow"/>
              </a:rPr>
              <a:t>ustrasi dari pengertian file, field, record dan data value (isi data )</a:t>
            </a:r>
            <a:r>
              <a:rPr lang="en-ID" sz="2000">
                <a:solidFill>
                  <a:schemeClr val="dk1"/>
                </a:solidFill>
                <a:latin typeface="Calibri"/>
                <a:ea typeface="Calibri"/>
                <a:cs typeface="Calibri"/>
                <a:sym typeface="Calibri"/>
              </a:rPr>
              <a:t> </a:t>
            </a:r>
            <a:endParaRPr/>
          </a:p>
        </p:txBody>
      </p:sp>
      <p:grpSp>
        <p:nvGrpSpPr>
          <p:cNvPr id="306" name="Google Shape;306;p26"/>
          <p:cNvGrpSpPr/>
          <p:nvPr/>
        </p:nvGrpSpPr>
        <p:grpSpPr>
          <a:xfrm>
            <a:off x="566530" y="883825"/>
            <a:ext cx="8872329" cy="646331"/>
            <a:chOff x="566530" y="1174331"/>
            <a:chExt cx="8872329" cy="646331"/>
          </a:xfrm>
        </p:grpSpPr>
        <p:sp>
          <p:nvSpPr>
            <p:cNvPr id="307" name="Google Shape;307;p26"/>
            <p:cNvSpPr txBox="1"/>
            <p:nvPr/>
          </p:nvSpPr>
          <p:spPr>
            <a:xfrm>
              <a:off x="566530" y="1174331"/>
              <a:ext cx="146105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1800">
                  <a:solidFill>
                    <a:srgbClr val="000000"/>
                  </a:solidFill>
                  <a:latin typeface="Arial Narrow"/>
                  <a:ea typeface="Arial Narrow"/>
                  <a:cs typeface="Arial Narrow"/>
                  <a:sym typeface="Arial Narrow"/>
                </a:rPr>
                <a:t>Mahasiswa</a:t>
              </a:r>
              <a:br>
                <a:rPr lang="en-ID"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
          <p:nvSpPr>
            <p:cNvPr id="308" name="Google Shape;308;p26"/>
            <p:cNvSpPr txBox="1"/>
            <p:nvPr/>
          </p:nvSpPr>
          <p:spPr>
            <a:xfrm>
              <a:off x="3269973" y="1174331"/>
              <a:ext cx="616888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2000">
                  <a:solidFill>
                    <a:srgbClr val="000000"/>
                  </a:solidFill>
                  <a:latin typeface="Arial Narrow"/>
                  <a:ea typeface="Arial Narrow"/>
                  <a:cs typeface="Arial Narrow"/>
                  <a:sym typeface="Arial Narrow"/>
                </a:rPr>
                <a:t>nama </a:t>
              </a:r>
              <a:r>
                <a:rPr b="1" i="1" lang="en-ID" sz="2000">
                  <a:solidFill>
                    <a:srgbClr val="000000"/>
                  </a:solidFill>
                  <a:latin typeface="Arial Narrow"/>
                  <a:ea typeface="Arial Narrow"/>
                  <a:cs typeface="Arial Narrow"/>
                  <a:sym typeface="Arial Narrow"/>
                </a:rPr>
                <a:t>table / file</a:t>
              </a:r>
              <a:r>
                <a:rPr b="1" lang="en-ID" sz="2000">
                  <a:solidFill>
                    <a:schemeClr val="dk1"/>
                  </a:solidFill>
                  <a:latin typeface="Calibri"/>
                  <a:ea typeface="Calibri"/>
                  <a:cs typeface="Calibri"/>
                  <a:sym typeface="Calibri"/>
                </a:rPr>
                <a:t> </a:t>
              </a:r>
              <a:endParaRPr/>
            </a:p>
          </p:txBody>
        </p:sp>
        <p:cxnSp>
          <p:nvCxnSpPr>
            <p:cNvPr id="309" name="Google Shape;309;p26"/>
            <p:cNvCxnSpPr/>
            <p:nvPr/>
          </p:nvCxnSpPr>
          <p:spPr>
            <a:xfrm flipH="1" rot="10800000">
              <a:off x="2027583" y="1374386"/>
              <a:ext cx="954156" cy="1"/>
            </a:xfrm>
            <a:prstGeom prst="straightConnector1">
              <a:avLst/>
            </a:prstGeom>
            <a:noFill/>
            <a:ln cap="flat" cmpd="sng" w="19050">
              <a:solidFill>
                <a:schemeClr val="accent6"/>
              </a:solidFill>
              <a:prstDash val="solid"/>
              <a:miter lim="800000"/>
              <a:headEnd len="sm" w="sm" type="none"/>
              <a:tailEnd len="med" w="med" type="triangle"/>
            </a:ln>
          </p:spPr>
        </p:cxnSp>
      </p:grpSp>
      <p:pic>
        <p:nvPicPr>
          <p:cNvPr id="310" name="Google Shape;310;p26"/>
          <p:cNvPicPr preferRelativeResize="0"/>
          <p:nvPr/>
        </p:nvPicPr>
        <p:blipFill rotWithShape="1">
          <a:blip r:embed="rId3">
            <a:alphaModFix/>
          </a:blip>
          <a:srcRect b="0" l="0" r="0" t="0"/>
          <a:stretch/>
        </p:blipFill>
        <p:spPr>
          <a:xfrm>
            <a:off x="206857" y="1283935"/>
            <a:ext cx="8753475" cy="3486150"/>
          </a:xfrm>
          <a:prstGeom prst="rect">
            <a:avLst/>
          </a:prstGeom>
          <a:noFill/>
          <a:ln>
            <a:noFill/>
          </a:ln>
        </p:spPr>
      </p:pic>
      <p:sp>
        <p:nvSpPr>
          <p:cNvPr id="311" name="Google Shape;311;p26"/>
          <p:cNvSpPr txBox="1"/>
          <p:nvPr/>
        </p:nvSpPr>
        <p:spPr>
          <a:xfrm>
            <a:off x="460512" y="4841558"/>
            <a:ext cx="1010147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ID" sz="1800">
                <a:solidFill>
                  <a:srgbClr val="000000"/>
                </a:solidFill>
                <a:latin typeface="Arial Narrow"/>
                <a:ea typeface="Arial Narrow"/>
                <a:cs typeface="Arial Narrow"/>
                <a:sym typeface="Arial Narrow"/>
              </a:rPr>
              <a:t>Atribut / field </a:t>
            </a:r>
            <a:r>
              <a:rPr b="0" i="0" lang="en-ID" sz="1800">
                <a:solidFill>
                  <a:srgbClr val="000000"/>
                </a:solidFill>
                <a:latin typeface="Arial Narrow"/>
                <a:ea typeface="Arial Narrow"/>
                <a:cs typeface="Arial Narrow"/>
                <a:sym typeface="Arial Narrow"/>
              </a:rPr>
              <a:t>: nim,nama_m,tpt_lhr_m,tgl_lhr_m,j_kelamin,alm_m,kota_m,aama_m dan kode_jur</a:t>
            </a:r>
            <a:r>
              <a:rPr lang="en-ID" sz="1800">
                <a:solidFill>
                  <a:schemeClr val="dk1"/>
                </a:solidFill>
                <a:latin typeface="Calibri"/>
                <a:ea typeface="Calibri"/>
                <a:cs typeface="Calibri"/>
                <a:sym typeface="Calibri"/>
              </a:rPr>
              <a:t> </a:t>
            </a:r>
            <a:br>
              <a:rPr lang="en-ID"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
        <p:nvSpPr>
          <p:cNvPr id="312" name="Google Shape;312;p26"/>
          <p:cNvSpPr txBox="1"/>
          <p:nvPr/>
        </p:nvSpPr>
        <p:spPr>
          <a:xfrm>
            <a:off x="1098274" y="5312455"/>
            <a:ext cx="999545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ID" sz="1800">
                <a:solidFill>
                  <a:srgbClr val="000000"/>
                </a:solidFill>
                <a:latin typeface="Arial Narrow"/>
                <a:ea typeface="Arial Narrow"/>
                <a:cs typeface="Arial Narrow"/>
                <a:sym typeface="Arial Narrow"/>
              </a:rPr>
              <a:t>Data value </a:t>
            </a:r>
            <a:r>
              <a:rPr b="1" i="0" lang="en-ID" sz="1800">
                <a:solidFill>
                  <a:srgbClr val="000000"/>
                </a:solidFill>
                <a:latin typeface="Arial Narrow"/>
                <a:ea typeface="Arial Narrow"/>
                <a:cs typeface="Arial Narrow"/>
                <a:sym typeface="Arial Narrow"/>
              </a:rPr>
              <a:t>/ Isi data </a:t>
            </a:r>
            <a:r>
              <a:rPr b="0" i="0" lang="en-ID" sz="1800">
                <a:solidFill>
                  <a:srgbClr val="000000"/>
                </a:solidFill>
                <a:latin typeface="Arial Narrow"/>
                <a:ea typeface="Arial Narrow"/>
                <a:cs typeface="Arial Narrow"/>
                <a:sym typeface="Arial Narrow"/>
              </a:rPr>
              <a:t>: Pada record pertama : 01031417 adalah isi data untuk kolom nim, Mulyanti untuk kolom nama_m dan seterusnya</a:t>
            </a:r>
            <a:r>
              <a:rPr lang="en-ID" sz="1800">
                <a:solidFill>
                  <a:schemeClr val="dk1"/>
                </a:solidFill>
                <a:latin typeface="Calibri"/>
                <a:ea typeface="Calibri"/>
                <a:cs typeface="Calibri"/>
                <a:sym typeface="Calibri"/>
              </a:rPr>
              <a:t> </a:t>
            </a:r>
            <a:br>
              <a:rPr lang="en-ID"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7"/>
          <p:cNvSpPr txBox="1"/>
          <p:nvPr/>
        </p:nvSpPr>
        <p:spPr>
          <a:xfrm>
            <a:off x="291547" y="1118443"/>
            <a:ext cx="11370365" cy="337335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000000"/>
              </a:buClr>
              <a:buSzPts val="1800"/>
              <a:buFont typeface="Calibri"/>
              <a:buAutoNum type="arabicPeriod"/>
            </a:pPr>
            <a:r>
              <a:rPr b="0" i="0" lang="en-ID" sz="1800">
                <a:solidFill>
                  <a:srgbClr val="000000"/>
                </a:solidFill>
                <a:latin typeface="Arial Narrow"/>
                <a:ea typeface="Arial Narrow"/>
                <a:cs typeface="Arial Narrow"/>
                <a:sym typeface="Arial Narrow"/>
              </a:rPr>
              <a:t>Jelaskan pengertian daripada basis data (</a:t>
            </a:r>
            <a:r>
              <a:rPr b="0" i="1" lang="en-ID" sz="1800">
                <a:solidFill>
                  <a:srgbClr val="000000"/>
                </a:solidFill>
                <a:latin typeface="Arial Narrow"/>
                <a:ea typeface="Arial Narrow"/>
                <a:cs typeface="Arial Narrow"/>
                <a:sym typeface="Arial Narrow"/>
              </a:rPr>
              <a:t>database</a:t>
            </a:r>
            <a:r>
              <a:rPr b="0" i="0" lang="en-ID" sz="1800">
                <a:solidFill>
                  <a:srgbClr val="000000"/>
                </a:solidFill>
                <a:latin typeface="Arial Narrow"/>
                <a:ea typeface="Arial Narrow"/>
                <a:cs typeface="Arial Narrow"/>
                <a:sym typeface="Arial Narrow"/>
              </a:rPr>
              <a:t>) ? </a:t>
            </a:r>
            <a:endParaRPr/>
          </a:p>
          <a:p>
            <a:pPr indent="-342900" lvl="0" marL="342900" marR="0" rtl="0" algn="l">
              <a:lnSpc>
                <a:spcPct val="150000"/>
              </a:lnSpc>
              <a:spcBef>
                <a:spcPts val="0"/>
              </a:spcBef>
              <a:spcAft>
                <a:spcPts val="0"/>
              </a:spcAft>
              <a:buClr>
                <a:srgbClr val="000000"/>
              </a:buClr>
              <a:buSzPts val="1800"/>
              <a:buFont typeface="Calibri"/>
              <a:buAutoNum type="arabicPeriod"/>
            </a:pPr>
            <a:r>
              <a:rPr b="0" i="0" lang="en-ID" sz="1800">
                <a:solidFill>
                  <a:srgbClr val="000000"/>
                </a:solidFill>
                <a:latin typeface="Arial Narrow"/>
                <a:ea typeface="Arial Narrow"/>
                <a:cs typeface="Arial Narrow"/>
                <a:sym typeface="Arial Narrow"/>
              </a:rPr>
              <a:t>Berikan penjelasan mengenai perbedaaan antara lemari arsip dengan </a:t>
            </a:r>
            <a:r>
              <a:rPr b="0" i="1" lang="en-ID" sz="1800">
                <a:solidFill>
                  <a:srgbClr val="000000"/>
                </a:solidFill>
                <a:latin typeface="Arial Narrow"/>
                <a:ea typeface="Arial Narrow"/>
                <a:cs typeface="Arial Narrow"/>
                <a:sym typeface="Arial Narrow"/>
              </a:rPr>
              <a:t>database </a:t>
            </a:r>
            <a:r>
              <a:rPr b="0" i="0" lang="en-ID" sz="1800">
                <a:solidFill>
                  <a:srgbClr val="000000"/>
                </a:solidFill>
                <a:latin typeface="Arial Narrow"/>
                <a:ea typeface="Arial Narrow"/>
                <a:cs typeface="Arial Narrow"/>
                <a:sym typeface="Arial Narrow"/>
              </a:rPr>
              <a:t>didalam suatu perusahaan?</a:t>
            </a:r>
            <a:endParaRPr/>
          </a:p>
          <a:p>
            <a:pPr indent="-342900" lvl="0" marL="342900" marR="0" rtl="0" algn="l">
              <a:lnSpc>
                <a:spcPct val="150000"/>
              </a:lnSpc>
              <a:spcBef>
                <a:spcPts val="0"/>
              </a:spcBef>
              <a:spcAft>
                <a:spcPts val="0"/>
              </a:spcAft>
              <a:buClr>
                <a:srgbClr val="000000"/>
              </a:buClr>
              <a:buSzPts val="1800"/>
              <a:buFont typeface="Calibri"/>
              <a:buAutoNum type="arabicPeriod"/>
            </a:pPr>
            <a:r>
              <a:rPr b="0" i="0" lang="en-ID" sz="1800">
                <a:solidFill>
                  <a:srgbClr val="000000"/>
                </a:solidFill>
                <a:latin typeface="Arial Narrow"/>
                <a:ea typeface="Arial Narrow"/>
                <a:cs typeface="Arial Narrow"/>
                <a:sym typeface="Arial Narrow"/>
              </a:rPr>
              <a:t>Jelaskan pengertian daripada </a:t>
            </a:r>
            <a:r>
              <a:rPr b="0" i="1" lang="en-ID" sz="1800">
                <a:solidFill>
                  <a:srgbClr val="000000"/>
                </a:solidFill>
                <a:latin typeface="Arial Narrow"/>
                <a:ea typeface="Arial Narrow"/>
                <a:cs typeface="Arial Narrow"/>
                <a:sym typeface="Arial Narrow"/>
              </a:rPr>
              <a:t>file, record, field </a:t>
            </a:r>
            <a:r>
              <a:rPr b="0" i="0" lang="en-ID" sz="1800">
                <a:solidFill>
                  <a:srgbClr val="000000"/>
                </a:solidFill>
                <a:latin typeface="Arial Narrow"/>
                <a:ea typeface="Arial Narrow"/>
                <a:cs typeface="Arial Narrow"/>
                <a:sym typeface="Arial Narrow"/>
              </a:rPr>
              <a:t>dan </a:t>
            </a:r>
            <a:r>
              <a:rPr b="0" i="1" lang="en-ID" sz="1800">
                <a:solidFill>
                  <a:srgbClr val="000000"/>
                </a:solidFill>
                <a:latin typeface="Arial Narrow"/>
                <a:ea typeface="Arial Narrow"/>
                <a:cs typeface="Arial Narrow"/>
                <a:sym typeface="Arial Narrow"/>
              </a:rPr>
              <a:t>data value </a:t>
            </a:r>
            <a:r>
              <a:rPr b="0" i="0" lang="en-ID" sz="1800">
                <a:solidFill>
                  <a:srgbClr val="000000"/>
                </a:solidFill>
                <a:latin typeface="Arial Narrow"/>
                <a:ea typeface="Arial Narrow"/>
                <a:cs typeface="Arial Narrow"/>
                <a:sym typeface="Arial Narrow"/>
              </a:rPr>
              <a:t>dan berikan masing – masing contohnya?</a:t>
            </a:r>
            <a:endParaRPr/>
          </a:p>
          <a:p>
            <a:pPr indent="-342900" lvl="0" marL="342900" marR="0" rtl="0" algn="l">
              <a:lnSpc>
                <a:spcPct val="150000"/>
              </a:lnSpc>
              <a:spcBef>
                <a:spcPts val="0"/>
              </a:spcBef>
              <a:spcAft>
                <a:spcPts val="0"/>
              </a:spcAft>
              <a:buClr>
                <a:srgbClr val="000000"/>
              </a:buClr>
              <a:buSzPts val="1800"/>
              <a:buFont typeface="Calibri"/>
              <a:buAutoNum type="arabicPeriod"/>
            </a:pPr>
            <a:r>
              <a:rPr b="0" i="0" lang="en-ID" sz="1800">
                <a:solidFill>
                  <a:srgbClr val="000000"/>
                </a:solidFill>
                <a:latin typeface="Arial Narrow"/>
                <a:ea typeface="Arial Narrow"/>
                <a:cs typeface="Arial Narrow"/>
                <a:sym typeface="Arial Narrow"/>
              </a:rPr>
              <a:t>Jelaskan pengertian daripada sistem basis data, apa saja komponen utama dari sistem basis data?</a:t>
            </a:r>
            <a:endParaRPr/>
          </a:p>
          <a:p>
            <a:pPr indent="-342900" lvl="0" marL="342900" marR="0" rtl="0" algn="l">
              <a:lnSpc>
                <a:spcPct val="150000"/>
              </a:lnSpc>
              <a:spcBef>
                <a:spcPts val="0"/>
              </a:spcBef>
              <a:spcAft>
                <a:spcPts val="0"/>
              </a:spcAft>
              <a:buClr>
                <a:srgbClr val="000000"/>
              </a:buClr>
              <a:buSzPts val="1800"/>
              <a:buFont typeface="Calibri"/>
              <a:buAutoNum type="arabicPeriod"/>
            </a:pPr>
            <a:r>
              <a:rPr b="0" i="0" lang="en-ID" sz="1800">
                <a:solidFill>
                  <a:srgbClr val="000000"/>
                </a:solidFill>
                <a:latin typeface="Arial Narrow"/>
                <a:ea typeface="Arial Narrow"/>
                <a:cs typeface="Arial Narrow"/>
                <a:sym typeface="Arial Narrow"/>
              </a:rPr>
              <a:t>Jelaskan pengertian daripada DBMS, dan berikan contohnya untuk kelas DBMS yang sederhana maupun yang kompleks ?.</a:t>
            </a:r>
            <a:r>
              <a:rPr lang="en-ID" sz="1800">
                <a:solidFill>
                  <a:schemeClr val="dk1"/>
                </a:solidFill>
                <a:latin typeface="Calibri"/>
                <a:ea typeface="Calibri"/>
                <a:cs typeface="Calibri"/>
                <a:sym typeface="Calibri"/>
              </a:rPr>
              <a:t> </a:t>
            </a:r>
            <a:br>
              <a:rPr lang="en-ID"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
        <p:nvSpPr>
          <p:cNvPr id="318" name="Google Shape;318;p27"/>
          <p:cNvSpPr txBox="1"/>
          <p:nvPr/>
        </p:nvSpPr>
        <p:spPr>
          <a:xfrm>
            <a:off x="417442" y="132521"/>
            <a:ext cx="1835427" cy="496996"/>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ID" sz="2000">
                <a:solidFill>
                  <a:srgbClr val="000000"/>
                </a:solidFill>
                <a:latin typeface="Arial Narrow"/>
                <a:ea typeface="Arial Narrow"/>
                <a:cs typeface="Arial Narrow"/>
                <a:sym typeface="Arial Narrow"/>
              </a:rPr>
              <a:t>Soal Latihan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6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7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5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2021-08-16T10:58:02Z</dcterms:created>
  <dc:creator>lisda masitoh</dc:creator>
</cp:coreProperties>
</file>